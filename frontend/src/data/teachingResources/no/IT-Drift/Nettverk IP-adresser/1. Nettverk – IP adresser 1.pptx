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82" r:id="rId5"/>
    <p:sldId id="284" r:id="rId6"/>
    <p:sldId id="267" r:id="rId7"/>
    <p:sldId id="285" r:id="rId8"/>
    <p:sldId id="268" r:id="rId9"/>
    <p:sldId id="283" r:id="rId10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5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8E541F8-A36E-9DD1-882A-E8552287F0E6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b-NO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03CF4A-CB36-A8D2-E6AE-39EDB115963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b-NO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D02946B5-5303-448A-8C90-72150B4F06E4}" type="datetime1">
              <a:rPr lang="nb-NO"/>
              <a:pPr lvl="0"/>
              <a:t>10.11.2024</a:t>
            </a:fld>
            <a:endParaRPr lang="nb-NO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E8DF30A-5CE6-53E6-F6A2-0AC307A66C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0A2DBA0-AD04-5D1F-FF45-E40BD204C6F3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1FEB5-E3E6-116D-90F3-7539B28EB40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b-NO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F3BF0-C6C7-7CD1-6D8F-A31F3D8DCFC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nb-NO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511E7380-4706-4FB2-8238-72C23A00B8EB}" type="slidenum"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22758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96049597-C1DC-07E6-93F6-12B651DF37A0}"/>
              </a:ext>
            </a:extLst>
          </p:cNvPr>
          <p:cNvSpPr/>
          <p:nvPr/>
        </p:nvSpPr>
        <p:spPr>
          <a:xfrm>
            <a:off x="0" y="4206240"/>
            <a:ext cx="12191996" cy="265176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Franklin Gothic Medium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4B98E43-E5E7-F96B-CE0C-08B194DC27B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60120" y="640080"/>
            <a:ext cx="10268711" cy="3227832"/>
          </a:xfrm>
        </p:spPr>
        <p:txBody>
          <a:bodyPr anchor="b" anchorCtr="1"/>
          <a:lstStyle>
            <a:lvl1pPr algn="ctr">
              <a:defRPr sz="88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B6C7CC9-EEF4-E5FF-AE76-8284D679FC1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60120" y="4526280"/>
            <a:ext cx="10268711" cy="1508760"/>
          </a:xfrm>
        </p:spPr>
        <p:txBody>
          <a:bodyPr anchorCtr="1"/>
          <a:lstStyle>
            <a:lvl1pPr algn="ctr">
              <a:defRPr sz="3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21A4404A-403E-D7B1-4F83-152A8533134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fld id="{B5B5318D-6BF8-429F-98EF-34873561C9C5}" type="datetime1">
              <a:rPr lang="en-US"/>
              <a:pPr lvl="0"/>
              <a:t>11/10/2024</a:t>
            </a:fld>
            <a:endParaRPr lang="en-US"/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A9FC63AC-A430-C496-E657-F47FB57E223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83855325-F200-DAAD-3106-6C45D815D25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fld id="{B955055F-2F53-41C9-AC55-E0A3CF17ED3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6429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57D0-B9A8-58F8-233A-F735B4F84D1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0E5EE-1AA3-5A6D-2020-3422596FF667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46F3EA85-D029-0B1A-B17A-2DCC0DCE9A1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EC50215-4386-45B1-8695-5D159DCAC498}" type="datetime1">
              <a:rPr lang="en-US"/>
              <a:pPr lvl="0"/>
              <a:t>11/10/2024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75769F93-2AD9-7882-970C-DCCC30B1944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8D354BA6-36BE-BF62-06F7-BA0001A0803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60096A-90ED-4D97-A5A3-6B1A6AF9C9D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3443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50B46719-AE59-7A42-26E1-5290F972835C}"/>
              </a:ext>
            </a:extLst>
          </p:cNvPr>
          <p:cNvSpPr/>
          <p:nvPr/>
        </p:nvSpPr>
        <p:spPr>
          <a:xfrm>
            <a:off x="0" y="0"/>
            <a:ext cx="12191996" cy="4224976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Franklin Gothic Medium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AB75523-D0F5-C986-9E3B-EDC2BD5E1E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120" y="768096"/>
            <a:ext cx="10268711" cy="3136391"/>
          </a:xfrm>
        </p:spPr>
        <p:txBody>
          <a:bodyPr anchor="b"/>
          <a:lstStyle>
            <a:lvl1pPr>
              <a:defRPr sz="7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5347E90-F655-EC47-3376-6535FBCBA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20" y="4544568"/>
            <a:ext cx="10268711" cy="1545336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8">
            <a:extLst>
              <a:ext uri="{FF2B5EF4-FFF2-40B4-BE49-F238E27FC236}">
                <a16:creationId xmlns:a16="http://schemas.microsoft.com/office/drawing/2014/main" id="{51CE48E7-AE98-13A6-C684-E082DD94FD9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0F77D4-6BB2-417C-8FE4-538938FECE4C}" type="datetime1">
              <a:rPr lang="en-US"/>
              <a:pPr lvl="0"/>
              <a:t>11/10/2024</a:t>
            </a:fld>
            <a:endParaRPr lang="en-US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812EF90D-9B00-A207-5852-658B0BC98EC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716B36E1-B774-CC19-C673-954E83AF5AA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75407E1-B56E-4D85-B858-C248762E81C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16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5E093-C05D-91C8-4666-583817AC268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5BCC2-6777-3BA7-08A7-3CD0ED0140D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60120" y="2587751"/>
            <a:ext cx="4815843" cy="35935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D24E3-3773-7A22-6237-F75EEC4324A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412988" y="2583372"/>
            <a:ext cx="4815843" cy="35935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1">
            <a:extLst>
              <a:ext uri="{FF2B5EF4-FFF2-40B4-BE49-F238E27FC236}">
                <a16:creationId xmlns:a16="http://schemas.microsoft.com/office/drawing/2014/main" id="{64407F6E-7FAF-457B-FC12-9F7884BF30E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3BAC80-0FBA-4F21-A3A1-18148969712A}" type="datetime1">
              <a:rPr lang="en-US"/>
              <a:pPr lvl="0"/>
              <a:t>11/10/2024</a:t>
            </a:fld>
            <a:endParaRPr lang="en-US"/>
          </a:p>
        </p:txBody>
      </p:sp>
      <p:sp>
        <p:nvSpPr>
          <p:cNvPr id="6" name="Footer Placeholder 12">
            <a:extLst>
              <a:ext uri="{FF2B5EF4-FFF2-40B4-BE49-F238E27FC236}">
                <a16:creationId xmlns:a16="http://schemas.microsoft.com/office/drawing/2014/main" id="{1391FB01-211B-5630-4864-21D75AFAA40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71B36DF2-D6CE-3AB8-FC3B-896FBD40DD6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633C0D-2FDF-4FD4-9C4A-9A17D9E1EC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62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7B6C45F-D6BD-2BCB-0D35-879F695586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60120" y="2587751"/>
            <a:ext cx="4818888" cy="892052"/>
          </a:xfrm>
        </p:spPr>
        <p:txBody>
          <a:bodyPr anchor="ctr"/>
          <a:lstStyle>
            <a:lvl1pPr>
              <a:defRPr cap="all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BB90C82-B7A2-9546-9139-9AEE6608166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960120" y="3594533"/>
            <a:ext cx="4818888" cy="25868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74AA151A-201B-E14D-4B61-1D93F4D91A3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09944" y="2587751"/>
            <a:ext cx="4818888" cy="892052"/>
          </a:xfrm>
        </p:spPr>
        <p:txBody>
          <a:bodyPr anchor="ctr"/>
          <a:lstStyle>
            <a:lvl1pPr>
              <a:defRPr cap="all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84FFF58-BC4A-E635-084A-629C99702B6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409944" y="3594533"/>
            <a:ext cx="4818888" cy="25868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9">
            <a:extLst>
              <a:ext uri="{FF2B5EF4-FFF2-40B4-BE49-F238E27FC236}">
                <a16:creationId xmlns:a16="http://schemas.microsoft.com/office/drawing/2014/main" id="{DB15AB2C-10C1-40A3-8A6E-39D18C36352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6CAE357-ACBE-4199-9B7D-7184A468AE61}" type="datetime1">
              <a:rPr lang="en-US"/>
              <a:pPr lvl="0"/>
              <a:t>11/10/2024</a:t>
            </a:fld>
            <a:endParaRPr lang="en-US"/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4CFD960F-A4BD-7558-3959-BE1CD1BF4F8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A7E8956F-8B29-E342-4BDE-4A749614E59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D19733-7BFE-428C-982D-84C9C29F977B}" type="slidenum">
              <a:t>‹#›</a:t>
            </a:fld>
            <a:endParaRPr lang="en-US"/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793462B9-5112-4CA1-DEB8-3D8B0737F79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914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69ED1-BAF6-9F84-C752-EB1BA3B1D56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7D096259-121C-58E7-956C-49A36DA097E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852A96C-E1C3-42B1-A640-77A5DF082396}" type="datetime1">
              <a:rPr lang="en-US"/>
              <a:pPr lvl="0"/>
              <a:t>11/10/2024</a:t>
            </a:fld>
            <a:endParaRPr lang="en-US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23CEFEE-3741-B807-37BC-7FB26011EAA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A326FFCC-3BD9-3DA6-F525-7FBFF6CDCD2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16F632-4BFD-446A-88DE-7E22F18947A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840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2B379B58-2497-2CCF-E41A-E72B6CEAF37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E004B4-AF55-4FC4-80A5-FD39D662BFAC}" type="datetime1">
              <a:rPr lang="en-US"/>
              <a:pPr lvl="0"/>
              <a:t>11/10/2024</a:t>
            </a:fld>
            <a:endParaRPr lang="en-US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E0AA060D-54DB-94F1-19FD-36DC402ECA1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1C571B51-B723-F55E-BDB7-CAE148718A5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BC05201-1F25-4309-BC6C-AC96F5BE222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3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9B0B9C-A0D5-B37F-3E38-D4C4C3311E8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83184" y="2591848"/>
            <a:ext cx="6045647" cy="359359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FC6A368-FDDC-5370-06A9-36DDEAA0C47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60120" y="2591848"/>
            <a:ext cx="3811904" cy="3277136"/>
          </a:xfrm>
        </p:spPr>
        <p:txBody>
          <a:bodyPr anchor="ctr"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>
            <a:extLst>
              <a:ext uri="{FF2B5EF4-FFF2-40B4-BE49-F238E27FC236}">
                <a16:creationId xmlns:a16="http://schemas.microsoft.com/office/drawing/2014/main" id="{CB04DD1C-6D21-9C5C-5D43-EC14F2739E5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83CE59C-046C-4E6E-ABBD-7F5F482B7308}" type="datetime1">
              <a:rPr lang="en-US"/>
              <a:pPr lvl="0"/>
              <a:t>11/10/2024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99B18029-3BF8-D4C4-DD96-347FDEB70D8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9932929F-C70B-37E5-4825-62B8002C882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A7CBF73-53C2-4779-A962-25720E129C38}" type="slidenum">
              <a:t>‹#›</a:t>
            </a:fld>
            <a:endParaRPr lang="en-US"/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A0B76BE2-0CA7-2B6E-3786-C30DDBA124C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06226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C9EE0B11-660B-A4F2-5B64-F07B1E7F9C8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2267712"/>
            <a:ext cx="6571472" cy="4590288"/>
          </a:xfrm>
          <a:solidFill>
            <a:srgbClr val="D9D9D9"/>
          </a:solidFill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3AE8FFD-E546-60AD-AD01-F2BDB75023B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35967" y="2587751"/>
            <a:ext cx="3992855" cy="3593591"/>
          </a:xfrm>
        </p:spPr>
        <p:txBody>
          <a:bodyPr anchor="ctr"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>
            <a:extLst>
              <a:ext uri="{FF2B5EF4-FFF2-40B4-BE49-F238E27FC236}">
                <a16:creationId xmlns:a16="http://schemas.microsoft.com/office/drawing/2014/main" id="{F956EE4E-A8E8-7563-A6AD-9C1CAECD73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9C5C390-BC44-4624-9628-39C22EFF509D}" type="datetime1">
              <a:rPr lang="en-US"/>
              <a:pPr lvl="0"/>
              <a:t>11/10/2024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FF38407A-B7B5-D4CE-49EC-62F93479FA9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dist="38096" dir="2700000">
                    <a:srgbClr val="000000"/>
                  </a:outerShdw>
                </a:effectLst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8DBA2C11-567E-85D7-4502-2501A043809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72B6F7-17B4-4613-BCA7-A3E5097A6D92}" type="slidenum"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7DA24B6-3A7E-72D5-DA17-2156A011F62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516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E85EA-2B4E-8272-B9D8-3E975869419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B9EB10-F5D7-FA00-AF74-7D3941192F16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057ACBB2-F7BF-18A2-0920-FB51C1E1A9B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DE08F62-4C35-4E04-8D10-5D4D1556DB6A}" type="datetime1">
              <a:rPr lang="en-US"/>
              <a:pPr lvl="0"/>
              <a:t>11/10/2024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63266E01-BF55-972F-7E1E-61B2BAC16C8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F08445A-821F-32D3-99EC-610A9E28FBC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61C0FD5-C8BD-4840-A8FE-047C51F8EDD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19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219CDCAB-6A7B-9FC8-5095-A4226E4BB091}"/>
              </a:ext>
            </a:extLst>
          </p:cNvPr>
          <p:cNvSpPr/>
          <p:nvPr/>
        </p:nvSpPr>
        <p:spPr>
          <a:xfrm>
            <a:off x="7108271" y="0"/>
            <a:ext cx="5083725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Franklin Gothic Medium"/>
            </a:endParaRPr>
          </a:p>
        </p:txBody>
      </p:sp>
      <p:sp>
        <p:nvSpPr>
          <p:cNvPr id="3" name="Vertical Title 1">
            <a:extLst>
              <a:ext uri="{FF2B5EF4-FFF2-40B4-BE49-F238E27FC236}">
                <a16:creationId xmlns:a16="http://schemas.microsoft.com/office/drawing/2014/main" id="{44D2375E-53FF-A86F-4A02-2ED86D6F4106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751743" y="643463"/>
            <a:ext cx="3477088" cy="5533491"/>
          </a:xfrm>
        </p:spPr>
        <p:txBody>
          <a:bodyPr vert="eaVert" tIns="91440" bIns="91440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Vertical Text Placeholder 2">
            <a:extLst>
              <a:ext uri="{FF2B5EF4-FFF2-40B4-BE49-F238E27FC236}">
                <a16:creationId xmlns:a16="http://schemas.microsoft.com/office/drawing/2014/main" id="{5D0CD349-5B22-5435-C75D-1F84B6FD429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960120" y="643463"/>
            <a:ext cx="5504688" cy="5533491"/>
          </a:xfrm>
        </p:spPr>
        <p:txBody>
          <a:bodyPr vert="eaVert" tIns="91440" bIns="9144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C697DAD8-9BD2-60E9-3EC7-FC584CC0C2E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7617893" y="6356351"/>
            <a:ext cx="2522802" cy="36512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fld id="{07B5EDD1-BDD1-41E7-9445-E5D36338E3CF}" type="datetime1">
              <a:rPr lang="en-US"/>
              <a:pPr lvl="0"/>
              <a:t>11/10/2024</a:t>
            </a:fld>
            <a:endParaRPr lang="en-US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364D2941-3873-6474-CA41-6D737AC24AA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1A993EC5-9E61-8294-E025-7D993DC608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fld id="{A6120D7B-68CC-4897-A35A-274B5082B46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FA4776C-0B5C-D646-CB72-66E744EDA84F}"/>
              </a:ext>
            </a:extLst>
          </p:cNvPr>
          <p:cNvSpPr/>
          <p:nvPr/>
        </p:nvSpPr>
        <p:spPr>
          <a:xfrm>
            <a:off x="0" y="0"/>
            <a:ext cx="12191996" cy="2264987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Franklin Gothic Medium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4B740EB-EB03-1A18-53CE-EC175003E7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120" y="317818"/>
            <a:ext cx="10268711" cy="170078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21DF1D7-9A84-1EAB-1834-5D5A43932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20" y="2587751"/>
            <a:ext cx="10268711" cy="35935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F1F29F4-F416-C3CF-6A55-20E2F1D53987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903720" y="6356351"/>
            <a:ext cx="323697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50" baseline="0">
                <a:solidFill>
                  <a:srgbClr val="000000"/>
                </a:solidFill>
                <a:uFillTx/>
                <a:latin typeface="Franklin Gothic Medium"/>
              </a:defRPr>
            </a:lvl1pPr>
          </a:lstStyle>
          <a:p>
            <a:pPr lvl="0"/>
            <a:fld id="{46D4C386-0CEF-4F12-8060-98A3904C9BC1}" type="datetime1">
              <a:rPr lang="en-US"/>
              <a:pPr lvl="0"/>
              <a:t>11/10/2024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DAB6629-AA42-2973-CB8C-02963311EFF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960120" y="6356351"/>
            <a:ext cx="550468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100" b="0" i="0" u="none" strike="noStrike" kern="1200" cap="all" spc="50" baseline="0">
                <a:solidFill>
                  <a:srgbClr val="000000"/>
                </a:solidFill>
                <a:uFillTx/>
                <a:latin typeface="Franklin Gothic Medium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76CD4A-A458-04BC-56EE-1DB121B49B4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0296144" y="6356351"/>
            <a:ext cx="93268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Franklin Gothic Medium"/>
              </a:defRPr>
            </a:lvl1pPr>
          </a:lstStyle>
          <a:p>
            <a:pPr lvl="0"/>
            <a:fld id="{3E0A3E3D-3DC5-4DAF-A6C8-5BF8125BE801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6600" b="0" i="0" u="none" strike="noStrike" kern="1200" cap="all" spc="120" baseline="0">
          <a:solidFill>
            <a:srgbClr val="FFFFFF"/>
          </a:solidFill>
          <a:uFillTx/>
          <a:latin typeface="Franklin Gothic Demi Cond"/>
        </a:defRPr>
      </a:lvl1pPr>
    </p:titleStyle>
    <p:bodyStyle>
      <a:lvl1pPr marL="0" marR="0" lvl="0" indent="0" algn="l" defTabSz="914400" rtl="0" fontAlgn="auto" hangingPunct="1">
        <a:lnSpc>
          <a:spcPct val="101000"/>
        </a:lnSpc>
        <a:spcBef>
          <a:spcPts val="700"/>
        </a:spcBef>
        <a:spcAft>
          <a:spcPts val="700"/>
        </a:spcAft>
        <a:buNone/>
        <a:tabLst/>
        <a:defRPr lang="en-US" sz="2600" b="0" i="0" u="none" strike="noStrike" kern="1200" cap="none" spc="50" baseline="0">
          <a:solidFill>
            <a:srgbClr val="000000"/>
          </a:solidFill>
          <a:uFillTx/>
          <a:latin typeface="Franklin Gothic Medium"/>
        </a:defRPr>
      </a:lvl1pPr>
      <a:lvl2pPr marL="274320" marR="0" lvl="1" indent="-274320" algn="l" defTabSz="914400" rtl="0" fontAlgn="auto" hangingPunct="1">
        <a:lnSpc>
          <a:spcPct val="101000"/>
        </a:lnSpc>
        <a:spcBef>
          <a:spcPts val="400"/>
        </a:spcBef>
        <a:spcAft>
          <a:spcPts val="400"/>
        </a:spcAft>
        <a:buSzPct val="100000"/>
        <a:buFont typeface="Wingdings" pitchFamily="2"/>
        <a:buChar char="§"/>
        <a:tabLst/>
        <a:defRPr lang="en-US" sz="2300" b="0" i="0" u="none" strike="noStrike" kern="1200" cap="none" spc="50" baseline="0">
          <a:solidFill>
            <a:srgbClr val="000000"/>
          </a:solidFill>
          <a:uFillTx/>
          <a:latin typeface="Franklin Gothic Medium"/>
        </a:defRPr>
      </a:lvl2pPr>
      <a:lvl3pPr marL="274320" marR="0" lvl="2" indent="0" algn="l" defTabSz="914400" rtl="0" fontAlgn="auto" hangingPunct="1">
        <a:lnSpc>
          <a:spcPct val="101000"/>
        </a:lnSpc>
        <a:spcBef>
          <a:spcPts val="400"/>
        </a:spcBef>
        <a:spcAft>
          <a:spcPts val="400"/>
        </a:spcAft>
        <a:buNone/>
        <a:tabLst/>
        <a:defRPr lang="en-US" sz="1800" b="1" i="0" u="none" strike="noStrike" kern="1200" cap="none" spc="50" baseline="0">
          <a:solidFill>
            <a:srgbClr val="000000"/>
          </a:solidFill>
          <a:uFillTx/>
          <a:latin typeface="Franklin Gothic Medium"/>
        </a:defRPr>
      </a:lvl3pPr>
      <a:lvl4pPr marL="594360" marR="0" lvl="3" indent="-274320" algn="l" defTabSz="914400" rtl="0" fontAlgn="auto" hangingPunct="1">
        <a:lnSpc>
          <a:spcPct val="101000"/>
        </a:lnSpc>
        <a:spcBef>
          <a:spcPts val="400"/>
        </a:spcBef>
        <a:spcAft>
          <a:spcPts val="400"/>
        </a:spcAft>
        <a:buSzPct val="100000"/>
        <a:buFont typeface="Wingdings" pitchFamily="2"/>
        <a:buChar char="§"/>
        <a:tabLst/>
        <a:defRPr lang="en-US" sz="1800" b="0" i="0" u="none" strike="noStrike" kern="1200" cap="none" spc="50" baseline="0">
          <a:solidFill>
            <a:srgbClr val="000000"/>
          </a:solidFill>
          <a:uFillTx/>
          <a:latin typeface="Franklin Gothic Medium"/>
        </a:defRPr>
      </a:lvl4pPr>
      <a:lvl5pPr marL="594360" marR="0" lvl="4" indent="0" algn="l" defTabSz="914400" rtl="0" fontAlgn="auto" hangingPunct="1">
        <a:lnSpc>
          <a:spcPct val="101000"/>
        </a:lnSpc>
        <a:spcBef>
          <a:spcPts val="400"/>
        </a:spcBef>
        <a:spcAft>
          <a:spcPts val="400"/>
        </a:spcAft>
        <a:buNone/>
        <a:tabLst/>
        <a:defRPr lang="en-US" sz="1800" b="1" i="0" u="none" strike="noStrike" kern="1200" cap="none" spc="50" baseline="0">
          <a:solidFill>
            <a:srgbClr val="000000"/>
          </a:solidFill>
          <a:uFillTx/>
          <a:latin typeface="Franklin Gothic Medium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00EBA56B-76CC-E128-4C47-DAE736C8A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Franklin Gothic Medium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8A47584-96DA-6BF7-1D8E-DA51F3B3159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60440" y="639759"/>
            <a:ext cx="6021205" cy="3227383"/>
          </a:xfrm>
        </p:spPr>
        <p:txBody>
          <a:bodyPr anchorCtr="0"/>
          <a:lstStyle/>
          <a:p>
            <a:pPr lvl="0" algn="l"/>
            <a:r>
              <a:rPr lang="nb-NO" sz="8100"/>
              <a:t>Nettverk – IP adresser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B30E754A-362F-4CBD-9275-1F720ED31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4206240"/>
            <a:ext cx="7534655" cy="265176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Franklin Gothic Medium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EC6D756-E26B-0B6B-005E-C94A0B5EDB1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60440" y="4525959"/>
            <a:ext cx="6021205" cy="1509710"/>
          </a:xfrm>
        </p:spPr>
        <p:txBody>
          <a:bodyPr/>
          <a:lstStyle/>
          <a:p>
            <a:endParaRPr lang="nb-NO"/>
          </a:p>
        </p:txBody>
      </p:sp>
      <p:pic>
        <p:nvPicPr>
          <p:cNvPr id="6" name="Picture 3" descr="A blue and black background with triangles&#10;&#10;Description automatically generated">
            <a:extLst>
              <a:ext uri="{FF2B5EF4-FFF2-40B4-BE49-F238E27FC236}">
                <a16:creationId xmlns:a16="http://schemas.microsoft.com/office/drawing/2014/main" id="{C27B6D97-89E7-AD6D-D3AB-483478D6ED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82" r="21607"/>
          <a:stretch>
            <a:fillRect/>
          </a:stretch>
        </p:blipFill>
        <p:spPr>
          <a:xfrm>
            <a:off x="7534655" y="9"/>
            <a:ext cx="4657340" cy="685799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1DE2-AE3D-EEEE-3C96-4FF28FBD6F6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b-NO"/>
              <a:t>Hva er en IP adresse?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CFDED-95C6-F1E5-26E8-60ACD4D7BBA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SzPct val="100000"/>
              <a:buFont typeface="Arial" pitchFamily="34"/>
              <a:buAutoNum type="arabicPeriod"/>
            </a:pPr>
            <a:r>
              <a:rPr lang="nb-NO"/>
              <a:t>Alle åpner nettleseren sin, Google, Edge, Brave…</a:t>
            </a:r>
          </a:p>
          <a:p>
            <a:pPr marL="514350" lvl="0" indent="-514350">
              <a:buSzPct val="100000"/>
              <a:buFont typeface="Arial" pitchFamily="34"/>
              <a:buAutoNum type="arabicPeriod"/>
            </a:pPr>
            <a:r>
              <a:rPr lang="nb-NO"/>
              <a:t>I søkefeltet skriver du: </a:t>
            </a:r>
          </a:p>
          <a:p>
            <a:pPr lvl="0"/>
            <a:r>
              <a:rPr lang="nb-NO"/>
              <a:t>	</a:t>
            </a:r>
            <a:r>
              <a:rPr lang="nb-NO" sz="7200"/>
              <a:t>http://195.88.55.16</a:t>
            </a:r>
          </a:p>
          <a:p>
            <a:pPr marL="514350" lvl="0" indent="-514350">
              <a:buSzPct val="100000"/>
              <a:buFont typeface="Arial" pitchFamily="34"/>
              <a:buAutoNum type="arabicPeriod"/>
            </a:pPr>
            <a:r>
              <a:rPr lang="nb-NO"/>
              <a:t>Trykk Enter. Hva skjer da?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D6F0B-1E35-2AE9-2EA7-4AD36E00A08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0A4DA04-C5F5-27AF-3FBB-1A72BEFD96E3}"/>
              </a:ext>
            </a:extLst>
          </p:cNvPr>
          <p:cNvSpPr/>
          <p:nvPr/>
        </p:nvSpPr>
        <p:spPr>
          <a:xfrm>
            <a:off x="-55421" y="-69274"/>
            <a:ext cx="12288978" cy="699654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nb-NO" sz="1800" b="0" i="0" u="none" strike="noStrike" kern="1200" cap="none" spc="0" baseline="0">
              <a:solidFill>
                <a:srgbClr val="FFFFFF"/>
              </a:solidFill>
              <a:uFillTx/>
              <a:latin typeface="Franklin Gothic Medium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0B77C1-18F5-1082-F9E2-FA4BC3324BC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45068" y="1542455"/>
            <a:ext cx="5343698" cy="5571740"/>
          </a:xfrm>
        </p:spPr>
        <p:txBody>
          <a:bodyPr/>
          <a:lstStyle/>
          <a:p>
            <a:pPr lvl="0"/>
            <a:r>
              <a:rPr lang="nb-NO"/>
              <a:t>Alle nettsider ligger på en maskin (Server, PC)</a:t>
            </a:r>
          </a:p>
          <a:p>
            <a:pPr lvl="0"/>
            <a:endParaRPr lang="nb-NO"/>
          </a:p>
          <a:p>
            <a:pPr lvl="0"/>
            <a:r>
              <a:rPr lang="nb-NO"/>
              <a:t>Denne maskinen har en helt unik </a:t>
            </a:r>
            <a:r>
              <a:rPr lang="nb-NO">
                <a:solidFill>
                  <a:srgbClr val="E97132"/>
                </a:solidFill>
              </a:rPr>
              <a:t>IP-adresse</a:t>
            </a:r>
            <a:r>
              <a:rPr lang="nb-NO"/>
              <a:t> som du kan besøke</a:t>
            </a:r>
          </a:p>
          <a:p>
            <a:pPr lvl="0"/>
            <a:endParaRPr lang="nb-NO"/>
          </a:p>
        </p:txBody>
      </p:sp>
      <p:pic>
        <p:nvPicPr>
          <p:cNvPr id="5" name="Picture 8" descr="A close up of a computer&#10;&#10;Description automatically generated">
            <a:extLst>
              <a:ext uri="{FF2B5EF4-FFF2-40B4-BE49-F238E27FC236}">
                <a16:creationId xmlns:a16="http://schemas.microsoft.com/office/drawing/2014/main" id="{0686786A-816D-0AFA-DBA8-55FF52E94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42" y="3465923"/>
            <a:ext cx="4408852" cy="13520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7" descr="A screenshot of a tablet&#10;&#10;Description automatically generated">
            <a:extLst>
              <a:ext uri="{FF2B5EF4-FFF2-40B4-BE49-F238E27FC236}">
                <a16:creationId xmlns:a16="http://schemas.microsoft.com/office/drawing/2014/main" id="{DDEE8189-0146-DE10-5736-4F621E64ED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10" t="27746" r="10189" b="16321"/>
          <a:stretch>
            <a:fillRect/>
          </a:stretch>
        </p:blipFill>
        <p:spPr>
          <a:xfrm>
            <a:off x="8919267" y="1801651"/>
            <a:ext cx="2708288" cy="1580311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7" name="Straight Arrow Connector 10">
            <a:extLst>
              <a:ext uri="{FF2B5EF4-FFF2-40B4-BE49-F238E27FC236}">
                <a16:creationId xmlns:a16="http://schemas.microsoft.com/office/drawing/2014/main" id="{90ADF01B-49FE-AD9D-5971-15D898159EC1}"/>
              </a:ext>
            </a:extLst>
          </p:cNvPr>
          <p:cNvCxnSpPr/>
          <p:nvPr/>
        </p:nvCxnSpPr>
        <p:spPr>
          <a:xfrm flipH="1">
            <a:off x="9130137" y="3076151"/>
            <a:ext cx="581888" cy="734290"/>
          </a:xfrm>
          <a:prstGeom prst="straightConnector1">
            <a:avLst/>
          </a:prstGeom>
          <a:noFill/>
          <a:ln w="76196" cap="flat">
            <a:solidFill>
              <a:srgbClr val="FF0000"/>
            </a:solidFill>
            <a:prstDash val="solid"/>
            <a:miter/>
            <a:tailEnd type="arrow"/>
          </a:ln>
        </p:spPr>
      </p:cxnSp>
      <p:sp>
        <p:nvSpPr>
          <p:cNvPr id="8" name="TextBox 12">
            <a:extLst>
              <a:ext uri="{FF2B5EF4-FFF2-40B4-BE49-F238E27FC236}">
                <a16:creationId xmlns:a16="http://schemas.microsoft.com/office/drawing/2014/main" id="{CED59366-1A83-0ECF-FF55-CBE7DB1F4010}"/>
              </a:ext>
            </a:extLst>
          </p:cNvPr>
          <p:cNvSpPr txBox="1"/>
          <p:nvPr/>
        </p:nvSpPr>
        <p:spPr>
          <a:xfrm>
            <a:off x="8106640" y="4143658"/>
            <a:ext cx="1625272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00" b="0" i="0" u="none" strike="noStrike" kern="1200" cap="none" spc="0" baseline="0">
                <a:solidFill>
                  <a:srgbClr val="000000"/>
                </a:solidFill>
                <a:uFillTx/>
                <a:latin typeface="Franklin Gothic Medium"/>
              </a:rPr>
              <a:t>195.88.55.16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DDBE9FB-9CF4-270D-ADDD-0EAC4A894E1B}"/>
              </a:ext>
            </a:extLst>
          </p:cNvPr>
          <p:cNvSpPr txBox="1"/>
          <p:nvPr/>
        </p:nvSpPr>
        <p:spPr>
          <a:xfrm>
            <a:off x="7569046" y="4929731"/>
            <a:ext cx="3122191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3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195.88.55.16</a:t>
            </a:r>
            <a:endParaRPr lang="nb-NO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346D-AA57-9667-1C43-9342912B499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2CA5594-0532-9962-01A4-CE6FEB9B41D0}"/>
              </a:ext>
            </a:extLst>
          </p:cNvPr>
          <p:cNvSpPr/>
          <p:nvPr/>
        </p:nvSpPr>
        <p:spPr>
          <a:xfrm>
            <a:off x="-55421" y="-69274"/>
            <a:ext cx="12288978" cy="699654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nb-NO" sz="1800" b="0" i="0" u="none" strike="noStrike" kern="1200" cap="none" spc="0" baseline="0">
              <a:solidFill>
                <a:srgbClr val="FFFFFF"/>
              </a:solidFill>
              <a:uFillTx/>
              <a:latin typeface="Franklin Gothic Medium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01A658-87F5-08FC-E77A-181709AE71F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60120" y="1814946"/>
            <a:ext cx="5343698" cy="3228106"/>
          </a:xfrm>
        </p:spPr>
        <p:txBody>
          <a:bodyPr/>
          <a:lstStyle/>
          <a:p>
            <a:pPr lvl="0"/>
            <a:r>
              <a:rPr lang="nb-NO"/>
              <a:t>Alle nettsider er egentlig IP-adresser</a:t>
            </a:r>
          </a:p>
          <a:p>
            <a:pPr lvl="0"/>
            <a:endParaRPr lang="nb-NO"/>
          </a:p>
          <a:p>
            <a:pPr lvl="0"/>
            <a:r>
              <a:rPr lang="nb-NO"/>
              <a:t>Domener er et «erstatnings-navn» for IP-adresser fordi det er lettere å huske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C81B4E0-2978-5EE3-9F4B-997627ACB920}"/>
              </a:ext>
            </a:extLst>
          </p:cNvPr>
          <p:cNvGraphicFramePr>
            <a:graphicFrameLocks noGrp="1"/>
          </p:cNvGraphicFramePr>
          <p:nvPr/>
        </p:nvGraphicFramePr>
        <p:xfrm>
          <a:off x="6483918" y="2658151"/>
          <a:ext cx="5126181" cy="1541687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563090">
                  <a:extLst>
                    <a:ext uri="{9D8B030D-6E8A-4147-A177-3AD203B41FA5}">
                      <a16:colId xmlns:a16="http://schemas.microsoft.com/office/drawing/2014/main" val="2690565745"/>
                    </a:ext>
                  </a:extLst>
                </a:gridCol>
                <a:gridCol w="2563090">
                  <a:extLst>
                    <a:ext uri="{9D8B030D-6E8A-4147-A177-3AD203B41FA5}">
                      <a16:colId xmlns:a16="http://schemas.microsoft.com/office/drawing/2014/main" val="694005477"/>
                    </a:ext>
                  </a:extLst>
                </a:gridCol>
              </a:tblGrid>
              <a:tr h="530306">
                <a:tc>
                  <a:txBody>
                    <a:bodyPr/>
                    <a:lstStyle/>
                    <a:p>
                      <a:pPr lvl="0"/>
                      <a:r>
                        <a:rPr lang="nb-NO"/>
                        <a:t>IP-adresse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nb-NO"/>
                        <a:t>Domene navn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885040"/>
                  </a:ext>
                </a:extLst>
              </a:tr>
              <a:tr h="481074"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nb-NO" sz="2400"/>
                        <a:t>195.88.55.16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nb-NO" sz="2400"/>
                        <a:t>vg.no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597134"/>
                  </a:ext>
                </a:extLst>
              </a:tr>
              <a:tr h="530306">
                <a:tc>
                  <a:txBody>
                    <a:bodyPr/>
                    <a:lstStyle/>
                    <a:p>
                      <a:pPr lvl="0"/>
                      <a:r>
                        <a:rPr lang="nb-NO" sz="2400"/>
                        <a:t>81.166.122.104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nb-NO" sz="2400"/>
                        <a:t>nrk.no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4619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F974BB4-AE50-602E-39DA-E94359D9F3B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60120" y="2758031"/>
            <a:ext cx="10268711" cy="3593591"/>
          </a:xfrm>
        </p:spPr>
        <p:txBody>
          <a:bodyPr/>
          <a:lstStyle/>
          <a:p>
            <a:pPr lvl="0"/>
            <a:r>
              <a:rPr lang="nb-NO"/>
              <a:t>Skjønner du hvor du skal dra hvis jeg ber deg om å dra til </a:t>
            </a:r>
            <a:r>
              <a:rPr lang="nb-NO" sz="2800">
                <a:solidFill>
                  <a:srgbClr val="215F9A"/>
                </a:solidFill>
              </a:rPr>
              <a:t>59.92800336237452, 10.816959745447752</a:t>
            </a:r>
            <a:r>
              <a:rPr lang="nb-NO" sz="2800"/>
              <a:t>?</a:t>
            </a:r>
          </a:p>
          <a:p>
            <a:pPr lvl="0"/>
            <a:r>
              <a:rPr lang="nb-NO"/>
              <a:t> </a:t>
            </a:r>
          </a:p>
        </p:txBody>
      </p:sp>
      <p:pic>
        <p:nvPicPr>
          <p:cNvPr id="3" name="Picture 4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5E773B34-E2C2-055E-4E19-89F7067D6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870" y="4208809"/>
            <a:ext cx="2732071" cy="233137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165BA4B6-B8D3-7150-1E5A-B8CF91A44068}"/>
              </a:ext>
            </a:extLst>
          </p:cNvPr>
          <p:cNvSpPr/>
          <p:nvPr/>
        </p:nvSpPr>
        <p:spPr>
          <a:xfrm>
            <a:off x="-129972" y="-57662"/>
            <a:ext cx="12448906" cy="2360834"/>
          </a:xfrm>
          <a:prstGeom prst="rect">
            <a:avLst/>
          </a:prstGeom>
          <a:solidFill>
            <a:srgbClr val="215F9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nb-NO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79E12F3-1183-2E86-C56F-BF65D63D209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b-NO" sz="5900"/>
              <a:t>Sammenlikning med adresser på kart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E42E1E7-C80C-A26E-DD9E-5264754AE5A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b-NO"/>
              <a:t>Adresse</a:t>
            </a:r>
          </a:p>
        </p:txBody>
      </p:sp>
      <p:sp>
        <p:nvSpPr>
          <p:cNvPr id="3" name="Plassholder for innhold 5">
            <a:extLst>
              <a:ext uri="{FF2B5EF4-FFF2-40B4-BE49-F238E27FC236}">
                <a16:creationId xmlns:a16="http://schemas.microsoft.com/office/drawing/2014/main" id="{C80972A1-49AF-7051-6B27-32AC29E389B7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EAFCDC6-EB70-C069-3E43-CC6DA7353AE9}"/>
              </a:ext>
            </a:extLst>
          </p:cNvPr>
          <p:cNvSpPr/>
          <p:nvPr/>
        </p:nvSpPr>
        <p:spPr>
          <a:xfrm>
            <a:off x="-96981" y="0"/>
            <a:ext cx="12288978" cy="699654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nb-NO" sz="1800" b="0" i="0" u="none" strike="noStrike" kern="1200" cap="none" spc="0" baseline="0">
              <a:solidFill>
                <a:srgbClr val="FFFFFF"/>
              </a:solidFill>
              <a:uFillTx/>
              <a:latin typeface="Franklin Gothic Medium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7DA935-EF1F-6801-9B61-8BE25AC48683}"/>
              </a:ext>
            </a:extLst>
          </p:cNvPr>
          <p:cNvSpPr txBox="1"/>
          <p:nvPr/>
        </p:nvSpPr>
        <p:spPr>
          <a:xfrm>
            <a:off x="8379131" y="2018602"/>
            <a:ext cx="3589358" cy="403973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1000"/>
              </a:lnSpc>
              <a:spcBef>
                <a:spcPts val="700"/>
              </a:spcBef>
              <a:spcAft>
                <a:spcPts val="7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2200" b="0" i="0" u="none" strike="noStrike" kern="1200" cap="none" spc="50" baseline="0">
                <a:solidFill>
                  <a:srgbClr val="000000"/>
                </a:solidFill>
                <a:uFillTx/>
                <a:latin typeface="Franklin Gothic Medium"/>
              </a:rPr>
              <a:t>Man husker ikke koordinatene 59.92800336237452, 10.816959745447752</a:t>
            </a:r>
          </a:p>
          <a:p>
            <a:pPr marL="0" marR="0" lvl="0" indent="0" algn="l" defTabSz="914400" rtl="0" fontAlgn="auto" hangingPunct="1">
              <a:lnSpc>
                <a:spcPct val="91000"/>
              </a:lnSpc>
              <a:spcBef>
                <a:spcPts val="700"/>
              </a:spcBef>
              <a:spcAft>
                <a:spcPts val="7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nb-NO" sz="2200" b="0" i="0" u="none" strike="noStrike" kern="1200" cap="none" spc="50" baseline="0">
              <a:solidFill>
                <a:srgbClr val="000000"/>
              </a:solidFill>
              <a:uFillTx/>
              <a:latin typeface="Franklin Gothic Medium"/>
            </a:endParaRPr>
          </a:p>
          <a:p>
            <a:pPr marL="0" marR="0" lvl="0" indent="0" algn="l" defTabSz="914400" rtl="0" fontAlgn="auto" hangingPunct="1">
              <a:lnSpc>
                <a:spcPct val="91000"/>
              </a:lnSpc>
              <a:spcBef>
                <a:spcPts val="700"/>
              </a:spcBef>
              <a:spcAft>
                <a:spcPts val="7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2200" b="0" i="0" u="none" strike="noStrike" kern="1200" cap="none" spc="50" baseline="0">
                <a:solidFill>
                  <a:srgbClr val="000000"/>
                </a:solidFill>
                <a:uFillTx/>
                <a:latin typeface="Franklin Gothic Medium"/>
              </a:rPr>
              <a:t>Det er lettere å huske </a:t>
            </a:r>
            <a:r>
              <a:rPr lang="nb-NO" sz="2200" b="0" i="0" u="sng" strike="noStrike" kern="1200" cap="none" spc="50" baseline="0">
                <a:solidFill>
                  <a:srgbClr val="000000"/>
                </a:solidFill>
                <a:uFillTx/>
                <a:latin typeface="Franklin Gothic Medium"/>
              </a:rPr>
              <a:t>Kabelgata 10, 0581 Oslo</a:t>
            </a:r>
          </a:p>
        </p:txBody>
      </p:sp>
      <p:pic>
        <p:nvPicPr>
          <p:cNvPr id="6" name="Picture 13">
            <a:extLst>
              <a:ext uri="{FF2B5EF4-FFF2-40B4-BE49-F238E27FC236}">
                <a16:creationId xmlns:a16="http://schemas.microsoft.com/office/drawing/2014/main" id="{8A5A05C5-7775-94CE-2AE6-65D129B71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2321" y="0"/>
            <a:ext cx="7891454" cy="699654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3577F-8AC1-BA8C-0A0E-28DA8FA7CE0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3563AAB-64C7-0788-4F67-03FE2AD8E5F7}"/>
              </a:ext>
            </a:extLst>
          </p:cNvPr>
          <p:cNvSpPr/>
          <p:nvPr/>
        </p:nvSpPr>
        <p:spPr>
          <a:xfrm>
            <a:off x="-55421" y="-69274"/>
            <a:ext cx="12288978" cy="699654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nb-NO" sz="1800" b="0" i="0" u="none" strike="noStrike" kern="1200" cap="none" spc="0" baseline="0">
              <a:solidFill>
                <a:srgbClr val="FFFFFF"/>
              </a:solidFill>
              <a:uFillTx/>
              <a:latin typeface="Franklin Gothic Medium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8D6A77-CE52-158A-4850-581EED532BF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60120" y="1814946"/>
            <a:ext cx="5343698" cy="3228106"/>
          </a:xfrm>
        </p:spPr>
        <p:txBody>
          <a:bodyPr/>
          <a:lstStyle/>
          <a:p>
            <a:pPr lvl="0"/>
            <a:r>
              <a:rPr lang="nb-NO"/>
              <a:t>Alle nettsider er egentlig IP-adresser</a:t>
            </a:r>
          </a:p>
          <a:p>
            <a:pPr lvl="0"/>
            <a:endParaRPr lang="nb-NO"/>
          </a:p>
          <a:p>
            <a:pPr lvl="0"/>
            <a:r>
              <a:rPr lang="nb-NO"/>
              <a:t>Domener er et «erstatnings-navn» for IP-adresser fordi det er lettere å huske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3CACC51-6367-2BEC-FE80-C336C2467AE8}"/>
              </a:ext>
            </a:extLst>
          </p:cNvPr>
          <p:cNvGraphicFramePr>
            <a:graphicFrameLocks noGrp="1"/>
          </p:cNvGraphicFramePr>
          <p:nvPr/>
        </p:nvGraphicFramePr>
        <p:xfrm>
          <a:off x="6483918" y="2658151"/>
          <a:ext cx="5126181" cy="1541687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563090">
                  <a:extLst>
                    <a:ext uri="{9D8B030D-6E8A-4147-A177-3AD203B41FA5}">
                      <a16:colId xmlns:a16="http://schemas.microsoft.com/office/drawing/2014/main" val="236397107"/>
                    </a:ext>
                  </a:extLst>
                </a:gridCol>
                <a:gridCol w="2563090">
                  <a:extLst>
                    <a:ext uri="{9D8B030D-6E8A-4147-A177-3AD203B41FA5}">
                      <a16:colId xmlns:a16="http://schemas.microsoft.com/office/drawing/2014/main" val="2705078126"/>
                    </a:ext>
                  </a:extLst>
                </a:gridCol>
              </a:tblGrid>
              <a:tr h="530306">
                <a:tc>
                  <a:txBody>
                    <a:bodyPr/>
                    <a:lstStyle/>
                    <a:p>
                      <a:pPr lvl="0"/>
                      <a:r>
                        <a:rPr lang="nb-NO"/>
                        <a:t>IP-adresse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nb-NO"/>
                        <a:t>Domene navn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906801"/>
                  </a:ext>
                </a:extLst>
              </a:tr>
              <a:tr h="481074"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nb-NO" sz="2400"/>
                        <a:t>195.88.55.16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nb-NO" sz="2400"/>
                        <a:t>vg.no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686618"/>
                  </a:ext>
                </a:extLst>
              </a:tr>
              <a:tr h="530306">
                <a:tc>
                  <a:txBody>
                    <a:bodyPr/>
                    <a:lstStyle/>
                    <a:p>
                      <a:pPr lvl="0"/>
                      <a:r>
                        <a:rPr lang="nb-NO" sz="2400"/>
                        <a:t>81.166.122.104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nb-NO" sz="2400"/>
                        <a:t>nrk.no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9528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BA343-214D-17C7-547F-152474FF363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B8A9C94-A0E2-F0CA-1B54-6EF0FA94065A}"/>
              </a:ext>
            </a:extLst>
          </p:cNvPr>
          <p:cNvSpPr/>
          <p:nvPr/>
        </p:nvSpPr>
        <p:spPr>
          <a:xfrm>
            <a:off x="-55421" y="-69274"/>
            <a:ext cx="12288978" cy="699654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nb-NO" sz="1800" b="0" i="0" u="none" strike="noStrike" kern="1200" cap="none" spc="0" baseline="0">
              <a:solidFill>
                <a:srgbClr val="FFFFFF"/>
              </a:solidFill>
              <a:uFillTx/>
              <a:latin typeface="Franklin Gothic Medium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132474-A21B-4433-287D-A1E9B0A7124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60120" y="609603"/>
            <a:ext cx="5343698" cy="5571740"/>
          </a:xfrm>
        </p:spPr>
        <p:txBody>
          <a:bodyPr/>
          <a:lstStyle/>
          <a:p>
            <a:pPr lvl="0"/>
            <a:r>
              <a:rPr lang="nb-NO"/>
              <a:t>IP-adresser er også adresser til alle enheter som er koblet til et nettverk. </a:t>
            </a:r>
          </a:p>
          <a:p>
            <a:pPr lvl="0"/>
            <a:endParaRPr lang="nb-NO"/>
          </a:p>
          <a:p>
            <a:pPr lvl="0"/>
            <a:r>
              <a:rPr lang="nb-NO"/>
              <a:t>Slik som deres PC’er er koblet til Kuben.it</a:t>
            </a:r>
          </a:p>
        </p:txBody>
      </p:sp>
      <p:pic>
        <p:nvPicPr>
          <p:cNvPr id="5" name="Plassholder for innhold 3">
            <a:extLst>
              <a:ext uri="{FF2B5EF4-FFF2-40B4-BE49-F238E27FC236}">
                <a16:creationId xmlns:a16="http://schemas.microsoft.com/office/drawing/2014/main" id="{D6762F74-481F-8D80-711C-9913B2032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804" y="4567345"/>
            <a:ext cx="1397230" cy="10736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kstSylinder 17">
            <a:extLst>
              <a:ext uri="{FF2B5EF4-FFF2-40B4-BE49-F238E27FC236}">
                <a16:creationId xmlns:a16="http://schemas.microsoft.com/office/drawing/2014/main" id="{AD28580C-4F4B-DB3D-9C20-EAA638A5419E}"/>
              </a:ext>
            </a:extLst>
          </p:cNvPr>
          <p:cNvSpPr txBox="1"/>
          <p:nvPr/>
        </p:nvSpPr>
        <p:spPr>
          <a:xfrm>
            <a:off x="9885944" y="5641015"/>
            <a:ext cx="129810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00" b="0" i="0" u="none" strike="noStrike" kern="1200" cap="none" spc="0" baseline="0">
                <a:solidFill>
                  <a:srgbClr val="000000"/>
                </a:solidFill>
                <a:uFillTx/>
                <a:latin typeface="Franklin Gothic Medium"/>
              </a:rPr>
              <a:t>10.0.0.23</a:t>
            </a:r>
          </a:p>
        </p:txBody>
      </p:sp>
      <p:pic>
        <p:nvPicPr>
          <p:cNvPr id="7" name="Plassholder for innhold 3">
            <a:extLst>
              <a:ext uri="{FF2B5EF4-FFF2-40B4-BE49-F238E27FC236}">
                <a16:creationId xmlns:a16="http://schemas.microsoft.com/office/drawing/2014/main" id="{F8F879B9-5CCE-7E7A-325C-C2C2FA404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944" y="2913122"/>
            <a:ext cx="1397230" cy="10736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kstSylinder 17">
            <a:extLst>
              <a:ext uri="{FF2B5EF4-FFF2-40B4-BE49-F238E27FC236}">
                <a16:creationId xmlns:a16="http://schemas.microsoft.com/office/drawing/2014/main" id="{3A6BBA71-C6DC-A18C-21AE-92C5A8B67997}"/>
              </a:ext>
            </a:extLst>
          </p:cNvPr>
          <p:cNvSpPr txBox="1"/>
          <p:nvPr/>
        </p:nvSpPr>
        <p:spPr>
          <a:xfrm>
            <a:off x="9985074" y="3986793"/>
            <a:ext cx="129810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00" b="0" i="0" u="none" strike="noStrike" kern="1200" cap="none" spc="0" baseline="0">
                <a:solidFill>
                  <a:srgbClr val="000000"/>
                </a:solidFill>
                <a:uFillTx/>
                <a:latin typeface="Franklin Gothic Medium"/>
              </a:rPr>
              <a:t>10.0.0.22</a:t>
            </a:r>
          </a:p>
        </p:txBody>
      </p:sp>
      <p:pic>
        <p:nvPicPr>
          <p:cNvPr id="9" name="Plassholder for innhold 3">
            <a:extLst>
              <a:ext uri="{FF2B5EF4-FFF2-40B4-BE49-F238E27FC236}">
                <a16:creationId xmlns:a16="http://schemas.microsoft.com/office/drawing/2014/main" id="{A17DEF35-ED6B-D6C4-46F3-7510C2264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944" y="1183919"/>
            <a:ext cx="1397230" cy="10736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kstSylinder 17">
            <a:extLst>
              <a:ext uri="{FF2B5EF4-FFF2-40B4-BE49-F238E27FC236}">
                <a16:creationId xmlns:a16="http://schemas.microsoft.com/office/drawing/2014/main" id="{DF8FD425-677B-D6E7-5784-513D2C778411}"/>
              </a:ext>
            </a:extLst>
          </p:cNvPr>
          <p:cNvSpPr txBox="1"/>
          <p:nvPr/>
        </p:nvSpPr>
        <p:spPr>
          <a:xfrm>
            <a:off x="9985074" y="2257589"/>
            <a:ext cx="129810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00" b="0" i="0" u="none" strike="noStrike" kern="1200" cap="none" spc="0" baseline="0">
                <a:solidFill>
                  <a:srgbClr val="000000"/>
                </a:solidFill>
                <a:uFillTx/>
                <a:latin typeface="Franklin Gothic Medium"/>
              </a:rPr>
              <a:t>10.0.0.21</a:t>
            </a:r>
          </a:p>
        </p:txBody>
      </p:sp>
      <p:pic>
        <p:nvPicPr>
          <p:cNvPr id="11" name="Picture 14">
            <a:extLst>
              <a:ext uri="{FF2B5EF4-FFF2-40B4-BE49-F238E27FC236}">
                <a16:creationId xmlns:a16="http://schemas.microsoft.com/office/drawing/2014/main" id="{EA17C968-B6F6-DA6E-9ABC-ACAF5A848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534" y="4289706"/>
            <a:ext cx="1441277" cy="95531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16" descr="A map of the world&#10;&#10;Description automatically generated">
            <a:extLst>
              <a:ext uri="{FF2B5EF4-FFF2-40B4-BE49-F238E27FC236}">
                <a16:creationId xmlns:a16="http://schemas.microsoft.com/office/drawing/2014/main" id="{759AE13E-54B5-D8BA-EE46-699E226F0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7452" y="4232657"/>
            <a:ext cx="2157325" cy="121349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3" name="TekstSylinder 17">
            <a:extLst>
              <a:ext uri="{FF2B5EF4-FFF2-40B4-BE49-F238E27FC236}">
                <a16:creationId xmlns:a16="http://schemas.microsoft.com/office/drawing/2014/main" id="{C933C424-392F-DB00-8C89-7921CFAF999B}"/>
              </a:ext>
            </a:extLst>
          </p:cNvPr>
          <p:cNvSpPr txBox="1"/>
          <p:nvPr/>
        </p:nvSpPr>
        <p:spPr>
          <a:xfrm>
            <a:off x="3196440" y="5446148"/>
            <a:ext cx="2256455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00" b="0" i="0" u="none" strike="noStrike" kern="1200" cap="none" spc="0" baseline="0">
                <a:solidFill>
                  <a:srgbClr val="000000"/>
                </a:solidFill>
                <a:uFillTx/>
                <a:latin typeface="Franklin Gothic Medium"/>
              </a:rPr>
              <a:t>World Wide Web</a:t>
            </a:r>
          </a:p>
        </p:txBody>
      </p:sp>
      <p:sp>
        <p:nvSpPr>
          <p:cNvPr id="14" name="TekstSylinder 17">
            <a:extLst>
              <a:ext uri="{FF2B5EF4-FFF2-40B4-BE49-F238E27FC236}">
                <a16:creationId xmlns:a16="http://schemas.microsoft.com/office/drawing/2014/main" id="{3F284954-8D43-B625-AECE-8EF5B7DA5606}"/>
              </a:ext>
            </a:extLst>
          </p:cNvPr>
          <p:cNvSpPr txBox="1"/>
          <p:nvPr/>
        </p:nvSpPr>
        <p:spPr>
          <a:xfrm>
            <a:off x="6770711" y="5167475"/>
            <a:ext cx="129810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00" b="0" i="0" u="none" strike="noStrike" kern="1200" cap="none" spc="0" baseline="0">
                <a:solidFill>
                  <a:srgbClr val="000000"/>
                </a:solidFill>
                <a:uFillTx/>
                <a:latin typeface="Franklin Gothic Medium"/>
              </a:rPr>
              <a:t>Kuben.it</a:t>
            </a:r>
          </a:p>
        </p:txBody>
      </p:sp>
      <p:cxnSp>
        <p:nvCxnSpPr>
          <p:cNvPr id="15" name="Straight Arrow Connector 21">
            <a:extLst>
              <a:ext uri="{FF2B5EF4-FFF2-40B4-BE49-F238E27FC236}">
                <a16:creationId xmlns:a16="http://schemas.microsoft.com/office/drawing/2014/main" id="{338CC38F-77F0-071E-9B0E-4A5337BE411F}"/>
              </a:ext>
            </a:extLst>
          </p:cNvPr>
          <p:cNvCxnSpPr/>
          <p:nvPr/>
        </p:nvCxnSpPr>
        <p:spPr>
          <a:xfrm>
            <a:off x="5292437" y="4839407"/>
            <a:ext cx="1091839" cy="0"/>
          </a:xfrm>
          <a:prstGeom prst="straightConnector1">
            <a:avLst/>
          </a:prstGeom>
          <a:noFill/>
          <a:ln w="76196" cap="flat">
            <a:solidFill>
              <a:srgbClr val="FF0000"/>
            </a:solidFill>
            <a:prstDash val="solid"/>
            <a:miter/>
            <a:tailEnd type="arrow"/>
          </a:ln>
        </p:spPr>
      </p:cxnSp>
      <p:cxnSp>
        <p:nvCxnSpPr>
          <p:cNvPr id="16" name="Straight Arrow Connector 24">
            <a:extLst>
              <a:ext uri="{FF2B5EF4-FFF2-40B4-BE49-F238E27FC236}">
                <a16:creationId xmlns:a16="http://schemas.microsoft.com/office/drawing/2014/main" id="{78AC5E95-F4C2-3295-F888-CF9434492192}"/>
              </a:ext>
            </a:extLst>
          </p:cNvPr>
          <p:cNvCxnSpPr/>
          <p:nvPr/>
        </p:nvCxnSpPr>
        <p:spPr>
          <a:xfrm>
            <a:off x="8218078" y="4973778"/>
            <a:ext cx="1299993" cy="130402"/>
          </a:xfrm>
          <a:prstGeom prst="straightConnector1">
            <a:avLst/>
          </a:prstGeom>
          <a:noFill/>
          <a:ln w="76196" cap="flat">
            <a:solidFill>
              <a:srgbClr val="FF0000"/>
            </a:solidFill>
            <a:prstDash val="solid"/>
            <a:miter/>
            <a:tailEnd type="arrow"/>
          </a:ln>
        </p:spPr>
      </p:cxnSp>
      <p:cxnSp>
        <p:nvCxnSpPr>
          <p:cNvPr id="17" name="Straight Arrow Connector 26">
            <a:extLst>
              <a:ext uri="{FF2B5EF4-FFF2-40B4-BE49-F238E27FC236}">
                <a16:creationId xmlns:a16="http://schemas.microsoft.com/office/drawing/2014/main" id="{CD926456-20DC-9CD4-5954-13FE1F1FB93D}"/>
              </a:ext>
            </a:extLst>
          </p:cNvPr>
          <p:cNvCxnSpPr/>
          <p:nvPr/>
        </p:nvCxnSpPr>
        <p:spPr>
          <a:xfrm flipV="1">
            <a:off x="8178082" y="3837709"/>
            <a:ext cx="1374645" cy="729636"/>
          </a:xfrm>
          <a:prstGeom prst="straightConnector1">
            <a:avLst/>
          </a:prstGeom>
          <a:noFill/>
          <a:ln w="76196" cap="flat">
            <a:solidFill>
              <a:srgbClr val="FF0000"/>
            </a:solidFill>
            <a:prstDash val="solid"/>
            <a:miter/>
            <a:tailEnd type="arrow"/>
          </a:ln>
        </p:spPr>
      </p:cxnSp>
      <p:cxnSp>
        <p:nvCxnSpPr>
          <p:cNvPr id="18" name="Straight Arrow Connector 29">
            <a:extLst>
              <a:ext uri="{FF2B5EF4-FFF2-40B4-BE49-F238E27FC236}">
                <a16:creationId xmlns:a16="http://schemas.microsoft.com/office/drawing/2014/main" id="{07CF9C44-E56B-9733-19BB-38E50ED5AE42}"/>
              </a:ext>
            </a:extLst>
          </p:cNvPr>
          <p:cNvCxnSpPr/>
          <p:nvPr/>
        </p:nvCxnSpPr>
        <p:spPr>
          <a:xfrm flipV="1">
            <a:off x="8184108" y="2352577"/>
            <a:ext cx="1574313" cy="1709087"/>
          </a:xfrm>
          <a:prstGeom prst="straightConnector1">
            <a:avLst/>
          </a:prstGeom>
          <a:noFill/>
          <a:ln w="76196" cap="flat">
            <a:solidFill>
              <a:srgbClr val="FF0000"/>
            </a:solidFill>
            <a:prstDash val="solid"/>
            <a:miter/>
            <a:tailEnd type="arrow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F79FB99-BA20-AA3E-8F26-7DA04E9C324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60120" y="2946589"/>
            <a:ext cx="10268711" cy="3593591"/>
          </a:xfrm>
        </p:spPr>
        <p:txBody>
          <a:bodyPr/>
          <a:lstStyle/>
          <a:p>
            <a:pPr lvl="0"/>
            <a:r>
              <a:rPr lang="nb-NO"/>
              <a:t>Oppgave 1 ligger på Its-learning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8E5A169-68CD-FAC6-0AF9-4512115BC623}"/>
              </a:ext>
            </a:extLst>
          </p:cNvPr>
          <p:cNvSpPr/>
          <p:nvPr/>
        </p:nvSpPr>
        <p:spPr>
          <a:xfrm>
            <a:off x="-129972" y="-57662"/>
            <a:ext cx="12448906" cy="2360834"/>
          </a:xfrm>
          <a:prstGeom prst="rect">
            <a:avLst/>
          </a:prstGeom>
          <a:solidFill>
            <a:srgbClr val="61CBF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nb-NO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5E1768-15EB-E14D-0571-E5BEC763F5C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b-NO"/>
              <a:t>Oppgave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203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Franklin Gothic Demi Cond</vt:lpstr>
      <vt:lpstr>Franklin Gothic Medium</vt:lpstr>
      <vt:lpstr>Wingdings</vt:lpstr>
      <vt:lpstr>JuxtaposeVTI</vt:lpstr>
      <vt:lpstr>Nettverk – IP adresser</vt:lpstr>
      <vt:lpstr>Hva er en IP adresse?</vt:lpstr>
      <vt:lpstr>PowerPoint Presentation</vt:lpstr>
      <vt:lpstr>PowerPoint Presentation</vt:lpstr>
      <vt:lpstr>Sammenlikning med adresser på kart</vt:lpstr>
      <vt:lpstr>Adresse</vt:lpstr>
      <vt:lpstr>PowerPoint Presentation</vt:lpstr>
      <vt:lpstr>PowerPoint Presentation</vt:lpstr>
      <vt:lpstr>Oppgave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Sondre Kile Andersen</dc:creator>
  <cp:lastModifiedBy>Sondre Kile Andersen</cp:lastModifiedBy>
  <cp:revision>1</cp:revision>
  <dcterms:created xsi:type="dcterms:W3CDTF">2024-11-10T10:04:52Z</dcterms:created>
  <dcterms:modified xsi:type="dcterms:W3CDTF">2024-11-10T12:03:43Z</dcterms:modified>
</cp:coreProperties>
</file>