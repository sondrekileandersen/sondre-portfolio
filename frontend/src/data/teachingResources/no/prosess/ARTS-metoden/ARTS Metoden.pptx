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83" r:id="rId6"/>
    <p:sldId id="260" r:id="rId7"/>
    <p:sldId id="281" r:id="rId8"/>
    <p:sldId id="267" r:id="rId9"/>
    <p:sldId id="268" r:id="rId10"/>
    <p:sldId id="263" r:id="rId11"/>
    <p:sldId id="264" r:id="rId12"/>
    <p:sldId id="26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299AE-1733-4E36-8C0B-51546B5E229E}" type="datetimeFigureOut">
              <a:rPr lang="nb-NO" smtClean="0"/>
              <a:t>23.01.2026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606BB-9CFE-48D4-9CF8-95D001F7F07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016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Det første bildet er slik Picasso malte i sine yngre dager</a:t>
            </a:r>
            <a:br>
              <a:rPr lang="nb-NO" dirty="0"/>
            </a:br>
            <a:r>
              <a:rPr lang="nb-NO" dirty="0"/>
              <a:t>De andre er verk han lagde senere, som er det som er mest kjent</a:t>
            </a:r>
            <a:br>
              <a:rPr lang="nb-NO" dirty="0"/>
            </a:br>
            <a:r>
              <a:rPr lang="nb-NO" dirty="0"/>
              <a:t>Før han kunne vært unik måtte han lære hva konvensjonene var, og teknikkene som må brukes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606BB-9CFE-48D4-9CF8-95D001F7F076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792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4A93-DBAB-74A5-7E05-5C3AF16A62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AC2F3-0AA0-2F47-92EF-7F70D19C5F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05043-639F-0CF7-5D7D-3E70AFAAFF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83A797-5B51-4867-AC5F-E5CEEB1139F3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66C25-361E-B4C8-87EB-CA9C08F5E84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4EE9-62D6-3624-3DF9-989C1D8B7F6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355782-81AF-41EE-B6F0-A6F02BEC41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467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A2B2-B40C-73EB-8C94-DE0D1AFDE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760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F70E-C890-A50F-94AA-44F35F439E0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105BD-378B-1ECC-8B6B-A00AE201C91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074F6B-CE26-497D-8EE8-CF9428BC5851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E7092-50F2-5AFE-B070-EDA76CD783A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BFE50-CEDD-C319-5AB1-143D35CF9E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9F52AF-D1D7-499F-8B06-7BEB4843F3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932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F29F-564F-FC94-F43D-5BEB559A7A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84FE7-8052-B88C-A36F-2291FA81C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0CA0A-02A7-254D-3C04-613A417B3D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3011E01-2DBD-47C5-9DDA-641C8C12CAFB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DBE9C-DDD2-D207-AE05-9A9F2D0022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AF508-CDEA-4B98-629A-74A57160376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54A0D9-C3A0-4B0A-BACB-607DAB2400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5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C15F-49BA-BDC2-642F-7DDF8C77C9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760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E946-B60A-E183-0F5A-44A9804543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F735C-6FB5-E478-70AE-925920D63EA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95364-062F-6ECB-EAD4-245E5BA29AD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9EF9FE-C1FC-4C50-9F70-0BE1C90CD7DF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9059C-DBB8-14C5-692C-4BAE5328E5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172CA-6206-C12A-66B1-E4382378B6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56534-E4B1-4663-941F-8EB0F79C3A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1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478F-FCBC-171B-29B3-441C1F918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C1096-5B4E-E541-7B2D-7C0247504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752603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E0F1B-CC84-19EF-58BC-BB493526C07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667003"/>
            <a:ext cx="5157782" cy="352266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DD599-92F6-5221-A77D-FA395B27200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752603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1ADDA-FE34-C23C-1842-61F75F387C7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667003"/>
            <a:ext cx="5183184" cy="352266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4FC72-BE74-74FB-9972-FA3105F5A1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4A14C7-08C7-4A19-BDB8-99B4A16B5094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8AA1A-C9B8-E9B6-27E2-75AE4249ACD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5EE2C6-F0DF-F4CE-0A47-6B315F7EC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451B5C-360E-420A-885F-50C1B1FA451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3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D08A-AB59-4A8B-E4F0-CFF757EE2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760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392CE-F498-50D5-CF88-EB9E0C27B8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C55A893-DDD3-44E1-A3C0-D4534CBDF7AA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A75A8-F67B-9624-D152-991A3B9FB8C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890FF-91F5-D4EB-FF7D-D970BDE89F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C7AD6E-D9D9-4B52-B2D1-1C148E7678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0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6FBB8-3B19-7268-2214-0B5B2114DCA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F69944-2372-493E-A65A-4758D3F97EC9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03491-D96E-EAFB-22CD-DDE325708A4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DF87A-A172-A969-C464-40F4AE0AEE8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87F1FE-F420-4F63-8CE4-2425CB35A0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5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74BD-A185-4749-145B-F2AA94CB29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FC00-E488-3593-896E-D2047412B8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D781F-03C0-6336-237C-917B33D01CF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DA40C-3EE2-8A71-F105-07BC21A9C8F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4B7FAC-AF52-4BCE-8BEC-B16784B89471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A6BCF-EEFB-4994-1009-AFAEBDA6941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C38B3-88CB-2D03-C8AA-FEF4FDE1E66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E7FB41-7113-4E8B-9882-CC2BC76CCD0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6960-AD15-E11D-BCC6-63AC733C9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231D3-40F7-11C1-0009-5C2D04723AE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8376F-F823-CBD6-33BE-B1D8731BAFF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F5639-B707-D35E-4289-E149C381BB2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E72C31-8317-478C-9BB0-52D630B24990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29F36-4DAD-F416-799D-AD02454F60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D6261-1898-19E2-751E-EC5617C023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26583C-867E-4DF4-B8A0-C18418B38D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5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105A-7C63-2FA4-58EC-107B17D5FBE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235D7-20FD-FEA1-45D4-8CF87329879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756C2-2C2A-F3CB-9F69-D3593974495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F051F8-51E8-457E-8086-36BC6890724D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E24B-916A-BE06-7CF9-898DAE608CD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529B9-FDC5-4552-C90A-08C44D2717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26E098-11D0-4DE4-B705-8B14A7CC78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5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7F241-25B8-D6F1-2781-CBA3F833FC3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97113-B8B7-5044-247A-6DED7011459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8120B-DD4B-0D30-1BA8-AC3A5817AB1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D30043-CDB8-4955-96A5-CAA942E82DBC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A3DEE-7057-D7F1-D3C4-A73BC88D6A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E990-25E9-9EB7-CEB4-54875D99A5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16ECFFC-1676-43CD-8CD7-91DE19F67D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57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3541D396-027B-B2AF-7CCF-5651AE3B895F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40403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pic>
        <p:nvPicPr>
          <p:cNvPr id="3" name="Picture 39">
            <a:extLst>
              <a:ext uri="{FF2B5EF4-FFF2-40B4-BE49-F238E27FC236}">
                <a16:creationId xmlns:a16="http://schemas.microsoft.com/office/drawing/2014/main" id="{DD71660C-A14E-A642-DA17-93FB7174B34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</a:blip>
          <a:stretch>
            <a:fillRect/>
          </a:stretch>
        </p:blipFill>
        <p:spPr>
          <a:xfrm>
            <a:off x="0" y="0"/>
            <a:ext cx="12191996" cy="13924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D207D9D-AFC3-B26E-6F5A-F26D1D2F2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425452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594796D-8B34-F161-F240-FE5A6B5EF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949445"/>
            <a:ext cx="10515600" cy="4195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46DF8BB-CFD8-6806-ACB0-2CA4D53269C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24603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1pPr>
          </a:lstStyle>
          <a:p>
            <a:pPr lvl="0"/>
            <a:fld id="{6F1E7BD8-33B1-4305-8986-ED04D184ABE2}" type="datetime1">
              <a:rPr lang="en-US"/>
              <a:pPr lvl="0"/>
              <a:t>1/23/2026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A68E57E-075E-21E0-3724-FA2BDCBD3BA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24603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98BC47-0270-D31C-88C0-4E49F9E6F10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24603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1pPr>
          </a:lstStyle>
          <a:p>
            <a:pPr lvl="0"/>
            <a:fld id="{37A01486-7E3F-49AA-AFB4-94D6799F753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1" i="0" u="none" strike="noStrike" kern="1200" cap="none" spc="0" baseline="0">
          <a:solidFill>
            <a:srgbClr val="FFFFFF"/>
          </a:solidFill>
          <a:uFillTx/>
          <a:latin typeface="Avenir Next LT Pro"/>
        </a:defRPr>
      </a:lvl1pPr>
    </p:titleStyle>
    <p:bodyStyle>
      <a:lvl1pPr marL="228600" marR="0" lvl="0" indent="-228600" algn="l" defTabSz="914400" rtl="0" fontAlgn="auto" hangingPunct="1">
        <a:lnSpc>
          <a:spcPct val="110000"/>
        </a:lnSpc>
        <a:spcBef>
          <a:spcPts val="1000"/>
        </a:spcBef>
        <a:spcAft>
          <a:spcPts val="0"/>
        </a:spcAft>
        <a:buClr>
          <a:srgbClr val="E84C22"/>
        </a:buClr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FFFFFF"/>
          </a:solidFill>
          <a:uFillTx/>
          <a:latin typeface="Avenir Next LT Pro"/>
        </a:defRPr>
      </a:lvl1pPr>
      <a:lvl2pPr marL="685800" marR="0" lvl="1" indent="-228600" algn="l" defTabSz="914400" rtl="0" fontAlgn="auto" hangingPunct="1">
        <a:lnSpc>
          <a:spcPct val="110000"/>
        </a:lnSpc>
        <a:spcBef>
          <a:spcPts val="500"/>
        </a:spcBef>
        <a:spcAft>
          <a:spcPts val="0"/>
        </a:spcAft>
        <a:buClr>
          <a:srgbClr val="E84C22"/>
        </a:buClr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FFFFFF"/>
          </a:solidFill>
          <a:uFillTx/>
          <a:latin typeface="Avenir Next LT Pro"/>
        </a:defRPr>
      </a:lvl2pPr>
      <a:lvl3pPr marL="1143000" marR="0" lvl="2" indent="-228600" algn="l" defTabSz="914400" rtl="0" fontAlgn="auto" hangingPunct="1">
        <a:lnSpc>
          <a:spcPct val="110000"/>
        </a:lnSpc>
        <a:spcBef>
          <a:spcPts val="500"/>
        </a:spcBef>
        <a:spcAft>
          <a:spcPts val="0"/>
        </a:spcAft>
        <a:buClr>
          <a:srgbClr val="E84C22"/>
        </a:buClr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FFFFFF"/>
          </a:solidFill>
          <a:uFillTx/>
          <a:latin typeface="Avenir Next LT Pro"/>
        </a:defRPr>
      </a:lvl3pPr>
      <a:lvl4pPr marL="1600200" marR="0" lvl="3" indent="-228600" algn="l" defTabSz="914400" rtl="0" fontAlgn="auto" hangingPunct="1">
        <a:lnSpc>
          <a:spcPct val="110000"/>
        </a:lnSpc>
        <a:spcBef>
          <a:spcPts val="500"/>
        </a:spcBef>
        <a:spcAft>
          <a:spcPts val="0"/>
        </a:spcAft>
        <a:buClr>
          <a:srgbClr val="E84C22"/>
        </a:buClr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FFFFFF"/>
          </a:solidFill>
          <a:uFillTx/>
          <a:latin typeface="Avenir Next LT Pro"/>
        </a:defRPr>
      </a:lvl4pPr>
      <a:lvl5pPr marL="2057400" marR="0" lvl="4" indent="-228600" algn="l" defTabSz="914400" rtl="0" fontAlgn="auto" hangingPunct="1">
        <a:lnSpc>
          <a:spcPct val="110000"/>
        </a:lnSpc>
        <a:spcBef>
          <a:spcPts val="500"/>
        </a:spcBef>
        <a:spcAft>
          <a:spcPts val="0"/>
        </a:spcAft>
        <a:buClr>
          <a:srgbClr val="E84C22"/>
        </a:buClr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FFFFFF"/>
          </a:solidFill>
          <a:uFillTx/>
          <a:latin typeface="Avenir Next LT Pro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2.png"/><Relationship Id="rId7" Type="http://schemas.openxmlformats.org/officeDocument/2006/relationships/image" Target="../media/image7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87FE3A7D-2368-6CFE-7E86-AE09DAE235FF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0666B4C3-FD3D-1B91-27D8-B97C31C4CA04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D6956F4-0902-289B-B089-EAFC2A008F54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79926" cy="6858000"/>
          </a:xfrm>
          <a:prstGeom prst="rect">
            <a:avLst/>
          </a:prstGeom>
          <a:blipFill>
            <a:blip r:embed="rId2">
              <a:alphaModFix amt="20000"/>
            </a:blip>
            <a:tile sx="100000" sy="100000" algn="tl"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venir Next LT Pro"/>
            </a:endParaRPr>
          </a:p>
        </p:txBody>
      </p:sp>
      <p:pic>
        <p:nvPicPr>
          <p:cNvPr id="5" name="Picture 3" descr="A black and brown background with many cubes&#10;&#10;Description automatically generated">
            <a:extLst>
              <a:ext uri="{FF2B5EF4-FFF2-40B4-BE49-F238E27FC236}">
                <a16:creationId xmlns:a16="http://schemas.microsoft.com/office/drawing/2014/main" id="{EF16C8E2-8DF8-A8CC-B6E2-E1A417872D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r="5" b="1"/>
          <a:stretch>
            <a:fillRect/>
          </a:stretch>
        </p:blipFill>
        <p:spPr>
          <a:xfrm>
            <a:off x="18" y="9"/>
            <a:ext cx="12188933" cy="68566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05C1F8-5C5C-AD65-3DFE-FE2D3A54E1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08173" y="744906"/>
            <a:ext cx="8966277" cy="3145856"/>
          </a:xfrm>
        </p:spPr>
        <p:txBody>
          <a:bodyPr/>
          <a:lstStyle/>
          <a:p>
            <a:pPr lvl="0"/>
            <a:r>
              <a:rPr lang="nb-NO" sz="4700">
                <a:solidFill>
                  <a:srgbClr val="F29C00"/>
                </a:solidFill>
              </a:rPr>
              <a:t>A-R-T-S</a:t>
            </a:r>
            <a:br>
              <a:rPr lang="nb-NO" sz="4700"/>
            </a:br>
            <a:r>
              <a:rPr lang="nb-NO" sz="4700"/>
              <a:t>Arbeidsmetode i medieteknikk og intuisjon</a:t>
            </a:r>
            <a:br>
              <a:rPr lang="nb-NO" sz="4700"/>
            </a:br>
            <a:r>
              <a:rPr lang="nb-NO" sz="4700"/>
              <a:t>		</a:t>
            </a:r>
          </a:p>
        </p:txBody>
      </p:sp>
      <p:grpSp>
        <p:nvGrpSpPr>
          <p:cNvPr id="7" name="Content Placeholder 2">
            <a:extLst>
              <a:ext uri="{FF2B5EF4-FFF2-40B4-BE49-F238E27FC236}">
                <a16:creationId xmlns:a16="http://schemas.microsoft.com/office/drawing/2014/main" id="{D4636DAC-1124-42FA-6E8E-027D3F6716CF}"/>
              </a:ext>
            </a:extLst>
          </p:cNvPr>
          <p:cNvGrpSpPr/>
          <p:nvPr/>
        </p:nvGrpSpPr>
        <p:grpSpPr>
          <a:xfrm>
            <a:off x="1499872" y="3738551"/>
            <a:ext cx="9358508" cy="2374541"/>
            <a:chOff x="1499872" y="3738551"/>
            <a:chExt cx="9358508" cy="237454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8DB1537-057F-9BB1-D8B1-531F2A2AFA7F}"/>
                </a:ext>
              </a:extLst>
            </p:cNvPr>
            <p:cNvSpPr/>
            <p:nvPr/>
          </p:nvSpPr>
          <p:spPr>
            <a:xfrm>
              <a:off x="1903168" y="3738551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Rectangle 8" descr="Eye">
              <a:extLst>
                <a:ext uri="{FF2B5EF4-FFF2-40B4-BE49-F238E27FC236}">
                  <a16:creationId xmlns:a16="http://schemas.microsoft.com/office/drawing/2014/main" id="{84F83A83-ACD7-0BB6-A0C7-CE18F73B67CE}"/>
                </a:ext>
              </a:extLst>
            </p:cNvPr>
            <p:cNvSpPr/>
            <p:nvPr/>
          </p:nvSpPr>
          <p:spPr>
            <a:xfrm>
              <a:off x="2172038" y="4007412"/>
              <a:ext cx="723866" cy="723866"/>
            </a:xfrm>
            <a:prstGeom prst="rect">
              <a:avLst/>
            </a:prstGeom>
            <a:blipFill>
              <a:blip r:embed="rId4">
                <a:alphaModFix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BE6F270-3096-3E88-7E64-26783E00E54C}"/>
                </a:ext>
              </a:extLst>
            </p:cNvPr>
            <p:cNvSpPr/>
            <p:nvPr/>
          </p:nvSpPr>
          <p:spPr>
            <a:xfrm>
              <a:off x="1499872" y="5393094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1. </a:t>
              </a:r>
              <a:r>
                <a:rPr lang="nb-NO" sz="2000" b="0" i="0" u="none" strike="noStrike" kern="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Analyze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ED19C92A-FC8F-7AC3-5C40-BCB88093E914}"/>
                </a:ext>
              </a:extLst>
            </p:cNvPr>
            <p:cNvSpPr/>
            <p:nvPr/>
          </p:nvSpPr>
          <p:spPr>
            <a:xfrm>
              <a:off x="4333277" y="3738551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Rectangle 11" descr="Building Brick Wall with solid fill">
              <a:extLst>
                <a:ext uri="{FF2B5EF4-FFF2-40B4-BE49-F238E27FC236}">
                  <a16:creationId xmlns:a16="http://schemas.microsoft.com/office/drawing/2014/main" id="{245C77A0-DF32-5A33-F042-E7FFF6CA3BED}"/>
                </a:ext>
              </a:extLst>
            </p:cNvPr>
            <p:cNvSpPr/>
            <p:nvPr/>
          </p:nvSpPr>
          <p:spPr>
            <a:xfrm>
              <a:off x="4602138" y="4007412"/>
              <a:ext cx="723866" cy="723866"/>
            </a:xfrm>
            <a:prstGeom prst="rect">
              <a:avLst/>
            </a:prstGeom>
            <a:blipFill>
              <a:blip r:embed="rId6">
                <a:alphaModFix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3B2BDF2-6DAF-ADE9-BE74-3D522ABC69BB}"/>
                </a:ext>
              </a:extLst>
            </p:cNvPr>
            <p:cNvSpPr/>
            <p:nvPr/>
          </p:nvSpPr>
          <p:spPr>
            <a:xfrm>
              <a:off x="3929981" y="5393094"/>
              <a:ext cx="2166021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2. Reconstruct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0EE62573-2ED9-2A3A-BDA0-91F06DE2E9BC}"/>
                </a:ext>
              </a:extLst>
            </p:cNvPr>
            <p:cNvSpPr/>
            <p:nvPr/>
          </p:nvSpPr>
          <p:spPr>
            <a:xfrm>
              <a:off x="6763387" y="3738551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5" name="Rectangle 14" descr="Building Brick Wall outline">
              <a:extLst>
                <a:ext uri="{FF2B5EF4-FFF2-40B4-BE49-F238E27FC236}">
                  <a16:creationId xmlns:a16="http://schemas.microsoft.com/office/drawing/2014/main" id="{08A72E79-AEEB-4EB9-4ED2-5333FC677E6D}"/>
                </a:ext>
              </a:extLst>
            </p:cNvPr>
            <p:cNvSpPr/>
            <p:nvPr/>
          </p:nvSpPr>
          <p:spPr>
            <a:xfrm>
              <a:off x="7032248" y="4007412"/>
              <a:ext cx="723866" cy="723866"/>
            </a:xfrm>
            <a:prstGeom prst="rect">
              <a:avLst/>
            </a:pr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7277CD99-2DBF-9890-A4D7-1DBF0655B32E}"/>
                </a:ext>
              </a:extLst>
            </p:cNvPr>
            <p:cNvSpPr/>
            <p:nvPr/>
          </p:nvSpPr>
          <p:spPr>
            <a:xfrm>
              <a:off x="6360090" y="5393094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3. </a:t>
              </a:r>
              <a:r>
                <a:rPr lang="nb-NO" sz="2000" b="0" i="0" u="none" strike="noStrike" kern="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tweak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F5D0EF7-A9EF-C9DB-F877-B6D1F91529B5}"/>
                </a:ext>
              </a:extLst>
            </p:cNvPr>
            <p:cNvSpPr/>
            <p:nvPr/>
          </p:nvSpPr>
          <p:spPr>
            <a:xfrm>
              <a:off x="9193496" y="3738551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8" name="Rectangle 17" descr="Artist female with solid fill">
              <a:extLst>
                <a:ext uri="{FF2B5EF4-FFF2-40B4-BE49-F238E27FC236}">
                  <a16:creationId xmlns:a16="http://schemas.microsoft.com/office/drawing/2014/main" id="{93D0DA59-E81E-759C-02E3-6A860D0D7CBC}"/>
                </a:ext>
              </a:extLst>
            </p:cNvPr>
            <p:cNvSpPr/>
            <p:nvPr/>
          </p:nvSpPr>
          <p:spPr>
            <a:xfrm>
              <a:off x="9462357" y="4007412"/>
              <a:ext cx="723866" cy="723866"/>
            </a:xfrm>
            <a:prstGeom prst="rect">
              <a:avLst/>
            </a:prstGeom>
            <a:blipFill>
              <a:blip r:embed="rId10">
                <a:alphaModFix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D3BA2CB9-DEC6-F5E6-F785-980B02E5F9D2}"/>
                </a:ext>
              </a:extLst>
            </p:cNvPr>
            <p:cNvSpPr/>
            <p:nvPr/>
          </p:nvSpPr>
          <p:spPr>
            <a:xfrm>
              <a:off x="8790200" y="5393094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4. </a:t>
              </a:r>
              <a:r>
                <a:rPr lang="nb-NO" sz="2000" b="0" i="0" u="none" strike="noStrike" kern="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Sculpt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0">
            <a:extLst>
              <a:ext uri="{FF2B5EF4-FFF2-40B4-BE49-F238E27FC236}">
                <a16:creationId xmlns:a16="http://schemas.microsoft.com/office/drawing/2014/main" id="{A1D83F4C-A392-1A86-0073-5F8A7BA82C40}"/>
              </a:ext>
            </a:extLst>
          </p:cNvPr>
          <p:cNvSpPr>
            <a:spLocks noMove="1" noResize="1"/>
          </p:cNvSpPr>
          <p:nvPr/>
        </p:nvSpPr>
        <p:spPr>
          <a:xfrm>
            <a:off x="1527" y="0"/>
            <a:ext cx="12188952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venir Next LT Pro"/>
            </a:endParaRPr>
          </a:p>
        </p:txBody>
      </p:sp>
      <p:pic>
        <p:nvPicPr>
          <p:cNvPr id="3" name="Picture 2" descr="Pablo Picasso's Masterful Childhood Paintings: Precocious Works Painted  Between the Ages of 8 and 15 | Open Culture">
            <a:extLst>
              <a:ext uri="{FF2B5EF4-FFF2-40B4-BE49-F238E27FC236}">
                <a16:creationId xmlns:a16="http://schemas.microsoft.com/office/drawing/2014/main" id="{93E9985B-5980-B5C8-A4C5-7690CEE5E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" t="13051" r="-9" b="18695"/>
          <a:stretch>
            <a:fillRect/>
          </a:stretch>
        </p:blipFill>
        <p:spPr>
          <a:xfrm>
            <a:off x="322106" y="246723"/>
            <a:ext cx="5674894" cy="3030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8" descr="Pablo Picasso Abstract Art Painting · Creative Fabrica">
            <a:extLst>
              <a:ext uri="{FF2B5EF4-FFF2-40B4-BE49-F238E27FC236}">
                <a16:creationId xmlns:a16="http://schemas.microsoft.com/office/drawing/2014/main" id="{AC86B4B6-7200-C49A-B635-B16154E290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31" r="6" b="13116"/>
          <a:stretch>
            <a:fillRect/>
          </a:stretch>
        </p:blipFill>
        <p:spPr>
          <a:xfrm>
            <a:off x="321731" y="3524289"/>
            <a:ext cx="2676576" cy="277652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A Pablo Picasso Painting Is the Most Expensive Piece of Art Sold at Auction  this Year">
            <a:extLst>
              <a:ext uri="{FF2B5EF4-FFF2-40B4-BE49-F238E27FC236}">
                <a16:creationId xmlns:a16="http://schemas.microsoft.com/office/drawing/2014/main" id="{F0110669-0161-750C-7AE3-552888D1CF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01" r="7826" b="5"/>
          <a:stretch>
            <a:fillRect/>
          </a:stretch>
        </p:blipFill>
        <p:spPr>
          <a:xfrm>
            <a:off x="3159553" y="3514853"/>
            <a:ext cx="2837072" cy="27859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4" descr="Pablo Picasso 1881–1973 | Tate">
            <a:extLst>
              <a:ext uri="{FF2B5EF4-FFF2-40B4-BE49-F238E27FC236}">
                <a16:creationId xmlns:a16="http://schemas.microsoft.com/office/drawing/2014/main" id="{26E17298-BEEE-D365-0CAB-03E2CD9B0E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712"/>
          <a:stretch>
            <a:fillRect/>
          </a:stretch>
        </p:blipFill>
        <p:spPr>
          <a:xfrm>
            <a:off x="6195370" y="321731"/>
            <a:ext cx="5674894" cy="597906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41">
            <a:extLst>
              <a:ext uri="{FF2B5EF4-FFF2-40B4-BE49-F238E27FC236}">
                <a16:creationId xmlns:a16="http://schemas.microsoft.com/office/drawing/2014/main" id="{0ADE057C-AA99-A76E-8C0E-59F0C0BE40E1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3" name="Rectangle 1043">
            <a:extLst>
              <a:ext uri="{FF2B5EF4-FFF2-40B4-BE49-F238E27FC236}">
                <a16:creationId xmlns:a16="http://schemas.microsoft.com/office/drawing/2014/main" id="{EF1B4951-05A8-458D-0C7B-5BC7E975D9D8}"/>
              </a:ext>
            </a:extLst>
          </p:cNvPr>
          <p:cNvSpPr>
            <a:spLocks noMove="1" noResize="1"/>
          </p:cNvSpPr>
          <p:nvPr/>
        </p:nvSpPr>
        <p:spPr>
          <a:xfrm>
            <a:off x="3044" y="0"/>
            <a:ext cx="12188952" cy="6858000"/>
          </a:xfrm>
          <a:prstGeom prst="rect">
            <a:avLst/>
          </a:prstGeom>
          <a:solidFill>
            <a:srgbClr val="F5F4EE">
              <a:alpha val="7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4" name="Rectangle 1045">
            <a:extLst>
              <a:ext uri="{FF2B5EF4-FFF2-40B4-BE49-F238E27FC236}">
                <a16:creationId xmlns:a16="http://schemas.microsoft.com/office/drawing/2014/main" id="{394D24F9-3AFA-1A8D-807F-D87E47E44F36}"/>
              </a:ext>
            </a:extLst>
          </p:cNvPr>
          <p:cNvSpPr>
            <a:spLocks noMove="1" noResize="1"/>
          </p:cNvSpPr>
          <p:nvPr/>
        </p:nvSpPr>
        <p:spPr>
          <a:xfrm>
            <a:off x="6248396" y="0"/>
            <a:ext cx="5943600" cy="6858000"/>
          </a:xfrm>
          <a:prstGeom prst="rect">
            <a:avLst/>
          </a:prstGeom>
          <a:solidFill>
            <a:srgbClr val="F5F4EE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5" name="Rectangle 1047">
            <a:extLst>
              <a:ext uri="{FF2B5EF4-FFF2-40B4-BE49-F238E27FC236}">
                <a16:creationId xmlns:a16="http://schemas.microsoft.com/office/drawing/2014/main" id="{7DBBE61E-C677-0FE1-A79B-19198CE6D0D9}"/>
              </a:ext>
            </a:extLst>
          </p:cNvPr>
          <p:cNvSpPr>
            <a:spLocks noMove="1" noResize="1"/>
          </p:cNvSpPr>
          <p:nvPr/>
        </p:nvSpPr>
        <p:spPr>
          <a:xfrm flipH="1">
            <a:off x="0" y="-146"/>
            <a:ext cx="6254651" cy="6858000"/>
          </a:xfrm>
          <a:prstGeom prst="rect">
            <a:avLst/>
          </a:prstGeom>
          <a:solidFill>
            <a:srgbClr val="40403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6" name="Rectangle 1049">
            <a:extLst>
              <a:ext uri="{FF2B5EF4-FFF2-40B4-BE49-F238E27FC236}">
                <a16:creationId xmlns:a16="http://schemas.microsoft.com/office/drawing/2014/main" id="{6E9148F9-6BED-38BE-DC37-64F6A7CD4187}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-3101" y="0"/>
            <a:ext cx="6251451" cy="6858000"/>
          </a:xfrm>
          <a:prstGeom prst="rect">
            <a:avLst/>
          </a:prstGeom>
          <a:blipFill>
            <a:blip r:embed="rId2">
              <a:alphaModFix amt="20000"/>
            </a:blip>
            <a:tile sx="100177" sy="100178" algn="tl"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venir Next LT Pro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8C3017-98EA-6BDA-2908-01EFF8E0360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77483" y="2411656"/>
            <a:ext cx="4383276" cy="2527813"/>
          </a:xfrm>
        </p:spPr>
        <p:txBody>
          <a:bodyPr/>
          <a:lstStyle/>
          <a:p>
            <a:pPr marL="0" lvl="0" indent="0">
              <a:buNone/>
            </a:pPr>
            <a:r>
              <a:rPr lang="nb-NO"/>
              <a:t>«Good artists borrow… </a:t>
            </a:r>
          </a:p>
          <a:p>
            <a:pPr marL="0" lvl="0" indent="0">
              <a:buNone/>
            </a:pPr>
            <a:r>
              <a:rPr lang="nb-NO"/>
              <a:t>great artists </a:t>
            </a:r>
            <a:r>
              <a:rPr lang="nb-NO" b="1"/>
              <a:t>steal</a:t>
            </a:r>
            <a:r>
              <a:rPr lang="nb-NO"/>
              <a:t>»</a:t>
            </a:r>
          </a:p>
          <a:p>
            <a:pPr marL="0" lvl="0" indent="0">
              <a:buNone/>
            </a:pPr>
            <a:r>
              <a:rPr lang="nb-NO"/>
              <a:t>- Pablo Picasso</a:t>
            </a:r>
          </a:p>
        </p:txBody>
      </p:sp>
      <p:pic>
        <p:nvPicPr>
          <p:cNvPr id="8" name="Picture 2" descr="Pablo Picasso – Wikipedia">
            <a:extLst>
              <a:ext uri="{FF2B5EF4-FFF2-40B4-BE49-F238E27FC236}">
                <a16:creationId xmlns:a16="http://schemas.microsoft.com/office/drawing/2014/main" id="{7A521563-C381-B902-83D4-80311F9584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44" b="-1"/>
          <a:stretch>
            <a:fillRect/>
          </a:stretch>
        </p:blipFill>
        <p:spPr>
          <a:xfrm>
            <a:off x="6858000" y="567942"/>
            <a:ext cx="4724403" cy="571686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BD2699A-2699-5974-D913-A8DD23B38DBC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A87C66B7-3258-9ED1-B2F3-86572B5A3894}"/>
              </a:ext>
            </a:extLst>
          </p:cNvPr>
          <p:cNvSpPr>
            <a:spLocks noMove="1" noResize="1"/>
          </p:cNvSpPr>
          <p:nvPr/>
        </p:nvSpPr>
        <p:spPr>
          <a:xfrm>
            <a:off x="3044" y="0"/>
            <a:ext cx="12188952" cy="6858000"/>
          </a:xfrm>
          <a:prstGeom prst="rect">
            <a:avLst/>
          </a:prstGeom>
          <a:solidFill>
            <a:srgbClr val="F5F4EE">
              <a:alpha val="7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1590B68-7A4E-372D-1C2F-D00A5B76AD04}"/>
              </a:ext>
            </a:extLst>
          </p:cNvPr>
          <p:cNvSpPr>
            <a:spLocks noMove="1" noResize="1"/>
          </p:cNvSpPr>
          <p:nvPr/>
        </p:nvSpPr>
        <p:spPr>
          <a:xfrm>
            <a:off x="-3044" y="0"/>
            <a:ext cx="5989027" cy="6858000"/>
          </a:xfrm>
          <a:prstGeom prst="rect">
            <a:avLst/>
          </a:prstGeom>
          <a:solidFill>
            <a:srgbClr val="40403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04A4083B-687B-E124-57C7-66EEE12EA616}"/>
              </a:ext>
            </a:extLst>
          </p:cNvPr>
          <p:cNvSpPr>
            <a:spLocks noMove="1" noResize="1"/>
          </p:cNvSpPr>
          <p:nvPr/>
        </p:nvSpPr>
        <p:spPr>
          <a:xfrm rot="10799991">
            <a:off x="-3101" y="0"/>
            <a:ext cx="5989018" cy="6858000"/>
          </a:xfrm>
          <a:prstGeom prst="rect">
            <a:avLst/>
          </a:prstGeom>
          <a:blipFill>
            <a:blip r:embed="rId2">
              <a:alphaModFix amt="20000"/>
            </a:blip>
            <a:tile sx="100177" sy="100178" algn="tl"/>
          </a:blip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venir Next LT Pro"/>
            </a:endParaRP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5FEEDB0-E178-C631-1897-DF58AEAE92A1}"/>
              </a:ext>
            </a:extLst>
          </p:cNvPr>
          <p:cNvSpPr>
            <a:spLocks noMove="1" noResize="1"/>
          </p:cNvSpPr>
          <p:nvPr/>
        </p:nvSpPr>
        <p:spPr>
          <a:xfrm>
            <a:off x="6248396" y="0"/>
            <a:ext cx="5943600" cy="6858000"/>
          </a:xfrm>
          <a:prstGeom prst="rect">
            <a:avLst/>
          </a:prstGeom>
          <a:solidFill>
            <a:srgbClr val="F5F4EE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pic>
        <p:nvPicPr>
          <p:cNvPr id="7" name="Graphic 6" descr="Moustache Face with Solid Fill">
            <a:extLst>
              <a:ext uri="{FF2B5EF4-FFF2-40B4-BE49-F238E27FC236}">
                <a16:creationId xmlns:a16="http://schemas.microsoft.com/office/drawing/2014/main" id="{C12D1A65-52AE-9C6E-9AD1-E52FA6C36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548" y="1109971"/>
            <a:ext cx="4724403" cy="47244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1F1B82-5D1B-D5CA-DF15-34490DB8F5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53203" y="2411656"/>
            <a:ext cx="4952683" cy="3728612"/>
          </a:xfrm>
        </p:spPr>
        <p:txBody>
          <a:bodyPr/>
          <a:lstStyle/>
          <a:p>
            <a:pPr marL="0" lvl="0" indent="0">
              <a:buNone/>
            </a:pPr>
            <a:r>
              <a:rPr lang="nb-NO">
                <a:solidFill>
                  <a:srgbClr val="292924"/>
                </a:solidFill>
              </a:rPr>
              <a:t>Dere må erfare å </a:t>
            </a:r>
            <a:r>
              <a:rPr lang="nb-NO">
                <a:solidFill>
                  <a:srgbClr val="E84C22"/>
                </a:solidFill>
              </a:rPr>
              <a:t>gjenskape</a:t>
            </a:r>
            <a:r>
              <a:rPr lang="nb-NO">
                <a:solidFill>
                  <a:srgbClr val="292924"/>
                </a:solidFill>
              </a:rPr>
              <a:t> noe profesjonelt før dere kan </a:t>
            </a:r>
            <a:r>
              <a:rPr lang="nb-NO">
                <a:solidFill>
                  <a:srgbClr val="E84C22"/>
                </a:solidFill>
              </a:rPr>
              <a:t>skape</a:t>
            </a:r>
            <a:r>
              <a:rPr lang="nb-NO">
                <a:solidFill>
                  <a:srgbClr val="292924"/>
                </a:solidFill>
              </a:rPr>
              <a:t> noe profesjonelt selv.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C9B12C-F611-EA5E-C54B-7E30699D7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32" y="1028539"/>
            <a:ext cx="6887536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2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5220527E-C6D1-670F-744C-E86A23BF4EA8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200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747BED52-E564-75C5-37E5-E48B6B22C54D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EE">
              <a:alpha val="7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595959"/>
              </a:solidFill>
              <a:uFillTx/>
              <a:latin typeface="AvenirNext LT Pro Medium" pitchFamily="34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4C6D376D-D70B-C389-6FE5-E3459733A5BF}"/>
              </a:ext>
            </a:extLst>
          </p:cNvPr>
          <p:cNvPicPr>
            <a:picLocks noMove="1" noResize="1"/>
          </p:cNvPicPr>
          <p:nvPr/>
        </p:nvPicPr>
        <p:blipFill>
          <a:blip r:embed="rId2"/>
          <a:srcRect t="37196" r="40820"/>
          <a:stretch>
            <a:fillRect/>
          </a:stretch>
        </p:blipFill>
        <p:spPr>
          <a:xfrm>
            <a:off x="10744200" y="0"/>
            <a:ext cx="1447796" cy="153575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33C3B5DD-EBC2-94B6-906E-1F7C19635F8F}"/>
              </a:ext>
            </a:extLst>
          </p:cNvPr>
          <p:cNvPicPr>
            <a:picLocks noMove="1" noResize="1"/>
          </p:cNvPicPr>
          <p:nvPr/>
        </p:nvPicPr>
        <p:blipFill>
          <a:blip r:embed="rId3"/>
          <a:srcRect r="67666"/>
          <a:stretch>
            <a:fillRect/>
          </a:stretch>
        </p:blipFill>
        <p:spPr>
          <a:xfrm rot="10799991">
            <a:off x="-46" y="2719608"/>
            <a:ext cx="830247" cy="254835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Content Placeholder 2">
            <a:extLst>
              <a:ext uri="{FF2B5EF4-FFF2-40B4-BE49-F238E27FC236}">
                <a16:creationId xmlns:a16="http://schemas.microsoft.com/office/drawing/2014/main" id="{6DF37C8D-CF41-88D1-BDC1-C8EE9FB148EA}"/>
              </a:ext>
            </a:extLst>
          </p:cNvPr>
          <p:cNvGrpSpPr/>
          <p:nvPr/>
        </p:nvGrpSpPr>
        <p:grpSpPr>
          <a:xfrm>
            <a:off x="1499872" y="2719635"/>
            <a:ext cx="9358508" cy="2374541"/>
            <a:chOff x="1499872" y="2719635"/>
            <a:chExt cx="9358508" cy="23745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407D44A-498A-E326-66BF-EAE481C8C3FD}"/>
                </a:ext>
              </a:extLst>
            </p:cNvPr>
            <p:cNvSpPr/>
            <p:nvPr/>
          </p:nvSpPr>
          <p:spPr>
            <a:xfrm>
              <a:off x="1903168" y="2719635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Rectangle 20" descr="Eye">
              <a:extLst>
                <a:ext uri="{FF2B5EF4-FFF2-40B4-BE49-F238E27FC236}">
                  <a16:creationId xmlns:a16="http://schemas.microsoft.com/office/drawing/2014/main" id="{9F9AA0E2-3F47-1995-0169-4880EA26CAFE}"/>
                </a:ext>
              </a:extLst>
            </p:cNvPr>
            <p:cNvSpPr/>
            <p:nvPr/>
          </p:nvSpPr>
          <p:spPr>
            <a:xfrm>
              <a:off x="2172038" y="2988496"/>
              <a:ext cx="723866" cy="723866"/>
            </a:xfrm>
            <a:prstGeom prst="rect">
              <a:avLst/>
            </a:prstGeom>
            <a:blipFill>
              <a:blip r:embed="rId4">
                <a:alphaModFix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387A8E3-A88D-F1FD-415B-4215A6C3AA29}"/>
                </a:ext>
              </a:extLst>
            </p:cNvPr>
            <p:cNvSpPr/>
            <p:nvPr/>
          </p:nvSpPr>
          <p:spPr>
            <a:xfrm>
              <a:off x="1499872" y="4374178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000000"/>
                  </a:solidFill>
                  <a:uFillTx/>
                  <a:latin typeface="Avenir Next LT Pro"/>
                </a:rPr>
                <a:t>1. </a:t>
              </a:r>
              <a:r>
                <a:rPr lang="nb-NO" sz="2000" b="0" i="0" u="none" strike="noStrike" kern="0" cap="all" spc="0" baseline="0">
                  <a:solidFill>
                    <a:srgbClr val="000000"/>
                  </a:solidFill>
                  <a:uFillTx/>
                  <a:latin typeface="Avenir Next LT Pro"/>
                </a:rPr>
                <a:t>Analyze</a:t>
              </a:r>
              <a:endParaRPr lang="en-US" sz="2000" b="0" i="0" u="none" strike="noStrike" kern="1200" cap="all" spc="0" baseline="0">
                <a:solidFill>
                  <a:srgbClr val="000000"/>
                </a:solidFill>
                <a:uFillTx/>
                <a:latin typeface="Avenir Next LT Pro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F6AD551-AA6A-9689-C68B-F672A2487207}"/>
                </a:ext>
              </a:extLst>
            </p:cNvPr>
            <p:cNvSpPr/>
            <p:nvPr/>
          </p:nvSpPr>
          <p:spPr>
            <a:xfrm>
              <a:off x="4333277" y="2719635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Rectangle 23" descr="Building Brick Wall with solid fill">
              <a:extLst>
                <a:ext uri="{FF2B5EF4-FFF2-40B4-BE49-F238E27FC236}">
                  <a16:creationId xmlns:a16="http://schemas.microsoft.com/office/drawing/2014/main" id="{10397A4B-FEBD-0345-C6C8-AB6AE164048F}"/>
                </a:ext>
              </a:extLst>
            </p:cNvPr>
            <p:cNvSpPr/>
            <p:nvPr/>
          </p:nvSpPr>
          <p:spPr>
            <a:xfrm>
              <a:off x="4602138" y="2988496"/>
              <a:ext cx="723866" cy="723866"/>
            </a:xfrm>
            <a:prstGeom prst="rect">
              <a:avLst/>
            </a:prstGeom>
            <a:blipFill>
              <a:blip r:embed="rId6">
                <a:alphaModFix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6A3105F-A3F0-4D1B-0300-24BF34914B6B}"/>
                </a:ext>
              </a:extLst>
            </p:cNvPr>
            <p:cNvSpPr/>
            <p:nvPr/>
          </p:nvSpPr>
          <p:spPr>
            <a:xfrm>
              <a:off x="3929981" y="4374178"/>
              <a:ext cx="2166021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000000"/>
                  </a:solidFill>
                  <a:uFillTx/>
                  <a:latin typeface="Avenir Next LT Pro"/>
                </a:rPr>
                <a:t>2. Reconstruct</a:t>
              </a:r>
              <a:endParaRPr lang="en-US" sz="2000" b="0" i="0" u="none" strike="noStrike" kern="1200" cap="all" spc="0" baseline="0">
                <a:solidFill>
                  <a:srgbClr val="000000"/>
                </a:solidFill>
                <a:uFillTx/>
                <a:latin typeface="Avenir Next LT Pro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84F7002-15DA-5981-9F8A-47A5411F2472}"/>
                </a:ext>
              </a:extLst>
            </p:cNvPr>
            <p:cNvSpPr/>
            <p:nvPr/>
          </p:nvSpPr>
          <p:spPr>
            <a:xfrm>
              <a:off x="6763387" y="2719635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4" name="Rectangle 26" descr="Building Brick Wall outline">
              <a:extLst>
                <a:ext uri="{FF2B5EF4-FFF2-40B4-BE49-F238E27FC236}">
                  <a16:creationId xmlns:a16="http://schemas.microsoft.com/office/drawing/2014/main" id="{27426CC3-9E62-9C16-B30D-F2DCC2485E5D}"/>
                </a:ext>
              </a:extLst>
            </p:cNvPr>
            <p:cNvSpPr/>
            <p:nvPr/>
          </p:nvSpPr>
          <p:spPr>
            <a:xfrm>
              <a:off x="7032248" y="2988496"/>
              <a:ext cx="723866" cy="723866"/>
            </a:xfrm>
            <a:prstGeom prst="rect">
              <a:avLst/>
            </a:pr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9B3948F-191A-6634-A05A-06001A1A12F9}"/>
                </a:ext>
              </a:extLst>
            </p:cNvPr>
            <p:cNvSpPr/>
            <p:nvPr/>
          </p:nvSpPr>
          <p:spPr>
            <a:xfrm>
              <a:off x="6360090" y="4374178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000000"/>
                  </a:solidFill>
                  <a:uFillTx/>
                  <a:latin typeface="Avenir Next LT Pro"/>
                </a:rPr>
                <a:t>3. </a:t>
              </a:r>
              <a:r>
                <a:rPr lang="nb-NO" sz="2000" b="0" i="0" u="none" strike="noStrike" kern="0" cap="all" spc="0" baseline="0">
                  <a:solidFill>
                    <a:srgbClr val="000000"/>
                  </a:solidFill>
                  <a:uFillTx/>
                  <a:latin typeface="Avenir Next LT Pro"/>
                </a:rPr>
                <a:t>tweak</a:t>
              </a:r>
              <a:endParaRPr lang="en-US" sz="2000" b="0" i="0" u="none" strike="noStrike" kern="1200" cap="all" spc="0" baseline="0">
                <a:solidFill>
                  <a:srgbClr val="000000"/>
                </a:solidFill>
                <a:uFillTx/>
                <a:latin typeface="Avenir Next LT Pro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2D4752B-AD68-56C4-02D4-2CDB53A5E183}"/>
                </a:ext>
              </a:extLst>
            </p:cNvPr>
            <p:cNvSpPr/>
            <p:nvPr/>
          </p:nvSpPr>
          <p:spPr>
            <a:xfrm>
              <a:off x="9193496" y="2719635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7" name="Rectangle 29" descr="Artist female with solid fill">
              <a:extLst>
                <a:ext uri="{FF2B5EF4-FFF2-40B4-BE49-F238E27FC236}">
                  <a16:creationId xmlns:a16="http://schemas.microsoft.com/office/drawing/2014/main" id="{39A1C557-1EE2-769C-8914-AC65E59FD2E5}"/>
                </a:ext>
              </a:extLst>
            </p:cNvPr>
            <p:cNvSpPr/>
            <p:nvPr/>
          </p:nvSpPr>
          <p:spPr>
            <a:xfrm>
              <a:off x="9462357" y="2988496"/>
              <a:ext cx="723866" cy="723866"/>
            </a:xfrm>
            <a:prstGeom prst="rect">
              <a:avLst/>
            </a:prstGeom>
            <a:blipFill>
              <a:blip r:embed="rId10">
                <a:alphaModFix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9823239-2949-6A5B-6C99-14F99DFE63F9}"/>
                </a:ext>
              </a:extLst>
            </p:cNvPr>
            <p:cNvSpPr/>
            <p:nvPr/>
          </p:nvSpPr>
          <p:spPr>
            <a:xfrm>
              <a:off x="8790200" y="4374178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000000"/>
                  </a:solidFill>
                  <a:uFillTx/>
                  <a:latin typeface="Avenir Next LT Pro"/>
                </a:rPr>
                <a:t>4. </a:t>
              </a:r>
              <a:r>
                <a:rPr lang="nb-NO" sz="2000" b="0" i="0" u="none" strike="noStrike" kern="0" cap="all" spc="0" baseline="0">
                  <a:solidFill>
                    <a:srgbClr val="000000"/>
                  </a:solidFill>
                  <a:uFillTx/>
                  <a:latin typeface="Avenir Next LT Pro"/>
                </a:rPr>
                <a:t>Sculpt</a:t>
              </a:r>
              <a:endParaRPr lang="en-US" sz="2000" b="0" i="0" u="none" strike="noStrike" kern="1200" cap="all" spc="0" baseline="0">
                <a:solidFill>
                  <a:srgbClr val="000000"/>
                </a:solidFill>
                <a:uFillTx/>
                <a:latin typeface="Avenir Next LT Pr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721CDB6-71EB-3CD7-FD61-9EDA17E5B83E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" name="Picture 3" descr="A poster with food on it&#10;&#10;Description automatically generated">
            <a:extLst>
              <a:ext uri="{FF2B5EF4-FFF2-40B4-BE49-F238E27FC236}">
                <a16:creationId xmlns:a16="http://schemas.microsoft.com/office/drawing/2014/main" id="{705A4BAF-F98B-6DB5-3B53-33CEA569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62" t="5779" r="30949" b="6128"/>
          <a:stretch>
            <a:fillRect/>
          </a:stretch>
        </p:blipFill>
        <p:spPr>
          <a:xfrm>
            <a:off x="4354939" y="2083506"/>
            <a:ext cx="2957151" cy="3838221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4" name="Straight Arrow Connector 5">
            <a:extLst>
              <a:ext uri="{FF2B5EF4-FFF2-40B4-BE49-F238E27FC236}">
                <a16:creationId xmlns:a16="http://schemas.microsoft.com/office/drawing/2014/main" id="{520F4DDA-0F42-5794-F59D-2040DEC90809}"/>
              </a:ext>
            </a:extLst>
          </p:cNvPr>
          <p:cNvCxnSpPr/>
          <p:nvPr/>
        </p:nvCxnSpPr>
        <p:spPr>
          <a:xfrm>
            <a:off x="4130737" y="1842067"/>
            <a:ext cx="571500" cy="438153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5" name="TextBox 6">
            <a:extLst>
              <a:ext uri="{FF2B5EF4-FFF2-40B4-BE49-F238E27FC236}">
                <a16:creationId xmlns:a16="http://schemas.microsoft.com/office/drawing/2014/main" id="{29CACF27-D210-F9FD-245D-26A3307F3F6A}"/>
              </a:ext>
            </a:extLst>
          </p:cNvPr>
          <p:cNvSpPr txBox="1"/>
          <p:nvPr/>
        </p:nvSpPr>
        <p:spPr>
          <a:xfrm>
            <a:off x="3647276" y="1477999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Logo</a:t>
            </a:r>
          </a:p>
        </p:txBody>
      </p:sp>
      <p:cxnSp>
        <p:nvCxnSpPr>
          <p:cNvPr id="6" name="Straight Arrow Connector 7">
            <a:extLst>
              <a:ext uri="{FF2B5EF4-FFF2-40B4-BE49-F238E27FC236}">
                <a16:creationId xmlns:a16="http://schemas.microsoft.com/office/drawing/2014/main" id="{54AA8615-4B29-1C8D-3BEA-C78D7DBF7E3E}"/>
              </a:ext>
            </a:extLst>
          </p:cNvPr>
          <p:cNvCxnSpPr/>
          <p:nvPr/>
        </p:nvCxnSpPr>
        <p:spPr>
          <a:xfrm>
            <a:off x="4950909" y="1743715"/>
            <a:ext cx="345707" cy="1159925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7" name="TextBox 8">
            <a:extLst>
              <a:ext uri="{FF2B5EF4-FFF2-40B4-BE49-F238E27FC236}">
                <a16:creationId xmlns:a16="http://schemas.microsoft.com/office/drawing/2014/main" id="{D24799FB-4BDB-B5F9-48AD-FBC5C62DAC53}"/>
              </a:ext>
            </a:extLst>
          </p:cNvPr>
          <p:cNvSpPr txBox="1"/>
          <p:nvPr/>
        </p:nvSpPr>
        <p:spPr>
          <a:xfrm>
            <a:off x="4421562" y="220224"/>
            <a:ext cx="1982620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Sterk kontrastfarge på rundt bakgrunns-ramme</a:t>
            </a:r>
          </a:p>
        </p:txBody>
      </p:sp>
      <p:cxnSp>
        <p:nvCxnSpPr>
          <p:cNvPr id="8" name="Straight Arrow Connector 11">
            <a:extLst>
              <a:ext uri="{FF2B5EF4-FFF2-40B4-BE49-F238E27FC236}">
                <a16:creationId xmlns:a16="http://schemas.microsoft.com/office/drawing/2014/main" id="{79862B70-1B2D-7AED-2425-0BCA9094A7CF}"/>
              </a:ext>
            </a:extLst>
          </p:cNvPr>
          <p:cNvCxnSpPr>
            <a:stCxn id="9" idx="1"/>
          </p:cNvCxnSpPr>
          <p:nvPr/>
        </p:nvCxnSpPr>
        <p:spPr>
          <a:xfrm flipH="1">
            <a:off x="6794796" y="2121431"/>
            <a:ext cx="1007779" cy="153239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54C2F082-9E0C-6591-3FDD-4C20C2BC410B}"/>
              </a:ext>
            </a:extLst>
          </p:cNvPr>
          <p:cNvSpPr txBox="1"/>
          <p:nvPr/>
        </p:nvSpPr>
        <p:spPr>
          <a:xfrm>
            <a:off x="7802575" y="1936763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Foto</a:t>
            </a:r>
          </a:p>
        </p:txBody>
      </p:sp>
      <p:cxnSp>
        <p:nvCxnSpPr>
          <p:cNvPr id="10" name="Straight Arrow Connector 13">
            <a:extLst>
              <a:ext uri="{FF2B5EF4-FFF2-40B4-BE49-F238E27FC236}">
                <a16:creationId xmlns:a16="http://schemas.microsoft.com/office/drawing/2014/main" id="{8206BC76-208A-5FF8-5488-F3E82CF956B0}"/>
              </a:ext>
            </a:extLst>
          </p:cNvPr>
          <p:cNvCxnSpPr/>
          <p:nvPr/>
        </p:nvCxnSpPr>
        <p:spPr>
          <a:xfrm>
            <a:off x="4069189" y="2994303"/>
            <a:ext cx="571500" cy="438153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11" name="TextBox 14">
            <a:extLst>
              <a:ext uri="{FF2B5EF4-FFF2-40B4-BE49-F238E27FC236}">
                <a16:creationId xmlns:a16="http://schemas.microsoft.com/office/drawing/2014/main" id="{17FE4B49-8FDC-9A56-1C54-DA9824B16C26}"/>
              </a:ext>
            </a:extLst>
          </p:cNvPr>
          <p:cNvSpPr txBox="1"/>
          <p:nvPr/>
        </p:nvSpPr>
        <p:spPr>
          <a:xfrm>
            <a:off x="3638598" y="2612029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Foto</a:t>
            </a:r>
          </a:p>
        </p:txBody>
      </p:sp>
      <p:cxnSp>
        <p:nvCxnSpPr>
          <p:cNvPr id="12" name="Straight Arrow Connector 16">
            <a:extLst>
              <a:ext uri="{FF2B5EF4-FFF2-40B4-BE49-F238E27FC236}">
                <a16:creationId xmlns:a16="http://schemas.microsoft.com/office/drawing/2014/main" id="{AD29EDD2-1D6A-0FD3-11B9-053BF96EFADC}"/>
              </a:ext>
            </a:extLst>
          </p:cNvPr>
          <p:cNvCxnSpPr/>
          <p:nvPr/>
        </p:nvCxnSpPr>
        <p:spPr>
          <a:xfrm flipH="1">
            <a:off x="7124483" y="3392076"/>
            <a:ext cx="622194" cy="588938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13" name="TextBox 17">
            <a:extLst>
              <a:ext uri="{FF2B5EF4-FFF2-40B4-BE49-F238E27FC236}">
                <a16:creationId xmlns:a16="http://schemas.microsoft.com/office/drawing/2014/main" id="{1B33BE5F-F5D7-893D-B73B-A1592D3B041D}"/>
              </a:ext>
            </a:extLst>
          </p:cNvPr>
          <p:cNvSpPr txBox="1"/>
          <p:nvPr/>
        </p:nvSpPr>
        <p:spPr>
          <a:xfrm>
            <a:off x="7767151" y="2375474"/>
            <a:ext cx="1192761" cy="1200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Ramme, variert tykkelse på linje</a:t>
            </a:r>
          </a:p>
        </p:txBody>
      </p:sp>
      <p:cxnSp>
        <p:nvCxnSpPr>
          <p:cNvPr id="14" name="Straight Arrow Connector 18">
            <a:extLst>
              <a:ext uri="{FF2B5EF4-FFF2-40B4-BE49-F238E27FC236}">
                <a16:creationId xmlns:a16="http://schemas.microsoft.com/office/drawing/2014/main" id="{19F9BC1B-AD1D-6C10-65FA-611884943185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6794796" y="4338398"/>
            <a:ext cx="832772" cy="5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15" name="TextBox 19">
            <a:extLst>
              <a:ext uri="{FF2B5EF4-FFF2-40B4-BE49-F238E27FC236}">
                <a16:creationId xmlns:a16="http://schemas.microsoft.com/office/drawing/2014/main" id="{832F9CFC-129E-F01D-09D7-F9F2C9C5083C}"/>
              </a:ext>
            </a:extLst>
          </p:cNvPr>
          <p:cNvSpPr txBox="1"/>
          <p:nvPr/>
        </p:nvSpPr>
        <p:spPr>
          <a:xfrm>
            <a:off x="7627568" y="4153735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Italic tekst</a:t>
            </a:r>
          </a:p>
        </p:txBody>
      </p:sp>
      <p:cxnSp>
        <p:nvCxnSpPr>
          <p:cNvPr id="16" name="Straight Arrow Connector 22">
            <a:extLst>
              <a:ext uri="{FF2B5EF4-FFF2-40B4-BE49-F238E27FC236}">
                <a16:creationId xmlns:a16="http://schemas.microsoft.com/office/drawing/2014/main" id="{6D12DF2E-DD5C-E8F8-2AD6-E0DC2BFA290F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6794796" y="4817068"/>
            <a:ext cx="832772" cy="5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17" name="TextBox 23">
            <a:extLst>
              <a:ext uri="{FF2B5EF4-FFF2-40B4-BE49-F238E27FC236}">
                <a16:creationId xmlns:a16="http://schemas.microsoft.com/office/drawing/2014/main" id="{DF240F04-15D7-96F0-9DBB-40156AD29603}"/>
              </a:ext>
            </a:extLst>
          </p:cNvPr>
          <p:cNvSpPr txBox="1"/>
          <p:nvPr/>
        </p:nvSpPr>
        <p:spPr>
          <a:xfrm>
            <a:off x="7627568" y="4632405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Quote</a:t>
            </a:r>
          </a:p>
        </p:txBody>
      </p:sp>
      <p:cxnSp>
        <p:nvCxnSpPr>
          <p:cNvPr id="18" name="Straight Arrow Connector 24">
            <a:extLst>
              <a:ext uri="{FF2B5EF4-FFF2-40B4-BE49-F238E27FC236}">
                <a16:creationId xmlns:a16="http://schemas.microsoft.com/office/drawing/2014/main" id="{F4E9B397-0E71-5817-515D-66FE78B06F2E}"/>
              </a:ext>
            </a:extLst>
          </p:cNvPr>
          <p:cNvCxnSpPr/>
          <p:nvPr/>
        </p:nvCxnSpPr>
        <p:spPr>
          <a:xfrm flipH="1">
            <a:off x="6904963" y="5285661"/>
            <a:ext cx="512028" cy="0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19" name="TextBox 25">
            <a:extLst>
              <a:ext uri="{FF2B5EF4-FFF2-40B4-BE49-F238E27FC236}">
                <a16:creationId xmlns:a16="http://schemas.microsoft.com/office/drawing/2014/main" id="{86B8F744-7657-EC58-8142-C4FE3ED99A79}"/>
              </a:ext>
            </a:extLst>
          </p:cNvPr>
          <p:cNvSpPr txBox="1"/>
          <p:nvPr/>
        </p:nvSpPr>
        <p:spPr>
          <a:xfrm>
            <a:off x="7416991" y="5123310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Brødtekst</a:t>
            </a:r>
          </a:p>
        </p:txBody>
      </p:sp>
      <p:cxnSp>
        <p:nvCxnSpPr>
          <p:cNvPr id="20" name="Straight Arrow Connector 27">
            <a:extLst>
              <a:ext uri="{FF2B5EF4-FFF2-40B4-BE49-F238E27FC236}">
                <a16:creationId xmlns:a16="http://schemas.microsoft.com/office/drawing/2014/main" id="{6C1CA185-F5A1-5773-0053-46A06561C1C4}"/>
              </a:ext>
            </a:extLst>
          </p:cNvPr>
          <p:cNvCxnSpPr/>
          <p:nvPr/>
        </p:nvCxnSpPr>
        <p:spPr>
          <a:xfrm flipH="1" flipV="1">
            <a:off x="7105893" y="5746784"/>
            <a:ext cx="430390" cy="296513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21" name="TextBox 28">
            <a:extLst>
              <a:ext uri="{FF2B5EF4-FFF2-40B4-BE49-F238E27FC236}">
                <a16:creationId xmlns:a16="http://schemas.microsoft.com/office/drawing/2014/main" id="{D5C7410F-077C-E88B-3385-E704916CB2CD}"/>
              </a:ext>
            </a:extLst>
          </p:cNvPr>
          <p:cNvSpPr txBox="1"/>
          <p:nvPr/>
        </p:nvSpPr>
        <p:spPr>
          <a:xfrm>
            <a:off x="7206596" y="6000731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Fargevariasjon</a:t>
            </a:r>
          </a:p>
        </p:txBody>
      </p:sp>
      <p:cxnSp>
        <p:nvCxnSpPr>
          <p:cNvPr id="22" name="Straight Arrow Connector 31">
            <a:extLst>
              <a:ext uri="{FF2B5EF4-FFF2-40B4-BE49-F238E27FC236}">
                <a16:creationId xmlns:a16="http://schemas.microsoft.com/office/drawing/2014/main" id="{1AD7BC96-E403-9FF4-1A46-2D452CFED9E7}"/>
              </a:ext>
            </a:extLst>
          </p:cNvPr>
          <p:cNvCxnSpPr/>
          <p:nvPr/>
        </p:nvCxnSpPr>
        <p:spPr>
          <a:xfrm flipV="1">
            <a:off x="4250030" y="5285661"/>
            <a:ext cx="486159" cy="636066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23" name="TextBox 32">
            <a:extLst>
              <a:ext uri="{FF2B5EF4-FFF2-40B4-BE49-F238E27FC236}">
                <a16:creationId xmlns:a16="http://schemas.microsoft.com/office/drawing/2014/main" id="{B8617494-7E03-ABF3-675D-5B02A330C36C}"/>
              </a:ext>
            </a:extLst>
          </p:cNvPr>
          <p:cNvSpPr txBox="1"/>
          <p:nvPr/>
        </p:nvSpPr>
        <p:spPr>
          <a:xfrm>
            <a:off x="3038679" y="5934666"/>
            <a:ext cx="1646020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Sort tekst, hvit bakgrunn i rammen</a:t>
            </a:r>
          </a:p>
        </p:txBody>
      </p:sp>
      <p:cxnSp>
        <p:nvCxnSpPr>
          <p:cNvPr id="24" name="Straight Arrow Connector 37">
            <a:extLst>
              <a:ext uri="{FF2B5EF4-FFF2-40B4-BE49-F238E27FC236}">
                <a16:creationId xmlns:a16="http://schemas.microsoft.com/office/drawing/2014/main" id="{22EAF692-8E12-9F72-231F-149BCF368A88}"/>
              </a:ext>
            </a:extLst>
          </p:cNvPr>
          <p:cNvCxnSpPr/>
          <p:nvPr/>
        </p:nvCxnSpPr>
        <p:spPr>
          <a:xfrm flipH="1">
            <a:off x="5475573" y="1842067"/>
            <a:ext cx="438217" cy="954625"/>
          </a:xfrm>
          <a:prstGeom prst="straightConnector1">
            <a:avLst/>
          </a:prstGeom>
          <a:noFill/>
          <a:ln w="38103" cap="flat">
            <a:solidFill>
              <a:srgbClr val="4EA72E"/>
            </a:solidFill>
            <a:prstDash val="solid"/>
            <a:miter/>
            <a:tailEnd type="arrow"/>
          </a:ln>
        </p:spPr>
      </p:cxnSp>
      <p:sp>
        <p:nvSpPr>
          <p:cNvPr id="25" name="TextBox 38">
            <a:extLst>
              <a:ext uri="{FF2B5EF4-FFF2-40B4-BE49-F238E27FC236}">
                <a16:creationId xmlns:a16="http://schemas.microsoft.com/office/drawing/2014/main" id="{097D3E32-3757-82F2-2DD7-AD660CDF7ED3}"/>
              </a:ext>
            </a:extLst>
          </p:cNvPr>
          <p:cNvSpPr txBox="1"/>
          <p:nvPr/>
        </p:nvSpPr>
        <p:spPr>
          <a:xfrm>
            <a:off x="5833515" y="1403357"/>
            <a:ext cx="19826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Hvit ramme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6BF538E-4B3B-C36C-E117-A4650EF4E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488" y="344134"/>
            <a:ext cx="2320290" cy="1497942"/>
          </a:xfrm>
        </p:spPr>
        <p:txBody>
          <a:bodyPr/>
          <a:lstStyle/>
          <a:p>
            <a:pPr lvl="0"/>
            <a:r>
              <a:rPr lang="nb-NO" sz="2800"/>
              <a:t>Analyse</a:t>
            </a: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81C77A7B-0180-8530-146B-661A5DA1BFEE}"/>
              </a:ext>
            </a:extLst>
          </p:cNvPr>
          <p:cNvSpPr txBox="1"/>
          <p:nvPr/>
        </p:nvSpPr>
        <p:spPr>
          <a:xfrm>
            <a:off x="-13642" y="344134"/>
            <a:ext cx="2925668" cy="523219"/>
          </a:xfrm>
          <a:prstGeom prst="rect">
            <a:avLst/>
          </a:prstGeom>
          <a:solidFill>
            <a:srgbClr val="F6C6A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2800" b="0" i="0" u="none" strike="noStrike" kern="0" cap="none" spc="0" baseline="0">
                <a:solidFill>
                  <a:srgbClr val="000000"/>
                </a:solidFill>
                <a:uFillTx/>
                <a:latin typeface="Tenorite"/>
              </a:rPr>
              <a:t>Analyser</a:t>
            </a:r>
            <a:endParaRPr lang="nb-NO" sz="2800" b="0" i="0" u="none" strike="noStrike" kern="1200" cap="none" spc="0" baseline="0">
              <a:solidFill>
                <a:srgbClr val="000000"/>
              </a:solidFill>
              <a:uFillTx/>
              <a:latin typeface="Tenorit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667D3B-34B5-9E37-CFB6-DAB3D959171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26784" y="1559500"/>
            <a:ext cx="3523585" cy="4195760"/>
          </a:xfrm>
        </p:spPr>
        <p:txBody>
          <a:bodyPr anchorCtr="1"/>
          <a:lstStyle/>
          <a:p>
            <a:pPr marL="0" lvl="0" indent="0" algn="ctr">
              <a:buNone/>
            </a:pPr>
            <a:r>
              <a:rPr lang="en-NO" sz="7200"/>
              <a:t>IKKE </a:t>
            </a:r>
          </a:p>
          <a:p>
            <a:pPr marL="0" lvl="0" indent="0" algn="ctr">
              <a:buNone/>
            </a:pPr>
            <a:r>
              <a:rPr lang="en-NO" sz="7200"/>
              <a:t>COPY- PASTE</a:t>
            </a:r>
          </a:p>
        </p:txBody>
      </p:sp>
      <p:pic>
        <p:nvPicPr>
          <p:cNvPr id="3" name="Picture 4" descr="A red circle with a black background&#10;&#10;Description automatically generated">
            <a:extLst>
              <a:ext uri="{FF2B5EF4-FFF2-40B4-BE49-F238E27FC236}">
                <a16:creationId xmlns:a16="http://schemas.microsoft.com/office/drawing/2014/main" id="{2316E286-EF4B-6420-8DE2-952291C7A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627" y="1865357"/>
            <a:ext cx="3415860" cy="341586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6B3C-6633-13C1-6E22-3C6BF46476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nb-NO" dirty="0"/>
              <a:t>Hva har jeg lært? Photoshop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A69C-BEA8-48CC-7797-BAAA4D163DE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90000"/>
              </a:lnSpc>
            </a:pPr>
            <a:r>
              <a:rPr lang="nb-NO" sz="1500"/>
              <a:t>Masker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Gradient &amp; Tekstur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Hente stock images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Blur filter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Opacity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Generative fill / AI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Skygger og highlights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Typografi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Adobe fonts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Komposisjon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Rammer</a:t>
            </a:r>
          </a:p>
          <a:p>
            <a:pPr lvl="0">
              <a:lnSpc>
                <a:spcPct val="90000"/>
              </a:lnSpc>
            </a:pPr>
            <a:r>
              <a:rPr lang="nb-NO" sz="1500"/>
              <a:t>Fargekontrast &amp; Fargemetning</a:t>
            </a:r>
          </a:p>
        </p:txBody>
      </p:sp>
      <p:pic>
        <p:nvPicPr>
          <p:cNvPr id="4" name="Picture 4" descr="A can of soda splashing water&#10;&#10;Description automatically generated">
            <a:extLst>
              <a:ext uri="{FF2B5EF4-FFF2-40B4-BE49-F238E27FC236}">
                <a16:creationId xmlns:a16="http://schemas.microsoft.com/office/drawing/2014/main" id="{8EE5EB7A-D935-D7B8-247D-4443AC40B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23" y="2078001"/>
            <a:ext cx="3081838" cy="30818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A can of soda with ice cubes&#10;&#10;Description automatically generated">
            <a:extLst>
              <a:ext uri="{FF2B5EF4-FFF2-40B4-BE49-F238E27FC236}">
                <a16:creationId xmlns:a16="http://schemas.microsoft.com/office/drawing/2014/main" id="{8BA9E46B-0FC0-E749-6242-E4116F720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840" y="2078001"/>
            <a:ext cx="3081838" cy="308183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200E625-7602-E60A-795E-8350CC9BC32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nb-NO" dirty="0"/>
              <a:t>Man går utenfor sin komfortsone        lærer noe nytt</a:t>
            </a:r>
          </a:p>
          <a:p>
            <a:pPr marL="0" lvl="0" indent="0">
              <a:buNone/>
            </a:pPr>
            <a:r>
              <a:rPr lang="nb-NO" dirty="0"/>
              <a:t>Det fører til nye erfaringer som utvider din egen verktøykasse</a:t>
            </a:r>
          </a:p>
          <a:p>
            <a:pPr marL="0" lvl="0" indent="0">
              <a:buNone/>
            </a:pPr>
            <a:endParaRPr lang="nb-NO" dirty="0"/>
          </a:p>
          <a:p>
            <a:pPr marL="0" lvl="0" indent="0">
              <a:buNone/>
            </a:pPr>
            <a:r>
              <a:rPr lang="nb-NO" dirty="0"/>
              <a:t>Fjerner kreativitet (som ofte er ustabilt) fra læreringen</a:t>
            </a:r>
          </a:p>
          <a:p>
            <a:pPr marL="0" lvl="0" indent="0">
              <a:buNone/>
            </a:pPr>
            <a:r>
              <a:rPr lang="nb-NO" dirty="0"/>
              <a:t>Men hva med å være unik?</a:t>
            </a:r>
          </a:p>
          <a:p>
            <a:pPr marL="0" lvl="0" indent="0">
              <a:buNone/>
            </a:pPr>
            <a:r>
              <a:rPr lang="nb-NO" u="sng" dirty="0"/>
              <a:t>Man må kjenne til reglene for å bryte dem</a:t>
            </a:r>
          </a:p>
        </p:txBody>
      </p:sp>
      <p:sp>
        <p:nvSpPr>
          <p:cNvPr id="3" name="Arrow: Right 3">
            <a:extLst>
              <a:ext uri="{FF2B5EF4-FFF2-40B4-BE49-F238E27FC236}">
                <a16:creationId xmlns:a16="http://schemas.microsoft.com/office/drawing/2014/main" id="{C39BC759-7DBF-4960-FA43-CD42E3CD0937}"/>
              </a:ext>
            </a:extLst>
          </p:cNvPr>
          <p:cNvSpPr/>
          <p:nvPr/>
        </p:nvSpPr>
        <p:spPr>
          <a:xfrm>
            <a:off x="6417890" y="2110810"/>
            <a:ext cx="367469" cy="245351"/>
          </a:xfrm>
          <a:custGeom>
            <a:avLst>
              <a:gd name="f0" fmla="val 14389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+- f8 0 f7"/>
              <a:gd name="f15" fmla="pin 0 f0 21600"/>
              <a:gd name="f16" fmla="pin 0 f1 10800"/>
              <a:gd name="f17" fmla="*/ f10 f2 1"/>
              <a:gd name="f18" fmla="*/ f11 f2 1"/>
              <a:gd name="f19" fmla="val f15"/>
              <a:gd name="f20" fmla="val f16"/>
              <a:gd name="f21" fmla="*/ f14 1 21600"/>
              <a:gd name="f22" fmla="*/ f15 f12 1"/>
              <a:gd name="f23" fmla="*/ f16 f13 1"/>
              <a:gd name="f24" fmla="*/ f17 1 f4"/>
              <a:gd name="f25" fmla="*/ f18 1 f4"/>
              <a:gd name="f26" fmla="+- 21600 0 f20"/>
              <a:gd name="f27" fmla="+- 21600 0 f19"/>
              <a:gd name="f28" fmla="*/ 0 f21 1"/>
              <a:gd name="f29" fmla="*/ 21600 f21 1"/>
              <a:gd name="f30" fmla="*/ f20 f13 1"/>
              <a:gd name="f31" fmla="*/ f19 f12 1"/>
              <a:gd name="f32" fmla="+- f24 0 f3"/>
              <a:gd name="f33" fmla="+- f25 0 f3"/>
              <a:gd name="f34" fmla="*/ f27 f20 1"/>
              <a:gd name="f35" fmla="*/ f28 1 f21"/>
              <a:gd name="f36" fmla="*/ f29 1 f21"/>
              <a:gd name="f37" fmla="*/ f26 f13 1"/>
              <a:gd name="f38" fmla="*/ f34 1 10800"/>
              <a:gd name="f39" fmla="*/ f35 f12 1"/>
              <a:gd name="f40" fmla="*/ f35 f13 1"/>
              <a:gd name="f41" fmla="*/ f36 f13 1"/>
              <a:gd name="f42" fmla="+- f19 f38 0"/>
              <a:gd name="f43" fmla="*/ f42 f12 1"/>
            </a:gdLst>
            <a:ahLst>
              <a:ahXY gdRefX="f0" minX="f7" maxX="f8" gdRefY="f1" minY="f7" maxY="f9">
                <a:pos x="f22" y="f2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40"/>
              </a:cxn>
              <a:cxn ang="f33">
                <a:pos x="f31" y="f41"/>
              </a:cxn>
            </a:cxnLst>
            <a:rect l="f39" t="f30" r="f43" b="f37"/>
            <a:pathLst>
              <a:path w="21600" h="21600">
                <a:moveTo>
                  <a:pt x="f7" y="f20"/>
                </a:moveTo>
                <a:lnTo>
                  <a:pt x="f19" y="f20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6"/>
                </a:lnTo>
                <a:lnTo>
                  <a:pt x="f7" y="f26"/>
                </a:lnTo>
                <a:close/>
              </a:path>
            </a:pathLst>
          </a:custGeom>
          <a:solidFill>
            <a:srgbClr val="91696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00" b="0" i="0" u="none" strike="noStrike" kern="1200" cap="none" spc="0" baseline="0">
              <a:solidFill>
                <a:srgbClr val="FFFFFF"/>
              </a:solidFill>
              <a:uFillTx/>
              <a:latin typeface="Avenir Next LT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ablo Picasso's Masterful Childhood Paintings: Precocious Works Painted  Between the Ages of 8 and 15 | Open Culture">
            <a:extLst>
              <a:ext uri="{FF2B5EF4-FFF2-40B4-BE49-F238E27FC236}">
                <a16:creationId xmlns:a16="http://schemas.microsoft.com/office/drawing/2014/main" id="{BC75EDBE-65C6-FB9B-6CE9-D8B286550F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" t="13051" r="-9" b="18695"/>
          <a:stretch>
            <a:fillRect/>
          </a:stretch>
        </p:blipFill>
        <p:spPr>
          <a:xfrm>
            <a:off x="322106" y="246723"/>
            <a:ext cx="5674894" cy="3030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Pablo Picasso Abstract Art Painting · Creative Fabrica">
            <a:extLst>
              <a:ext uri="{FF2B5EF4-FFF2-40B4-BE49-F238E27FC236}">
                <a16:creationId xmlns:a16="http://schemas.microsoft.com/office/drawing/2014/main" id="{53A6A5D0-246A-272D-7610-007B1ABC83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31" r="6" b="13116"/>
          <a:stretch>
            <a:fillRect/>
          </a:stretch>
        </p:blipFill>
        <p:spPr>
          <a:xfrm>
            <a:off x="321731" y="3524289"/>
            <a:ext cx="2676576" cy="277652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A Pablo Picasso Painting Is the Most Expensive Piece of Art Sold at Auction  this Year">
            <a:extLst>
              <a:ext uri="{FF2B5EF4-FFF2-40B4-BE49-F238E27FC236}">
                <a16:creationId xmlns:a16="http://schemas.microsoft.com/office/drawing/2014/main" id="{85684E38-F8D8-0F59-6500-0F31940F60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01" r="7826" b="5"/>
          <a:stretch>
            <a:fillRect/>
          </a:stretch>
        </p:blipFill>
        <p:spPr>
          <a:xfrm>
            <a:off x="3159553" y="3514853"/>
            <a:ext cx="2837072" cy="27859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 descr="Pablo Picasso 1881–1973 | Tate">
            <a:extLst>
              <a:ext uri="{FF2B5EF4-FFF2-40B4-BE49-F238E27FC236}">
                <a16:creationId xmlns:a16="http://schemas.microsoft.com/office/drawing/2014/main" id="{0D9A4F83-ED52-63A2-8837-6BEDA82B1C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712"/>
          <a:stretch>
            <a:fillRect/>
          </a:stretch>
        </p:blipFill>
        <p:spPr>
          <a:xfrm>
            <a:off x="6195370" y="321731"/>
            <a:ext cx="5674894" cy="597906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CD59-CEAA-7117-4F3D-FB61C6A9C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0"/>
            <a:ext cx="10515600" cy="1325559"/>
          </a:xfrm>
        </p:spPr>
        <p:txBody>
          <a:bodyPr/>
          <a:lstStyle/>
          <a:p>
            <a:pPr lvl="0"/>
            <a:r>
              <a:rPr lang="nb-NO" dirty="0"/>
              <a:t>Produksjonsmetode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36AE-18F3-79F0-BBEA-65A60583997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600365"/>
            <a:ext cx="10515600" cy="4195760"/>
          </a:xfrm>
        </p:spPr>
        <p:txBody>
          <a:bodyPr>
            <a:normAutofit/>
          </a:bodyPr>
          <a:lstStyle/>
          <a:p>
            <a:pPr marL="514350" lvl="0" indent="-514350">
              <a:buAutoNum type="arabicPeriod"/>
            </a:pPr>
            <a:r>
              <a:rPr lang="nb-NO" sz="2400" dirty="0"/>
              <a:t>Finn noe du ønsker å reprodusere</a:t>
            </a:r>
          </a:p>
          <a:p>
            <a:pPr marL="514350" lvl="0" indent="-514350">
              <a:buAutoNum type="arabicPeriod"/>
            </a:pPr>
            <a:r>
              <a:rPr lang="nb-NO" sz="2400" dirty="0"/>
              <a:t>Gjenskap det så likt som mulig</a:t>
            </a:r>
            <a:br>
              <a:rPr lang="nb-NO" sz="2400" dirty="0"/>
            </a:br>
            <a:endParaRPr lang="nb-NO" sz="2400" dirty="0"/>
          </a:p>
          <a:p>
            <a:pPr marL="514350" lvl="0" indent="-514350">
              <a:buAutoNum type="arabicPeriod"/>
            </a:pPr>
            <a:r>
              <a:rPr lang="nb-NO" sz="2400" dirty="0"/>
              <a:t>Juster og eksperimenter med det du har laget</a:t>
            </a:r>
          </a:p>
          <a:p>
            <a:pPr marL="514350" lvl="0" indent="-514350">
              <a:buAutoNum type="arabicPeriod"/>
            </a:pPr>
            <a:r>
              <a:rPr lang="nb-NO" sz="2400" dirty="0"/>
              <a:t>Lag noe nytt fra bunnen av med teknikkene du har lært å bruke</a:t>
            </a:r>
          </a:p>
        </p:txBody>
      </p:sp>
      <p:grpSp>
        <p:nvGrpSpPr>
          <p:cNvPr id="4" name="Content Placeholder 2">
            <a:extLst>
              <a:ext uri="{FF2B5EF4-FFF2-40B4-BE49-F238E27FC236}">
                <a16:creationId xmlns:a16="http://schemas.microsoft.com/office/drawing/2014/main" id="{71D19278-E382-AE23-F1B9-C62E9E0B70D1}"/>
              </a:ext>
            </a:extLst>
          </p:cNvPr>
          <p:cNvGrpSpPr/>
          <p:nvPr/>
        </p:nvGrpSpPr>
        <p:grpSpPr>
          <a:xfrm>
            <a:off x="1564869" y="4604482"/>
            <a:ext cx="9358508" cy="2374541"/>
            <a:chOff x="1537975" y="4208452"/>
            <a:chExt cx="9358508" cy="2374541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B09656F0-FAEA-8D63-76BF-34FB108EC923}"/>
                </a:ext>
              </a:extLst>
            </p:cNvPr>
            <p:cNvSpPr/>
            <p:nvPr/>
          </p:nvSpPr>
          <p:spPr>
            <a:xfrm>
              <a:off x="1941271" y="4208452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18" descr="Eye">
              <a:extLst>
                <a:ext uri="{FF2B5EF4-FFF2-40B4-BE49-F238E27FC236}">
                  <a16:creationId xmlns:a16="http://schemas.microsoft.com/office/drawing/2014/main" id="{10E023F7-8B7D-0F1F-9DDE-D8EE1E5C2691}"/>
                </a:ext>
              </a:extLst>
            </p:cNvPr>
            <p:cNvSpPr/>
            <p:nvPr/>
          </p:nvSpPr>
          <p:spPr>
            <a:xfrm>
              <a:off x="2210141" y="4477313"/>
              <a:ext cx="723866" cy="723866"/>
            </a:xfrm>
            <a:prstGeom prst="rect">
              <a:avLst/>
            </a:prstGeom>
            <a:blipFill>
              <a:blip r:embed="rId2">
                <a:alphaModFix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16B09B4F-AE7C-6F6C-CEA9-DB6DB794DC00}"/>
                </a:ext>
              </a:extLst>
            </p:cNvPr>
            <p:cNvSpPr/>
            <p:nvPr/>
          </p:nvSpPr>
          <p:spPr>
            <a:xfrm>
              <a:off x="1537975" y="5862995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1. </a:t>
              </a:r>
              <a:r>
                <a:rPr lang="nb-NO" sz="2000" b="0" i="0" u="none" strike="noStrike" kern="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Analyze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8F70F484-D754-1DF3-A089-6EC59113847F}"/>
                </a:ext>
              </a:extLst>
            </p:cNvPr>
            <p:cNvSpPr/>
            <p:nvPr/>
          </p:nvSpPr>
          <p:spPr>
            <a:xfrm>
              <a:off x="4371380" y="4208452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Rectangle 21" descr="Building Brick Wall with solid fill">
              <a:extLst>
                <a:ext uri="{FF2B5EF4-FFF2-40B4-BE49-F238E27FC236}">
                  <a16:creationId xmlns:a16="http://schemas.microsoft.com/office/drawing/2014/main" id="{0160C8E5-00EB-EF55-86D9-D472ACB75596}"/>
                </a:ext>
              </a:extLst>
            </p:cNvPr>
            <p:cNvSpPr/>
            <p:nvPr/>
          </p:nvSpPr>
          <p:spPr>
            <a:xfrm>
              <a:off x="4640241" y="4477313"/>
              <a:ext cx="723866" cy="723866"/>
            </a:xfrm>
            <a:prstGeom prst="rect">
              <a:avLst/>
            </a:prstGeom>
            <a:blipFill>
              <a:blip r:embed="rId4">
                <a:alphaModFix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F641A7C-38FE-741C-8751-E7F2835CF448}"/>
                </a:ext>
              </a:extLst>
            </p:cNvPr>
            <p:cNvSpPr/>
            <p:nvPr/>
          </p:nvSpPr>
          <p:spPr>
            <a:xfrm>
              <a:off x="3968084" y="5862995"/>
              <a:ext cx="2166021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2. Reconstruct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FEFE12F0-0C30-366B-2E45-3DBA785C75FB}"/>
                </a:ext>
              </a:extLst>
            </p:cNvPr>
            <p:cNvSpPr/>
            <p:nvPr/>
          </p:nvSpPr>
          <p:spPr>
            <a:xfrm>
              <a:off x="6801490" y="4208452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Rectangle 24" descr="Building Brick Wall outline">
              <a:extLst>
                <a:ext uri="{FF2B5EF4-FFF2-40B4-BE49-F238E27FC236}">
                  <a16:creationId xmlns:a16="http://schemas.microsoft.com/office/drawing/2014/main" id="{5A8A78B1-1A27-217C-72CF-EFA422350BBE}"/>
                </a:ext>
              </a:extLst>
            </p:cNvPr>
            <p:cNvSpPr/>
            <p:nvPr/>
          </p:nvSpPr>
          <p:spPr>
            <a:xfrm>
              <a:off x="7070351" y="4477313"/>
              <a:ext cx="723866" cy="723866"/>
            </a:xfrm>
            <a:prstGeom prst="rect">
              <a:avLst/>
            </a:prstGeom>
            <a:blipFill>
              <a:blip r:embed="rId6">
                <a:alphaModFix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05E627B3-2025-6158-043F-F824BE2D0B18}"/>
                </a:ext>
              </a:extLst>
            </p:cNvPr>
            <p:cNvSpPr/>
            <p:nvPr/>
          </p:nvSpPr>
          <p:spPr>
            <a:xfrm>
              <a:off x="6398193" y="5862995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3. </a:t>
              </a:r>
              <a:r>
                <a:rPr lang="nb-NO" sz="2000" b="0" i="0" u="none" strike="noStrike" kern="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tweak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9267CF47-D94C-CB76-D4B0-FB9B23A5F475}"/>
                </a:ext>
              </a:extLst>
            </p:cNvPr>
            <p:cNvSpPr/>
            <p:nvPr/>
          </p:nvSpPr>
          <p:spPr>
            <a:xfrm>
              <a:off x="9231599" y="4208452"/>
              <a:ext cx="1261588" cy="126158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2F2F2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5" name="Rectangle 27" descr="Artist female with solid fill">
              <a:extLst>
                <a:ext uri="{FF2B5EF4-FFF2-40B4-BE49-F238E27FC236}">
                  <a16:creationId xmlns:a16="http://schemas.microsoft.com/office/drawing/2014/main" id="{B68E126B-A4BC-E8B6-A34D-B3CB87C3D252}"/>
                </a:ext>
              </a:extLst>
            </p:cNvPr>
            <p:cNvSpPr/>
            <p:nvPr/>
          </p:nvSpPr>
          <p:spPr>
            <a:xfrm>
              <a:off x="9500460" y="4477313"/>
              <a:ext cx="723866" cy="723866"/>
            </a:xfrm>
            <a:prstGeom prst="rect">
              <a:avLst/>
            </a:prstGeom>
            <a:blipFill>
              <a:blip r:embed="rId8">
                <a:alphaModFix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NO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DA78A64B-8253-8303-AF32-CC15AFC05951}"/>
                </a:ext>
              </a:extLst>
            </p:cNvPr>
            <p:cNvSpPr/>
            <p:nvPr/>
          </p:nvSpPr>
          <p:spPr>
            <a:xfrm>
              <a:off x="8828303" y="5862995"/>
              <a:ext cx="2068180" cy="719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8177"/>
                <a:gd name="f7" fmla="val 720000"/>
                <a:gd name="f8" fmla="+- 0 0 -90"/>
                <a:gd name="f9" fmla="*/ f3 1 2068177"/>
                <a:gd name="f10" fmla="*/ f4 1 720000"/>
                <a:gd name="f11" fmla="+- f7 0 f5"/>
                <a:gd name="f12" fmla="+- f6 0 f5"/>
                <a:gd name="f13" fmla="*/ f8 f0 1"/>
                <a:gd name="f14" fmla="*/ f12 1 2068177"/>
                <a:gd name="f15" fmla="*/ f11 1 720000"/>
                <a:gd name="f16" fmla="*/ 0 f12 1"/>
                <a:gd name="f17" fmla="*/ 0 f11 1"/>
                <a:gd name="f18" fmla="*/ 2068177 f12 1"/>
                <a:gd name="f19" fmla="*/ 720000 f11 1"/>
                <a:gd name="f20" fmla="*/ f13 1 f2"/>
                <a:gd name="f21" fmla="*/ f16 1 2068177"/>
                <a:gd name="f22" fmla="*/ f17 1 720000"/>
                <a:gd name="f23" fmla="*/ f18 1 2068177"/>
                <a:gd name="f24" fmla="*/ f19 1 720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068177" h="720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all" spc="0" baseline="0">
                  <a:solidFill>
                    <a:srgbClr val="000000"/>
                  </a:solidFill>
                  <a:uFillTx/>
                </a:defRPr>
              </a:pPr>
              <a:r>
                <a:rPr lang="nb-NO" sz="2000" b="0" i="0" u="none" strike="noStrike" kern="120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4. </a:t>
              </a:r>
              <a:r>
                <a:rPr lang="nb-NO" sz="2000" b="0" i="0" u="none" strike="noStrike" kern="0" cap="all" spc="0" baseline="0">
                  <a:solidFill>
                    <a:srgbClr val="FFFFFF"/>
                  </a:solidFill>
                  <a:uFillTx/>
                  <a:latin typeface="Avenir Next LT Pro"/>
                </a:rPr>
                <a:t>Sculpt</a:t>
              </a:r>
              <a:endParaRPr lang="en-US" sz="2000" b="0" i="0" u="none" strike="noStrike" kern="1200" cap="all" spc="0" baseline="0">
                <a:solidFill>
                  <a:srgbClr val="FFFFFF"/>
                </a:solidFill>
                <a:uFillTx/>
                <a:latin typeface="Avenir Next LT Pro"/>
              </a:endParaRPr>
            </a:p>
          </p:txBody>
        </p:sp>
      </p:grp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FC2AE82C-F4AE-0F46-8001-3D11893B1A69}"/>
              </a:ext>
            </a:extLst>
          </p:cNvPr>
          <p:cNvSpPr/>
          <p:nvPr/>
        </p:nvSpPr>
        <p:spPr>
          <a:xfrm>
            <a:off x="6343286" y="1600365"/>
            <a:ext cx="163601" cy="1041235"/>
          </a:xfrm>
          <a:prstGeom prst="rightBracke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7C1B26-509F-8FE1-A173-9B2F55A7FA6D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6506887" y="2120983"/>
            <a:ext cx="581988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0D2AE42-AEA0-5163-19EC-BA234D16BE81}"/>
              </a:ext>
            </a:extLst>
          </p:cNvPr>
          <p:cNvSpPr txBox="1">
            <a:spLocks/>
          </p:cNvSpPr>
          <p:nvPr/>
        </p:nvSpPr>
        <p:spPr>
          <a:xfrm>
            <a:off x="7229616" y="1877963"/>
            <a:ext cx="1940956" cy="55461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85000" lnSpcReduction="10000"/>
          </a:bodyPr>
          <a:lstStyle>
            <a:lvl1pPr marL="228600" marR="0" lvl="0" indent="-228600" algn="l" defTabSz="914400" rtl="0" fontAlgn="auto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1pPr>
            <a:lvl2pPr marL="685800" marR="0" lvl="1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2pPr>
            <a:lvl3pPr marL="1143000" marR="0" lvl="2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3pPr>
            <a:lvl4pPr marL="1600200" marR="0" lvl="3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4pPr>
            <a:lvl5pPr marL="2057400" marR="0" lvl="4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b-NO" sz="2400" i="1" dirty="0"/>
              <a:t>Mål for dagene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66FE-60B8-1616-4ADC-6AEB7206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Oppgave</a:t>
            </a:r>
            <a:r>
              <a:rPr lang="en-US" dirty="0"/>
              <a:t> 1 – Vi </a:t>
            </a:r>
            <a:r>
              <a:rPr lang="en-US" dirty="0" err="1"/>
              <a:t>gjør</a:t>
            </a:r>
            <a:r>
              <a:rPr lang="en-US" dirty="0"/>
              <a:t> </a:t>
            </a:r>
            <a:r>
              <a:rPr lang="en-US" dirty="0" err="1"/>
              <a:t>denne</a:t>
            </a:r>
            <a:r>
              <a:rPr lang="en-US" dirty="0"/>
              <a:t> </a:t>
            </a:r>
            <a:r>
              <a:rPr lang="en-US" dirty="0" err="1"/>
              <a:t>sammen</a:t>
            </a:r>
            <a:endParaRPr lang="en-US" dirty="0"/>
          </a:p>
        </p:txBody>
      </p:sp>
      <p:pic>
        <p:nvPicPr>
          <p:cNvPr id="4" name="Picture 4" descr="A can of soda splashing water&#10;&#10;Description automatically generated">
            <a:extLst>
              <a:ext uri="{FF2B5EF4-FFF2-40B4-BE49-F238E27FC236}">
                <a16:creationId xmlns:a16="http://schemas.microsoft.com/office/drawing/2014/main" id="{44E669A7-9F3A-0701-836D-0E563939C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602" y="1847850"/>
            <a:ext cx="4195763" cy="419576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385A55-42FB-1A6E-2D94-D58481962293}"/>
              </a:ext>
            </a:extLst>
          </p:cNvPr>
          <p:cNvSpPr txBox="1">
            <a:spLocks/>
          </p:cNvSpPr>
          <p:nvPr/>
        </p:nvSpPr>
        <p:spPr>
          <a:xfrm>
            <a:off x="838204" y="1949445"/>
            <a:ext cx="5029196" cy="4195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77500" lnSpcReduction="20000"/>
          </a:bodyPr>
          <a:lstStyle>
            <a:lvl1pPr marL="228600" marR="0" lvl="0" indent="-228600" algn="l" defTabSz="914400" rtl="0" fontAlgn="auto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1pPr>
            <a:lvl2pPr marL="685800" marR="0" lvl="1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2pPr>
            <a:lvl3pPr marL="1143000" marR="0" lvl="2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3pPr>
            <a:lvl4pPr marL="1600200" marR="0" lvl="3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4pPr>
            <a:lvl5pPr marL="2057400" marR="0" lvl="4" indent="-228600" algn="l" defTabSz="914400" rtl="0" fontAlgn="auto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E84C22"/>
              </a:buClr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venir Next LT Pro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/>
              <a:buNone/>
            </a:pPr>
            <a:r>
              <a:rPr lang="nb-NO" dirty="0"/>
              <a:t>Vi skal lære å bruke </a:t>
            </a:r>
            <a:r>
              <a:rPr lang="nb-NO" b="1" dirty="0"/>
              <a:t>Photoshop</a:t>
            </a:r>
            <a:r>
              <a:rPr lang="nb-NO" dirty="0"/>
              <a:t>, så vi følger ARTS metoden (steg 1-2) for å rekonstruere denne reklamen</a:t>
            </a:r>
          </a:p>
          <a:p>
            <a:pPr marL="0" indent="0">
              <a:buFont typeface="Arial" pitchFamily="34"/>
              <a:buNone/>
            </a:pPr>
            <a:endParaRPr lang="nb-NO" dirty="0"/>
          </a:p>
          <a:p>
            <a:pPr marL="0" indent="0">
              <a:buFont typeface="Arial" pitchFamily="34"/>
              <a:buNone/>
            </a:pPr>
            <a:r>
              <a:rPr lang="nb-NO" dirty="0"/>
              <a:t>Last ned prosjektfilene fra Canvas emnet: </a:t>
            </a:r>
            <a:br>
              <a:rPr lang="nb-NO" dirty="0"/>
            </a:br>
            <a:r>
              <a:rPr lang="nb-NO" dirty="0">
                <a:solidFill>
                  <a:schemeClr val="accent2"/>
                </a:solidFill>
              </a:rPr>
              <a:t>-&gt;</a:t>
            </a:r>
            <a:r>
              <a:rPr lang="nb-NO" dirty="0"/>
              <a:t> Adobe-verktøy </a:t>
            </a:r>
            <a:br>
              <a:rPr lang="nb-NO" dirty="0"/>
            </a:br>
            <a:r>
              <a:rPr lang="nb-NO" dirty="0"/>
              <a:t>     </a:t>
            </a:r>
            <a:r>
              <a:rPr lang="nb-NO" dirty="0">
                <a:solidFill>
                  <a:schemeClr val="accent2"/>
                </a:solidFill>
              </a:rPr>
              <a:t>-&gt;</a:t>
            </a:r>
            <a:r>
              <a:rPr lang="nb-NO" dirty="0"/>
              <a:t> Photoshop Intro </a:t>
            </a:r>
            <a:br>
              <a:rPr lang="nb-NO" dirty="0"/>
            </a:br>
            <a:r>
              <a:rPr lang="nb-NO" dirty="0"/>
              <a:t>          </a:t>
            </a:r>
            <a:r>
              <a:rPr lang="nb-NO" dirty="0">
                <a:solidFill>
                  <a:schemeClr val="accent2"/>
                </a:solidFill>
              </a:rPr>
              <a:t>-&gt;</a:t>
            </a:r>
            <a:r>
              <a:rPr lang="nb-NO" dirty="0"/>
              <a:t> </a:t>
            </a:r>
            <a:r>
              <a:rPr lang="nb-NO" dirty="0" err="1"/>
              <a:t>Prosjektfiler</a:t>
            </a:r>
            <a:r>
              <a:rPr lang="nb-NO" dirty="0"/>
              <a:t> til oppgave 1</a:t>
            </a:r>
          </a:p>
          <a:p>
            <a:pPr marL="0" indent="0">
              <a:buFont typeface="Arial" pitchFamily="34"/>
              <a:buNone/>
            </a:pPr>
            <a:endParaRPr lang="nb-NO" dirty="0"/>
          </a:p>
          <a:p>
            <a:pPr marL="0" indent="0">
              <a:buFont typeface="Arial" pitchFamily="34"/>
              <a:buNone/>
            </a:pPr>
            <a:r>
              <a:rPr lang="nb-NO" dirty="0"/>
              <a:t>Åpne Photoshop</a:t>
            </a:r>
          </a:p>
        </p:txBody>
      </p:sp>
    </p:spTree>
    <p:extLst>
      <p:ext uri="{BB962C8B-B14F-4D97-AF65-F5344CB8AC3E}">
        <p14:creationId xmlns:p14="http://schemas.microsoft.com/office/powerpoint/2010/main" val="382727375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317</Words>
  <Application>Microsoft Office PowerPoint</Application>
  <PresentationFormat>Widescreen</PresentationFormat>
  <Paragraphs>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Avenir Next LT Pro</vt:lpstr>
      <vt:lpstr>AvenirNext LT Pro Medium</vt:lpstr>
      <vt:lpstr>Calibri</vt:lpstr>
      <vt:lpstr>Tenorite</vt:lpstr>
      <vt:lpstr>BlockprintVTI</vt:lpstr>
      <vt:lpstr>A-R-T-S Arbeidsmetode i medieteknikk og intuisjon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Analyse</vt:lpstr>
      <vt:lpstr>PowerPoint Presentation</vt:lpstr>
      <vt:lpstr>Hva har jeg lært? Photoshop</vt:lpstr>
      <vt:lpstr>PowerPoint Presentation</vt:lpstr>
      <vt:lpstr>PowerPoint Presentation</vt:lpstr>
      <vt:lpstr>Produksjonsmetode</vt:lpstr>
      <vt:lpstr>Oppgave 1 – Vi gjør denne sammen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Hvordan stjele</dc:title>
  <dc:creator>Sondre Kile Andersen</dc:creator>
  <cp:lastModifiedBy>Sondre Kile Andersen</cp:lastModifiedBy>
  <cp:revision>13</cp:revision>
  <dcterms:created xsi:type="dcterms:W3CDTF">2023-12-13T18:41:08Z</dcterms:created>
  <dcterms:modified xsi:type="dcterms:W3CDTF">2026-01-23T13:28:10Z</dcterms:modified>
</cp:coreProperties>
</file>