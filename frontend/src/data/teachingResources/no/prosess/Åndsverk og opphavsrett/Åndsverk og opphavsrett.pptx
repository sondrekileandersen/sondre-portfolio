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0" r:id="rId7"/>
    <p:sldId id="264" r:id="rId8"/>
    <p:sldId id="262" r:id="rId9"/>
    <p:sldId id="263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94660"/>
  </p:normalViewPr>
  <p:slideViewPr>
    <p:cSldViewPr snapToGrid="0">
      <p:cViewPr>
        <p:scale>
          <a:sx n="75" d="100"/>
          <a:sy n="75" d="100"/>
        </p:scale>
        <p:origin x="372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58457-A3E0-43F6-9EB5-939A4B36B2B4}" type="datetimeFigureOut">
              <a:rPr lang="nb-NO" smtClean="0"/>
              <a:t>27.01.2026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926EC-1B3C-4DB3-ABF1-A6AFB8E477E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77673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Fortell om rettsaken og kulturen med samples i hip-hop,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926EC-1B3C-4DB3-ABF1-A6AFB8E477ED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16755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dirty="0"/>
              <a:t>Vurder åndsverket i bildet til venstre.  Verket er av </a:t>
            </a:r>
            <a:r>
              <a:rPr lang="nb-NO" dirty="0" err="1"/>
              <a:t>Tilman</a:t>
            </a:r>
            <a:r>
              <a:rPr lang="nb-NO" dirty="0"/>
              <a:t> </a:t>
            </a:r>
            <a:r>
              <a:rPr lang="nb-NO" dirty="0" err="1"/>
              <a:t>Hornig</a:t>
            </a:r>
            <a:r>
              <a:rPr lang="nb-NO" dirty="0"/>
              <a:t> «</a:t>
            </a:r>
            <a:r>
              <a:rPr lang="nb-NO" dirty="0" err="1"/>
              <a:t>Glassphone</a:t>
            </a:r>
            <a:r>
              <a:rPr lang="nb-NO" dirty="0"/>
              <a:t>». Men hva med maleriet bak, som han ikke har laget?  </a:t>
            </a:r>
            <a:br>
              <a:rPr lang="nb-NO" dirty="0"/>
            </a:br>
            <a:br>
              <a:rPr lang="nb-NO" dirty="0"/>
            </a:br>
            <a:r>
              <a:rPr lang="nb-NO" dirty="0"/>
              <a:t>Men kan man kreve opphavsrett til alt man lager? Nei. Ikke designets byggesteiner: en farge, en font o.l.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nb-NO" dirty="0"/>
            </a:br>
            <a:br>
              <a:rPr lang="nb-NO" dirty="0"/>
            </a:br>
            <a:r>
              <a:rPr lang="nb-NO" dirty="0"/>
              <a:t>Men kan man kreve opphavsrett til alt man lager?</a:t>
            </a:r>
            <a:endParaRPr lang="en-US" dirty="0"/>
          </a:p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926EC-1B3C-4DB3-ABF1-A6AFB8E477ED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81571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n-NO" b="1" dirty="0"/>
              <a:t>§ 2.</a:t>
            </a:r>
            <a:r>
              <a:rPr lang="nn-NO" b="1" i="1" dirty="0"/>
              <a:t>Opphavsrett til åndsverk</a:t>
            </a:r>
            <a:r>
              <a:rPr lang="nn-NO" b="1" baseline="30000" dirty="0"/>
              <a:t>​</a:t>
            </a:r>
            <a:br>
              <a:rPr lang="nn-NO" b="1" baseline="30000" dirty="0"/>
            </a:br>
            <a:r>
              <a:rPr lang="nn-NO" b="1" baseline="30000" dirty="0"/>
              <a:t>Snakk også om </a:t>
            </a:r>
            <a:r>
              <a:rPr lang="nn-NO" b="1" baseline="30000" dirty="0" err="1"/>
              <a:t>opphavretten</a:t>
            </a:r>
            <a:r>
              <a:rPr lang="nn-NO" b="1" baseline="30000" dirty="0"/>
              <a:t>. </a:t>
            </a:r>
            <a:endParaRPr lang="nn-NO" b="1" dirty="0"/>
          </a:p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926EC-1B3C-4DB3-ABF1-A6AFB8E477ED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85573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0A600-D102-EA2C-2C11-A89FC5FA7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4CF51-D17A-4E23-C35A-A88B1AAF5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721E9-6B8E-6A1F-5269-0D07D0FCA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Fortell ape-historien: https://en.wikipedia.org/wiki/Monkey_selfie_copyright_dispute?utm_source=chatgpt.com</a:t>
            </a:r>
          </a:p>
          <a:p>
            <a:r>
              <a:rPr lang="nb-NO" dirty="0"/>
              <a:t>Så: Kan man trekke likhet mellom denne historien og opphavsrett med KI?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D30C2-D95C-DA23-1898-9F83ACE42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926EC-1B3C-4DB3-ABF1-A6AFB8E477ED}" type="slidenum">
              <a:rPr lang="nb-NO" smtClean="0"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03185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926EC-1B3C-4DB3-ABF1-A6AFB8E477ED}" type="slidenum">
              <a:rPr lang="nb-NO" smtClean="0"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60355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Hva med en prompt/ledetekst? Er dette nok menneskelig påvirkning til at man får opphavsrett? </a:t>
            </a:r>
            <a:br>
              <a:rPr lang="nb-NO" dirty="0"/>
            </a:br>
            <a:r>
              <a:rPr lang="nb-NO" dirty="0"/>
              <a:t>Svaret er: Ingen vet helt enda. Dette er såpass nytt at det ikke finnes konkrete rammer for åndsverk og 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926EC-1B3C-4DB3-ABF1-A6AFB8E477ED}" type="slidenum">
              <a:rPr lang="nb-NO" smtClean="0"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8005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9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41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97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402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200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5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871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2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84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75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76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65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01QQZyl-_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youtu.be/rog8ou-ZepE?si=tPwoi3zOn0mD-3E8&amp;t=41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snl.no/opphaver" TargetMode="External"/><Relationship Id="rId3" Type="http://schemas.openxmlformats.org/officeDocument/2006/relationships/hyperlink" Target="https://snl.no/film" TargetMode="External"/><Relationship Id="rId7" Type="http://schemas.openxmlformats.org/officeDocument/2006/relationships/hyperlink" Target="https://snl.no/opphavsrett" TargetMode="External"/><Relationship Id="rId2" Type="http://schemas.openxmlformats.org/officeDocument/2006/relationships/hyperlink" Target="https://snl.no/litter%C3%A6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nl.no/verksh%C3%B8yde" TargetMode="External"/><Relationship Id="rId5" Type="http://schemas.openxmlformats.org/officeDocument/2006/relationships/hyperlink" Target="https://snl.no/%C3%A5ndsverkloven" TargetMode="External"/><Relationship Id="rId4" Type="http://schemas.openxmlformats.org/officeDocument/2006/relationships/hyperlink" Target="https://snl.no/musikk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ovdata.no/dokument/NL/lov/2018-06-15-4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8AA40466-4C2A-3800-0F43-B6FBAE74B6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7EBA2-5619-5F4A-E043-5BDE03ACE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anchor="t">
            <a:normAutofit fontScale="90000"/>
          </a:bodyPr>
          <a:lstStyle/>
          <a:p>
            <a:r>
              <a:rPr lang="nb-NO" sz="6600" dirty="0"/>
              <a:t>Åndsverk og opphavsrett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16103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ADDB-8CC6-B449-7288-5B6C0C89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Queen &amp; David Bowie </a:t>
            </a:r>
            <a:r>
              <a:rPr lang="nb-NO" dirty="0" err="1"/>
              <a:t>vs</a:t>
            </a:r>
            <a:r>
              <a:rPr lang="nb-NO" dirty="0"/>
              <a:t> Vanilla </a:t>
            </a:r>
            <a:r>
              <a:rPr lang="nb-NO" dirty="0" err="1"/>
              <a:t>Ice</a:t>
            </a:r>
            <a:r>
              <a:rPr lang="nb-NO" dirty="0"/>
              <a:t> </a:t>
            </a:r>
          </a:p>
        </p:txBody>
      </p:sp>
      <p:pic>
        <p:nvPicPr>
          <p:cNvPr id="5" name="Content Placeholder 4">
            <a:hlinkClick r:id="rId3"/>
            <a:extLst>
              <a:ext uri="{FF2B5EF4-FFF2-40B4-BE49-F238E27FC236}">
                <a16:creationId xmlns:a16="http://schemas.microsoft.com/office/drawing/2014/main" id="{03FD1238-5471-3CA3-6B46-1A94CAAE8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12" y="1854032"/>
            <a:ext cx="4025560" cy="4025560"/>
          </a:xfrm>
        </p:spPr>
      </p:pic>
      <p:pic>
        <p:nvPicPr>
          <p:cNvPr id="7" name="Picture 6">
            <a:hlinkClick r:id="rId5"/>
            <a:extLst>
              <a:ext uri="{FF2B5EF4-FFF2-40B4-BE49-F238E27FC236}">
                <a16:creationId xmlns:a16="http://schemas.microsoft.com/office/drawing/2014/main" id="{D9B97A7C-2C39-7011-9536-44B55F7816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549" y="1854032"/>
            <a:ext cx="4025561" cy="402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916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CCD7A-FCDE-F2C5-BD91-D0E7285F4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Åndsverk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298F1-BEFE-05FE-297D-045196810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19793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nb-NO" dirty="0"/>
              <a:t>Fra SNL:</a:t>
            </a:r>
            <a:br>
              <a:rPr lang="nb-NO" dirty="0"/>
            </a:br>
            <a:r>
              <a:rPr lang="nb-NO" b="1" dirty="0"/>
              <a:t>Åndsverk</a:t>
            </a:r>
            <a:r>
              <a:rPr lang="nb-NO" dirty="0"/>
              <a:t> er verk som skyldes menneskelig tankevirksomhet; for eksempel et </a:t>
            </a:r>
            <a:r>
              <a:rPr lang="nb-NO" dirty="0">
                <a:hlinkClick r:id="rId2"/>
              </a:rPr>
              <a:t>litterært</a:t>
            </a:r>
            <a:r>
              <a:rPr lang="nb-NO" dirty="0"/>
              <a:t> verk, en </a:t>
            </a:r>
            <a:r>
              <a:rPr lang="nb-NO" dirty="0">
                <a:hlinkClick r:id="rId3"/>
              </a:rPr>
              <a:t>film</a:t>
            </a:r>
            <a:r>
              <a:rPr lang="nb-NO" dirty="0"/>
              <a:t>, et </a:t>
            </a:r>
            <a:r>
              <a:rPr lang="nb-NO" dirty="0">
                <a:hlinkClick r:id="rId4"/>
              </a:rPr>
              <a:t>musikkstykke</a:t>
            </a:r>
            <a:r>
              <a:rPr lang="nb-NO" dirty="0"/>
              <a:t> eller et kunstverk.</a:t>
            </a:r>
          </a:p>
          <a:p>
            <a:pPr marL="0" indent="0">
              <a:buNone/>
            </a:pPr>
            <a:r>
              <a:rPr lang="nb-NO" dirty="0"/>
              <a:t>Et åndsverk omfatter etter </a:t>
            </a:r>
            <a:r>
              <a:rPr lang="nb-NO" dirty="0">
                <a:hlinkClick r:id="rId5"/>
              </a:rPr>
              <a:t>åndsverksloven</a:t>
            </a:r>
            <a:r>
              <a:rPr lang="nb-NO" dirty="0"/>
              <a:t> verk av enhver art og uttrykksmåte, såfremt det er preget av et visst minimum av skapende innsats fra opphavsmannens side (</a:t>
            </a:r>
            <a:r>
              <a:rPr lang="nb-NO" dirty="0">
                <a:hlinkClick r:id="rId6"/>
              </a:rPr>
              <a:t>verkshøyde</a:t>
            </a:r>
            <a:r>
              <a:rPr lang="nb-NO" dirty="0"/>
              <a:t>).</a:t>
            </a:r>
          </a:p>
          <a:p>
            <a:pPr marL="0" indent="0">
              <a:buNone/>
            </a:pPr>
            <a:r>
              <a:rPr lang="nb-NO" dirty="0"/>
              <a:t>Den som skaper et åndsverk har </a:t>
            </a:r>
            <a:r>
              <a:rPr lang="nb-NO" dirty="0">
                <a:hlinkClick r:id="rId7"/>
              </a:rPr>
              <a:t>opphavsrett</a:t>
            </a:r>
            <a:r>
              <a:rPr lang="nb-NO" dirty="0"/>
              <a:t> til verket, og betegnes som </a:t>
            </a:r>
            <a:r>
              <a:rPr lang="nb-NO" dirty="0" err="1">
                <a:hlinkClick r:id="rId8"/>
              </a:rPr>
              <a:t>opphaver</a:t>
            </a:r>
            <a:r>
              <a:rPr lang="nb-NO" dirty="0"/>
              <a:t>.</a:t>
            </a:r>
          </a:p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807898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C32CD27-7027-AB2B-38F1-71C08EB84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A59C2-088F-8888-64DA-872656C3D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1536" y="978408"/>
            <a:ext cx="6236208" cy="1463040"/>
          </a:xfrm>
        </p:spPr>
        <p:txBody>
          <a:bodyPr>
            <a:normAutofit/>
          </a:bodyPr>
          <a:lstStyle/>
          <a:p>
            <a:r>
              <a:rPr lang="nb-NO" dirty="0"/>
              <a:t>Hva er åndsverket her?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9F3987-3988-00F8-65CC-885DAEBBD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45" b="1"/>
          <a:stretch>
            <a:fillRect/>
          </a:stretch>
        </p:blipFill>
        <p:spPr>
          <a:xfrm>
            <a:off x="517869" y="508091"/>
            <a:ext cx="4221911" cy="5837918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6DD38CD-CFFE-4ABA-3DC8-01ED90559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4611" y="508090"/>
            <a:ext cx="6186474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4FCDE1-0715-ADB7-EECE-9F61F6285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1536" y="2578608"/>
            <a:ext cx="6236208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/>
              <a:t>Når blir det ditt eget åndsverk?</a:t>
            </a:r>
          </a:p>
          <a:p>
            <a:r>
              <a:rPr lang="nb-NO" dirty="0"/>
              <a:t>Transformativt</a:t>
            </a:r>
          </a:p>
          <a:p>
            <a:r>
              <a:rPr lang="nb-NO" dirty="0"/>
              <a:t>Etterspørsel for det originale produktet blir ikke dårligere  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Men kan man kreve opphavsrett til alt man lager?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254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CD8E4-CA2E-4B79-CC44-99E54B194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7" name="Content Placeholder 6">
            <a:hlinkClick r:id="rId3"/>
            <a:extLst>
              <a:ext uri="{FF2B5EF4-FFF2-40B4-BE49-F238E27FC236}">
                <a16:creationId xmlns:a16="http://schemas.microsoft.com/office/drawing/2014/main" id="{6194313A-6682-80C9-D9EA-2F5582D34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59" y="0"/>
            <a:ext cx="11578682" cy="6858000"/>
          </a:xfrm>
        </p:spPr>
      </p:pic>
    </p:spTree>
    <p:extLst>
      <p:ext uri="{BB962C8B-B14F-4D97-AF65-F5344CB8AC3E}">
        <p14:creationId xmlns:p14="http://schemas.microsoft.com/office/powerpoint/2010/main" val="2631291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ECED-23C9-9DCF-1512-66FC2E8AE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Stratos </a:t>
            </a:r>
            <a:r>
              <a:rPr lang="nb-NO" dirty="0" err="1"/>
              <a:t>vs</a:t>
            </a:r>
            <a:r>
              <a:rPr lang="nb-NO" dirty="0"/>
              <a:t> Boble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9AB42-935E-4FEC-7149-131FADC5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3" y="2014615"/>
            <a:ext cx="5306954" cy="40273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/>
              <a:t>Man kan ikke ha enerett på farger (selv om noen prøver), men fargekombinasjoner i liknende konkurrerende kontekst kan være åndsverksbeskyttet. </a:t>
            </a:r>
            <a:br>
              <a:rPr lang="nb-NO" dirty="0"/>
            </a:br>
            <a:br>
              <a:rPr lang="nb-NO" dirty="0"/>
            </a:br>
            <a:r>
              <a:rPr lang="nb-NO" dirty="0"/>
              <a:t>Alle redigeringsverktøy følger med ulike fonter man kan bruke. Noen fonter kan også lastes ned og kjøpes med riktig lisens </a:t>
            </a:r>
            <a:br>
              <a:rPr lang="nb-NO" dirty="0"/>
            </a:br>
            <a:br>
              <a:rPr lang="nb-NO" dirty="0"/>
            </a:br>
            <a:r>
              <a:rPr lang="nb-NO" dirty="0"/>
              <a:t>Noen selskaper lager også egne fonter for at andre ikke kan brukes deres design. Dette har de opphavsrett på, og er åndsverksbeskyttet.</a:t>
            </a:r>
          </a:p>
        </p:txBody>
      </p:sp>
      <p:pic>
        <p:nvPicPr>
          <p:cNvPr id="1026" name="Picture 2" descr="Knusende Boble-dom for Freia">
            <a:extLst>
              <a:ext uri="{FF2B5EF4-FFF2-40B4-BE49-F238E27FC236}">
                <a16:creationId xmlns:a16="http://schemas.microsoft.com/office/drawing/2014/main" id="{33A0B01E-DF2B-0529-791F-53DBF3567F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5" r="6935"/>
          <a:stretch>
            <a:fillRect/>
          </a:stretch>
        </p:blipFill>
        <p:spPr bwMode="auto">
          <a:xfrm>
            <a:off x="6369935" y="2152892"/>
            <a:ext cx="5222491" cy="35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746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A1736-6730-EEC6-9CD7-01F4C3405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996E4-DFBD-60FD-891C-F977BE86A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1" y="978408"/>
            <a:ext cx="5299606" cy="30473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dirty="0" err="1"/>
              <a:t>Opphavsrett</a:t>
            </a:r>
            <a:r>
              <a:rPr lang="en-US" sz="6600" dirty="0"/>
              <a:t> </a:t>
            </a:r>
            <a:r>
              <a:rPr lang="en-US" sz="6600" dirty="0" err="1"/>
              <a:t>og</a:t>
            </a:r>
            <a:r>
              <a:rPr lang="en-US" sz="6600" dirty="0"/>
              <a:t> KI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781D64-C6DE-64CA-AAC9-3A93CBDAFA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170" y="-296405"/>
            <a:ext cx="4954782" cy="745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314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7A7C490-FB0D-4946-BDB7-1CF2F58DA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3B72EF-1A87-BAF2-C29B-B4B91E332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1" y="978408"/>
            <a:ext cx="5299606" cy="30473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dirty="0" err="1"/>
              <a:t>Opphavsrett</a:t>
            </a:r>
            <a:r>
              <a:rPr lang="en-US" sz="6600" dirty="0"/>
              <a:t> </a:t>
            </a:r>
            <a:r>
              <a:rPr lang="en-US" sz="6600" dirty="0" err="1"/>
              <a:t>og</a:t>
            </a:r>
            <a:r>
              <a:rPr lang="en-US" sz="6600" dirty="0"/>
              <a:t> KI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61CD1D-C921-4DD4-B856-8EA1D71A4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49513" y="6209925"/>
            <a:ext cx="445472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870849-21CF-8305-12A5-B3E9A58F8B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170" y="-296405"/>
            <a:ext cx="4954782" cy="745080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8241DD-B5F2-B1D1-53E2-61BA036FDFA7}"/>
              </a:ext>
            </a:extLst>
          </p:cNvPr>
          <p:cNvSpPr txBox="1">
            <a:spLocks/>
          </p:cNvSpPr>
          <p:nvPr/>
        </p:nvSpPr>
        <p:spPr>
          <a:xfrm>
            <a:off x="487184" y="3238869"/>
            <a:ext cx="6029363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/>
              <a:t>Et verk uten menneskelig opphav får ikke opphavsrett i tradisjonell forstand. I den saken ble det argumentert for at apen “skapte” bildet ved å trykke på utløseren, og resultatet ble brukt til å understreke at opphavsrett er knyttet til menneskelig skapende innsats (ikke dyr, naturprosesser osv.).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/>
              <a:t>Det er akkurat denne logikken mange trekker inn i KI-saker.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175587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4E380-4EDD-62CF-15E9-8EE6BB86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Opphavsrett for KI-genererte bilder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8491C-6841-72D7-173A-83D97E3D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574792" cy="3767328"/>
          </a:xfrm>
        </p:spPr>
        <p:txBody>
          <a:bodyPr/>
          <a:lstStyle/>
          <a:p>
            <a:pPr marL="0" indent="0">
              <a:buNone/>
            </a:pPr>
            <a:r>
              <a:rPr lang="nb-NO" dirty="0"/>
              <a:t>Å legge til rette for </a:t>
            </a:r>
            <a:r>
              <a:rPr lang="nb-NO" dirty="0" err="1"/>
              <a:t>muligjøringen</a:t>
            </a:r>
            <a:r>
              <a:rPr lang="nb-NO" dirty="0"/>
              <a:t> til skapelsen av et åndsverk er ikke nok. </a:t>
            </a:r>
            <a:r>
              <a:rPr lang="nb-NO" dirty="0" err="1"/>
              <a:t>f.eks</a:t>
            </a:r>
            <a:r>
              <a:rPr lang="nb-NO" dirty="0"/>
              <a:t>:</a:t>
            </a:r>
          </a:p>
          <a:p>
            <a:r>
              <a:rPr lang="nb-NO" dirty="0"/>
              <a:t>Software - Photoshop, Figma, Illustrator</a:t>
            </a:r>
          </a:p>
          <a:p>
            <a:r>
              <a:rPr lang="nb-NO" dirty="0"/>
              <a:t>Tjenester: Midjourney, Chat GPT</a:t>
            </a:r>
          </a:p>
          <a:p>
            <a:pPr marL="0" indent="0">
              <a:buNone/>
            </a:pPr>
            <a:r>
              <a:rPr lang="nb-NO" u="sng" dirty="0"/>
              <a:t>Skaperen av verktøyet har ikke opphavsrett</a:t>
            </a:r>
            <a:br>
              <a:rPr lang="nb-NO" dirty="0"/>
            </a:br>
            <a:br>
              <a:rPr lang="nb-NO" dirty="0"/>
            </a:br>
            <a:r>
              <a:rPr lang="nb-NO" dirty="0"/>
              <a:t>Uten menneskelig påvirkning vil ingen få </a:t>
            </a:r>
            <a:r>
              <a:rPr lang="nb-NO" dirty="0" err="1"/>
              <a:t>opphavretten</a:t>
            </a:r>
            <a:r>
              <a:rPr lang="nb-NO" dirty="0"/>
              <a:t>. </a:t>
            </a:r>
            <a:br>
              <a:rPr lang="nb-NO" dirty="0"/>
            </a:br>
            <a:br>
              <a:rPr lang="nb-NO" dirty="0"/>
            </a:br>
            <a:r>
              <a:rPr lang="nb-NO" dirty="0"/>
              <a:t>Hva med en prompt/ledetekst?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C3DBE2-56BA-0BF2-320A-22E3D7644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635" y="2701862"/>
            <a:ext cx="5010157" cy="282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7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3A696-AA19-0981-A600-5D54B9A15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Lisenser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A062A-68F9-5DA4-8865-17304D31F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412992" cy="3767328"/>
          </a:xfrm>
        </p:spPr>
        <p:txBody>
          <a:bodyPr/>
          <a:lstStyle/>
          <a:p>
            <a:pPr marL="0" indent="0">
              <a:buNone/>
            </a:pPr>
            <a:r>
              <a:rPr lang="nb-NO" dirty="0"/>
              <a:t>En lisensavtale forteller hvordan du kan bruke andres åndsverk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Forteller også hvordan man skal kreditere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Lisensavtaler er forskjellige mellom plattformer og avtaler 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Om det ikke står eksplisitt noe sted om at et verk er gratis å bruke, så bør man regne med at den </a:t>
            </a:r>
            <a:r>
              <a:rPr lang="nb-NO" u="sng" dirty="0"/>
              <a:t>ikke</a:t>
            </a:r>
            <a:r>
              <a:rPr lang="nb-NO" dirty="0"/>
              <a:t> er det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45E255-26CE-2BAB-8915-D2F40EB68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333" y="1252259"/>
            <a:ext cx="3866606" cy="40740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D88736-00F4-AF0E-400C-B5D591F87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333" y="5334224"/>
            <a:ext cx="2724530" cy="88594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95B33A-D0D3-A8C8-5313-77C501EC0BEF}"/>
              </a:ext>
            </a:extLst>
          </p:cNvPr>
          <p:cNvCxnSpPr>
            <a:cxnSpLocks/>
          </p:cNvCxnSpPr>
          <p:nvPr/>
        </p:nvCxnSpPr>
        <p:spPr>
          <a:xfrm>
            <a:off x="9223703" y="6108535"/>
            <a:ext cx="10140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626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E6B571-0613-F5A3-33B5-176E54750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796" y="1276228"/>
            <a:ext cx="7078408" cy="430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352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794A3-3F9F-E98E-1C4F-629D87BAE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Tips: Bilder som er gratis å bruke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E332B-B6FF-627A-77E3-5CA5FD5DB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276856"/>
            <a:ext cx="4101119" cy="3767328"/>
          </a:xfrm>
        </p:spPr>
        <p:txBody>
          <a:bodyPr/>
          <a:lstStyle/>
          <a:p>
            <a:r>
              <a:rPr lang="nb-NO" dirty="0"/>
              <a:t>Creative </a:t>
            </a:r>
            <a:r>
              <a:rPr lang="nb-NO" dirty="0" err="1"/>
              <a:t>Commons</a:t>
            </a:r>
            <a:endParaRPr lang="nb-NO" dirty="0"/>
          </a:p>
          <a:p>
            <a:r>
              <a:rPr lang="nb-NO" dirty="0"/>
              <a:t>Unsplash.com</a:t>
            </a:r>
          </a:p>
          <a:p>
            <a:r>
              <a:rPr lang="nb-NO" dirty="0"/>
              <a:t>Pexels.com</a:t>
            </a:r>
          </a:p>
          <a:p>
            <a:endParaRPr lang="nb-NO" dirty="0"/>
          </a:p>
          <a:p>
            <a:r>
              <a:rPr lang="nb-NO" dirty="0"/>
              <a:t>… og mange, mange flere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Husk også at i skolesammenheng blir man kun vurdert på sitt eget åndsverk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39DB70-3FEA-9A57-685E-18D1049E1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631" y="2094480"/>
            <a:ext cx="7296900" cy="378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64501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582</Words>
  <Application>Microsoft Office PowerPoint</Application>
  <PresentationFormat>Widescreen</PresentationFormat>
  <Paragraphs>52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Bierstadt</vt:lpstr>
      <vt:lpstr>Neue Haas Grotesk Text Pro</vt:lpstr>
      <vt:lpstr>GestaltVTI</vt:lpstr>
      <vt:lpstr>Åndsverk og opphavsrett</vt:lpstr>
      <vt:lpstr>Queen &amp; David Bowie vs Vanilla Ice </vt:lpstr>
      <vt:lpstr>Åndsverk</vt:lpstr>
      <vt:lpstr>Hva er åndsverket her?</vt:lpstr>
      <vt:lpstr>PowerPoint Presentation</vt:lpstr>
      <vt:lpstr>Stratos vs Boble</vt:lpstr>
      <vt:lpstr>Opphavsrett og KI</vt:lpstr>
      <vt:lpstr>Opphavsrett og KI</vt:lpstr>
      <vt:lpstr>Opphavsrett for KI-genererte bilder</vt:lpstr>
      <vt:lpstr>Lisenser</vt:lpstr>
      <vt:lpstr>PowerPoint Presentation</vt:lpstr>
      <vt:lpstr>Tips: Bilder som er gratis å bruke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Sondre Kile Andersen</dc:creator>
  <cp:lastModifiedBy>Sondre Kile Andersen</cp:lastModifiedBy>
  <cp:revision>2</cp:revision>
  <dcterms:created xsi:type="dcterms:W3CDTF">2026-01-27T09:36:05Z</dcterms:created>
  <dcterms:modified xsi:type="dcterms:W3CDTF">2026-01-27T10:25:39Z</dcterms:modified>
</cp:coreProperties>
</file>