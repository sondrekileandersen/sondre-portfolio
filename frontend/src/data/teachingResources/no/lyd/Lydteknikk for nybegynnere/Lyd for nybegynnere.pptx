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3"/>
  </p:sldMasterIdLst>
  <p:sldIdLst>
    <p:sldId id="256" r:id="rId4"/>
    <p:sldId id="258" r:id="rId5"/>
    <p:sldId id="263" r:id="rId6"/>
    <p:sldId id="261" r:id="rId7"/>
    <p:sldId id="264" r:id="rId8"/>
    <p:sldId id="265" r:id="rId9"/>
    <p:sldId id="260" r:id="rId10"/>
    <p:sldId id="268" r:id="rId11"/>
    <p:sldId id="271" r:id="rId12"/>
    <p:sldId id="262" r:id="rId13"/>
    <p:sldId id="272" r:id="rId14"/>
    <p:sldId id="274" r:id="rId15"/>
    <p:sldId id="273" r:id="rId16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94"/>
  </p:normalViewPr>
  <p:slideViewPr>
    <p:cSldViewPr snapToGrid="0">
      <p:cViewPr varScale="1">
        <p:scale>
          <a:sx n="90" d="100"/>
          <a:sy n="90" d="100"/>
        </p:scale>
        <p:origin x="4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994160-195E-404F-A20C-A6F70F2EECE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53D30F8-DEF2-4038-8191-C92CF71979E9}">
      <dgm:prSet/>
      <dgm:spPr/>
      <dgm:t>
        <a:bodyPr/>
        <a:lstStyle/>
        <a:p>
          <a:r>
            <a:rPr lang="en-US" dirty="0" err="1"/>
            <a:t>Vurdere</a:t>
          </a:r>
          <a:r>
            <a:rPr lang="en-US" dirty="0"/>
            <a:t> </a:t>
          </a:r>
          <a:r>
            <a:rPr lang="en-US" dirty="0" err="1"/>
            <a:t>ulike</a:t>
          </a:r>
          <a:r>
            <a:rPr lang="en-US" dirty="0"/>
            <a:t> </a:t>
          </a:r>
          <a:r>
            <a:rPr lang="en-US" dirty="0" err="1"/>
            <a:t>scenarioer</a:t>
          </a:r>
          <a:r>
            <a:rPr lang="en-US" dirty="0"/>
            <a:t> </a:t>
          </a:r>
          <a:r>
            <a:rPr lang="en-US" dirty="0" err="1"/>
            <a:t>som</a:t>
          </a:r>
          <a:r>
            <a:rPr lang="en-US" dirty="0"/>
            <a:t> </a:t>
          </a:r>
          <a:r>
            <a:rPr lang="en-US" dirty="0" err="1"/>
            <a:t>trenger</a:t>
          </a:r>
          <a:r>
            <a:rPr lang="en-US" dirty="0"/>
            <a:t> </a:t>
          </a:r>
          <a:r>
            <a:rPr lang="en-US" dirty="0" err="1"/>
            <a:t>lyd</a:t>
          </a:r>
          <a:endParaRPr lang="en-US" dirty="0"/>
        </a:p>
      </dgm:t>
    </dgm:pt>
    <dgm:pt modelId="{1CFA4F36-9F50-446C-8914-2E20DCD8696A}" type="parTrans" cxnId="{8333C76C-AFB6-4DED-A9D5-AA54474BC1E8}">
      <dgm:prSet/>
      <dgm:spPr/>
      <dgm:t>
        <a:bodyPr/>
        <a:lstStyle/>
        <a:p>
          <a:endParaRPr lang="en-US"/>
        </a:p>
      </dgm:t>
    </dgm:pt>
    <dgm:pt modelId="{B1FDB1CD-524C-4CF0-AED9-DAEE555084BB}" type="sibTrans" cxnId="{8333C76C-AFB6-4DED-A9D5-AA54474BC1E8}">
      <dgm:prSet/>
      <dgm:spPr/>
      <dgm:t>
        <a:bodyPr/>
        <a:lstStyle/>
        <a:p>
          <a:endParaRPr lang="en-US"/>
        </a:p>
      </dgm:t>
    </dgm:pt>
    <dgm:pt modelId="{70220DE9-D576-4724-8B59-65657AD64C0E}">
      <dgm:prSet/>
      <dgm:spPr/>
      <dgm:t>
        <a:bodyPr/>
        <a:lstStyle/>
        <a:p>
          <a:r>
            <a:rPr lang="en-US"/>
            <a:t>Vurdere utstyret som trengs</a:t>
          </a:r>
        </a:p>
      </dgm:t>
    </dgm:pt>
    <dgm:pt modelId="{8E6EF1E2-7E0C-4A3A-AD84-3ED9E5B73CA7}" type="parTrans" cxnId="{67C8D30E-C359-4D21-A4B8-4FC612111DC5}">
      <dgm:prSet/>
      <dgm:spPr/>
      <dgm:t>
        <a:bodyPr/>
        <a:lstStyle/>
        <a:p>
          <a:endParaRPr lang="en-US"/>
        </a:p>
      </dgm:t>
    </dgm:pt>
    <dgm:pt modelId="{BEEC7808-8F6C-4160-BAC9-5A7D431C7E02}" type="sibTrans" cxnId="{67C8D30E-C359-4D21-A4B8-4FC612111DC5}">
      <dgm:prSet/>
      <dgm:spPr/>
      <dgm:t>
        <a:bodyPr/>
        <a:lstStyle/>
        <a:p>
          <a:endParaRPr lang="en-US"/>
        </a:p>
      </dgm:t>
    </dgm:pt>
    <dgm:pt modelId="{7FE9E376-EC87-4EB4-A783-72758FAF51C2}" type="pres">
      <dgm:prSet presAssocID="{DD994160-195E-404F-A20C-A6F70F2EECE9}" presName="root" presStyleCnt="0">
        <dgm:presLayoutVars>
          <dgm:dir/>
          <dgm:resizeHandles val="exact"/>
        </dgm:presLayoutVars>
      </dgm:prSet>
      <dgm:spPr/>
    </dgm:pt>
    <dgm:pt modelId="{AE07C80E-AC24-4D4E-80F6-B419DACB51A8}" type="pres">
      <dgm:prSet presAssocID="{253D30F8-DEF2-4038-8191-C92CF71979E9}" presName="compNode" presStyleCnt="0"/>
      <dgm:spPr/>
    </dgm:pt>
    <dgm:pt modelId="{50F5813B-244D-4849-AA08-04A51CC87EAC}" type="pres">
      <dgm:prSet presAssocID="{253D30F8-DEF2-4038-8191-C92CF71979E9}" presName="bgRect" presStyleLbl="bgShp" presStyleIdx="0" presStyleCnt="2"/>
      <dgm:spPr/>
    </dgm:pt>
    <dgm:pt modelId="{19C21E9C-1CA5-4A7E-8A77-2EA69A6FFE50}" type="pres">
      <dgm:prSet presAssocID="{253D30F8-DEF2-4038-8191-C92CF71979E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72F1DF42-EFB2-4FCC-8B19-F0E10952C391}" type="pres">
      <dgm:prSet presAssocID="{253D30F8-DEF2-4038-8191-C92CF71979E9}" presName="spaceRect" presStyleCnt="0"/>
      <dgm:spPr/>
    </dgm:pt>
    <dgm:pt modelId="{1F155E0C-AB4D-4F08-8F4E-B2678E74F796}" type="pres">
      <dgm:prSet presAssocID="{253D30F8-DEF2-4038-8191-C92CF71979E9}" presName="parTx" presStyleLbl="revTx" presStyleIdx="0" presStyleCnt="2">
        <dgm:presLayoutVars>
          <dgm:chMax val="0"/>
          <dgm:chPref val="0"/>
        </dgm:presLayoutVars>
      </dgm:prSet>
      <dgm:spPr/>
    </dgm:pt>
    <dgm:pt modelId="{818A9B05-49DA-4429-9453-7F107140B830}" type="pres">
      <dgm:prSet presAssocID="{B1FDB1CD-524C-4CF0-AED9-DAEE555084BB}" presName="sibTrans" presStyleCnt="0"/>
      <dgm:spPr/>
    </dgm:pt>
    <dgm:pt modelId="{420B317D-74D7-421F-9162-ADF9CB72CC99}" type="pres">
      <dgm:prSet presAssocID="{70220DE9-D576-4724-8B59-65657AD64C0E}" presName="compNode" presStyleCnt="0"/>
      <dgm:spPr/>
    </dgm:pt>
    <dgm:pt modelId="{0F3D68F6-8CEA-48D2-87EE-AE1633C5B52A}" type="pres">
      <dgm:prSet presAssocID="{70220DE9-D576-4724-8B59-65657AD64C0E}" presName="bgRect" presStyleLbl="bgShp" presStyleIdx="1" presStyleCnt="2"/>
      <dgm:spPr/>
    </dgm:pt>
    <dgm:pt modelId="{FE68B347-8B12-4B14-862A-BEDCAEEDBBCF}" type="pres">
      <dgm:prSet presAssocID="{70220DE9-D576-4724-8B59-65657AD64C0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FC65AF7F-B192-4B1A-873F-E7CAC6FCB94B}" type="pres">
      <dgm:prSet presAssocID="{70220DE9-D576-4724-8B59-65657AD64C0E}" presName="spaceRect" presStyleCnt="0"/>
      <dgm:spPr/>
    </dgm:pt>
    <dgm:pt modelId="{10583CBD-8927-43B3-84F5-95B4EFC6BD29}" type="pres">
      <dgm:prSet presAssocID="{70220DE9-D576-4724-8B59-65657AD64C0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0D77804-F04A-4C26-9676-0CC8D6C59195}" type="presOf" srcId="{253D30F8-DEF2-4038-8191-C92CF71979E9}" destId="{1F155E0C-AB4D-4F08-8F4E-B2678E74F796}" srcOrd="0" destOrd="0" presId="urn:microsoft.com/office/officeart/2018/2/layout/IconVerticalSolidList"/>
    <dgm:cxn modelId="{67C8D30E-C359-4D21-A4B8-4FC612111DC5}" srcId="{DD994160-195E-404F-A20C-A6F70F2EECE9}" destId="{70220DE9-D576-4724-8B59-65657AD64C0E}" srcOrd="1" destOrd="0" parTransId="{8E6EF1E2-7E0C-4A3A-AD84-3ED9E5B73CA7}" sibTransId="{BEEC7808-8F6C-4160-BAC9-5A7D431C7E02}"/>
    <dgm:cxn modelId="{A137C43A-E90E-48B7-BADE-8BBDD52AB240}" type="presOf" srcId="{70220DE9-D576-4724-8B59-65657AD64C0E}" destId="{10583CBD-8927-43B3-84F5-95B4EFC6BD29}" srcOrd="0" destOrd="0" presId="urn:microsoft.com/office/officeart/2018/2/layout/IconVerticalSolidList"/>
    <dgm:cxn modelId="{8333C76C-AFB6-4DED-A9D5-AA54474BC1E8}" srcId="{DD994160-195E-404F-A20C-A6F70F2EECE9}" destId="{253D30F8-DEF2-4038-8191-C92CF71979E9}" srcOrd="0" destOrd="0" parTransId="{1CFA4F36-9F50-446C-8914-2E20DCD8696A}" sibTransId="{B1FDB1CD-524C-4CF0-AED9-DAEE555084BB}"/>
    <dgm:cxn modelId="{A1F77D79-3E03-490C-876A-69B733D8BA46}" type="presOf" srcId="{DD994160-195E-404F-A20C-A6F70F2EECE9}" destId="{7FE9E376-EC87-4EB4-A783-72758FAF51C2}" srcOrd="0" destOrd="0" presId="urn:microsoft.com/office/officeart/2018/2/layout/IconVerticalSolidList"/>
    <dgm:cxn modelId="{AC759B59-21A6-4ED7-996F-22290E23CFDE}" type="presParOf" srcId="{7FE9E376-EC87-4EB4-A783-72758FAF51C2}" destId="{AE07C80E-AC24-4D4E-80F6-B419DACB51A8}" srcOrd="0" destOrd="0" presId="urn:microsoft.com/office/officeart/2018/2/layout/IconVerticalSolidList"/>
    <dgm:cxn modelId="{6BA3425A-3C16-4F90-9F1A-EB4A64185A5E}" type="presParOf" srcId="{AE07C80E-AC24-4D4E-80F6-B419DACB51A8}" destId="{50F5813B-244D-4849-AA08-04A51CC87EAC}" srcOrd="0" destOrd="0" presId="urn:microsoft.com/office/officeart/2018/2/layout/IconVerticalSolidList"/>
    <dgm:cxn modelId="{06A1AC35-C646-4B2A-9421-59D2DFA0C066}" type="presParOf" srcId="{AE07C80E-AC24-4D4E-80F6-B419DACB51A8}" destId="{19C21E9C-1CA5-4A7E-8A77-2EA69A6FFE50}" srcOrd="1" destOrd="0" presId="urn:microsoft.com/office/officeart/2018/2/layout/IconVerticalSolidList"/>
    <dgm:cxn modelId="{A4B4305C-6789-4D55-943E-CA587B4C6D88}" type="presParOf" srcId="{AE07C80E-AC24-4D4E-80F6-B419DACB51A8}" destId="{72F1DF42-EFB2-4FCC-8B19-F0E10952C391}" srcOrd="2" destOrd="0" presId="urn:microsoft.com/office/officeart/2018/2/layout/IconVerticalSolidList"/>
    <dgm:cxn modelId="{92079C12-BC22-4736-A2AF-5A42476C8B98}" type="presParOf" srcId="{AE07C80E-AC24-4D4E-80F6-B419DACB51A8}" destId="{1F155E0C-AB4D-4F08-8F4E-B2678E74F796}" srcOrd="3" destOrd="0" presId="urn:microsoft.com/office/officeart/2018/2/layout/IconVerticalSolidList"/>
    <dgm:cxn modelId="{ABFEC80A-73EE-4B31-8A92-8768E6172BCA}" type="presParOf" srcId="{7FE9E376-EC87-4EB4-A783-72758FAF51C2}" destId="{818A9B05-49DA-4429-9453-7F107140B830}" srcOrd="1" destOrd="0" presId="urn:microsoft.com/office/officeart/2018/2/layout/IconVerticalSolidList"/>
    <dgm:cxn modelId="{0DD2A61B-F9B2-4874-A21D-C170A390139B}" type="presParOf" srcId="{7FE9E376-EC87-4EB4-A783-72758FAF51C2}" destId="{420B317D-74D7-421F-9162-ADF9CB72CC99}" srcOrd="2" destOrd="0" presId="urn:microsoft.com/office/officeart/2018/2/layout/IconVerticalSolidList"/>
    <dgm:cxn modelId="{09D10704-56BE-43B0-BDF3-A5CBD2C68C49}" type="presParOf" srcId="{420B317D-74D7-421F-9162-ADF9CB72CC99}" destId="{0F3D68F6-8CEA-48D2-87EE-AE1633C5B52A}" srcOrd="0" destOrd="0" presId="urn:microsoft.com/office/officeart/2018/2/layout/IconVerticalSolidList"/>
    <dgm:cxn modelId="{74BC9F0D-1187-4E85-A85F-798153FDD50C}" type="presParOf" srcId="{420B317D-74D7-421F-9162-ADF9CB72CC99}" destId="{FE68B347-8B12-4B14-862A-BEDCAEEDBBCF}" srcOrd="1" destOrd="0" presId="urn:microsoft.com/office/officeart/2018/2/layout/IconVerticalSolidList"/>
    <dgm:cxn modelId="{61E59984-A7AD-4A5D-8243-085C57D18FAB}" type="presParOf" srcId="{420B317D-74D7-421F-9162-ADF9CB72CC99}" destId="{FC65AF7F-B192-4B1A-873F-E7CAC6FCB94B}" srcOrd="2" destOrd="0" presId="urn:microsoft.com/office/officeart/2018/2/layout/IconVerticalSolidList"/>
    <dgm:cxn modelId="{974C616E-43BD-47DC-87AA-86A71C0B3EDA}" type="presParOf" srcId="{420B317D-74D7-421F-9162-ADF9CB72CC99}" destId="{10583CBD-8927-43B3-84F5-95B4EFC6BD2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F5813B-244D-4849-AA08-04A51CC87EAC}">
      <dsp:nvSpPr>
        <dsp:cNvPr id="0" name=""/>
        <dsp:cNvSpPr/>
      </dsp:nvSpPr>
      <dsp:spPr>
        <a:xfrm>
          <a:off x="0" y="908268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C21E9C-1CA5-4A7E-8A77-2EA69A6FFE50}">
      <dsp:nvSpPr>
        <dsp:cNvPr id="0" name=""/>
        <dsp:cNvSpPr/>
      </dsp:nvSpPr>
      <dsp:spPr>
        <a:xfrm>
          <a:off x="507233" y="1285549"/>
          <a:ext cx="922242" cy="9222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55E0C-AB4D-4F08-8F4E-B2678E74F796}">
      <dsp:nvSpPr>
        <dsp:cNvPr id="0" name=""/>
        <dsp:cNvSpPr/>
      </dsp:nvSpPr>
      <dsp:spPr>
        <a:xfrm>
          <a:off x="1936708" y="908268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Vurdere</a:t>
          </a:r>
          <a:r>
            <a:rPr lang="en-US" sz="2500" kern="1200" dirty="0"/>
            <a:t> </a:t>
          </a:r>
          <a:r>
            <a:rPr lang="en-US" sz="2500" kern="1200" dirty="0" err="1"/>
            <a:t>ulike</a:t>
          </a:r>
          <a:r>
            <a:rPr lang="en-US" sz="2500" kern="1200" dirty="0"/>
            <a:t> </a:t>
          </a:r>
          <a:r>
            <a:rPr lang="en-US" sz="2500" kern="1200" dirty="0" err="1"/>
            <a:t>scenarioer</a:t>
          </a:r>
          <a:r>
            <a:rPr lang="en-US" sz="2500" kern="1200" dirty="0"/>
            <a:t> </a:t>
          </a:r>
          <a:r>
            <a:rPr lang="en-US" sz="2500" kern="1200" dirty="0" err="1"/>
            <a:t>som</a:t>
          </a:r>
          <a:r>
            <a:rPr lang="en-US" sz="2500" kern="1200" dirty="0"/>
            <a:t> </a:t>
          </a:r>
          <a:r>
            <a:rPr lang="en-US" sz="2500" kern="1200" dirty="0" err="1"/>
            <a:t>trenger</a:t>
          </a:r>
          <a:r>
            <a:rPr lang="en-US" sz="2500" kern="1200" dirty="0"/>
            <a:t> </a:t>
          </a:r>
          <a:r>
            <a:rPr lang="en-US" sz="2500" kern="1200" dirty="0" err="1"/>
            <a:t>lyd</a:t>
          </a:r>
          <a:endParaRPr lang="en-US" sz="2500" kern="1200" dirty="0"/>
        </a:p>
      </dsp:txBody>
      <dsp:txXfrm>
        <a:off x="1936708" y="908268"/>
        <a:ext cx="4308556" cy="1676804"/>
      </dsp:txXfrm>
    </dsp:sp>
    <dsp:sp modelId="{0F3D68F6-8CEA-48D2-87EE-AE1633C5B52A}">
      <dsp:nvSpPr>
        <dsp:cNvPr id="0" name=""/>
        <dsp:cNvSpPr/>
      </dsp:nvSpPr>
      <dsp:spPr>
        <a:xfrm>
          <a:off x="0" y="3004274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68B347-8B12-4B14-862A-BEDCAEEDBBCF}">
      <dsp:nvSpPr>
        <dsp:cNvPr id="0" name=""/>
        <dsp:cNvSpPr/>
      </dsp:nvSpPr>
      <dsp:spPr>
        <a:xfrm>
          <a:off x="507233" y="3381554"/>
          <a:ext cx="922242" cy="9222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583CBD-8927-43B3-84F5-95B4EFC6BD29}">
      <dsp:nvSpPr>
        <dsp:cNvPr id="0" name=""/>
        <dsp:cNvSpPr/>
      </dsp:nvSpPr>
      <dsp:spPr>
        <a:xfrm>
          <a:off x="1936708" y="3004274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Vurdere utstyret som trengs</a:t>
          </a:r>
        </a:p>
      </dsp:txBody>
      <dsp:txXfrm>
        <a:off x="1936708" y="3004274"/>
        <a:ext cx="4308556" cy="1676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00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416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49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085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994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34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531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845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22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116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005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58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24" r:id="rId6"/>
    <p:sldLayoutId id="2147483719" r:id="rId7"/>
    <p:sldLayoutId id="2147483720" r:id="rId8"/>
    <p:sldLayoutId id="2147483721" r:id="rId9"/>
    <p:sldLayoutId id="2147483723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podcast.adobe.com/en/enhanc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4680660-7E23-4F0F-A679-BF913E94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3AD0D3-5608-D43E-6A16-9BAAC8D459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18272" b="5715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D6C9C12-6974-918F-6B32-987DF9EC89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endParaRPr lang="en-NO" sz="2000">
              <a:solidFill>
                <a:srgbClr val="FFFFFF"/>
              </a:solidFill>
            </a:endParaRPr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23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25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3C0A915-B7C7-B179-A358-3F9C488D6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2859" y="1049687"/>
            <a:ext cx="4579225" cy="1170175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Lydteknikk</a:t>
            </a:r>
            <a:endParaRPr lang="en-US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612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0C6E9-FF93-953E-7B5D-ECC99566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NO" sz="7200"/>
              <a:t>Dere skal lære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F19836-83D3-7788-4B01-F894902FE9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78025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0514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232AE-9E3B-5B3E-90D7-66DFF7ED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O" dirty="0"/>
          </a:p>
        </p:txBody>
      </p:sp>
      <p:pic>
        <p:nvPicPr>
          <p:cNvPr id="5" name="Content Placeholder 4" descr="A person in a red jacket&#10;&#10;Description automatically generated">
            <a:extLst>
              <a:ext uri="{FF2B5EF4-FFF2-40B4-BE49-F238E27FC236}">
                <a16:creationId xmlns:a16="http://schemas.microsoft.com/office/drawing/2014/main" id="{8593ED00-6C68-1C26-1C32-90CC04F6F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903" y="0"/>
            <a:ext cx="12198903" cy="6861883"/>
          </a:xfrm>
        </p:spPr>
      </p:pic>
    </p:spTree>
    <p:extLst>
      <p:ext uri="{BB962C8B-B14F-4D97-AF65-F5344CB8AC3E}">
        <p14:creationId xmlns:p14="http://schemas.microsoft.com/office/powerpoint/2010/main" val="1267382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5597D-6138-0B5C-B7F3-6E4788E80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4519" y="1557871"/>
            <a:ext cx="3971643" cy="2052522"/>
          </a:xfrm>
        </p:spPr>
        <p:txBody>
          <a:bodyPr anchor="b">
            <a:normAutofit/>
          </a:bodyPr>
          <a:lstStyle/>
          <a:p>
            <a:r>
              <a:rPr lang="en-NO" dirty="0"/>
              <a:t>Støy</a:t>
            </a:r>
          </a:p>
        </p:txBody>
      </p:sp>
      <p:sp>
        <p:nvSpPr>
          <p:cNvPr id="2068" name="Oval 2067">
            <a:extLst>
              <a:ext uri="{FF2B5EF4-FFF2-40B4-BE49-F238E27FC236}">
                <a16:creationId xmlns:a16="http://schemas.microsoft.com/office/drawing/2014/main" id="{85D33C90-E0E9-4BCC-847B-53431DF7C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864" y="2251328"/>
            <a:ext cx="2404893" cy="2404893"/>
          </a:xfrm>
          <a:prstGeom prst="ellipse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70" name="Freeform: Shape 2062">
            <a:extLst>
              <a:ext uri="{FF2B5EF4-FFF2-40B4-BE49-F238E27FC236}">
                <a16:creationId xmlns:a16="http://schemas.microsoft.com/office/drawing/2014/main" id="{0743BE1B-E693-47F5-A9BA-46D13E0C9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154502" cy="3640433"/>
          </a:xfrm>
          <a:custGeom>
            <a:avLst/>
            <a:gdLst>
              <a:gd name="connsiteX0" fmla="*/ 428655 w 4154502"/>
              <a:gd name="connsiteY0" fmla="*/ 0 h 3640433"/>
              <a:gd name="connsiteX1" fmla="*/ 3564192 w 4154502"/>
              <a:gd name="connsiteY1" fmla="*/ 0 h 3640433"/>
              <a:gd name="connsiteX2" fmla="*/ 3593704 w 4154502"/>
              <a:gd name="connsiteY2" fmla="*/ 30225 h 3640433"/>
              <a:gd name="connsiteX3" fmla="*/ 4154502 w 4154502"/>
              <a:gd name="connsiteY3" fmla="*/ 1481705 h 3640433"/>
              <a:gd name="connsiteX4" fmla="*/ 1995774 w 4154502"/>
              <a:gd name="connsiteY4" fmla="*/ 3640433 h 3640433"/>
              <a:gd name="connsiteX5" fmla="*/ 6690 w 4154502"/>
              <a:gd name="connsiteY5" fmla="*/ 2321980 h 3640433"/>
              <a:gd name="connsiteX6" fmla="*/ 0 w 4154502"/>
              <a:gd name="connsiteY6" fmla="*/ 2303703 h 3640433"/>
              <a:gd name="connsiteX7" fmla="*/ 0 w 4154502"/>
              <a:gd name="connsiteY7" fmla="*/ 659708 h 3640433"/>
              <a:gd name="connsiteX8" fmla="*/ 6690 w 4154502"/>
              <a:gd name="connsiteY8" fmla="*/ 641431 h 3640433"/>
              <a:gd name="connsiteX9" fmla="*/ 329995 w 4154502"/>
              <a:gd name="connsiteY9" fmla="*/ 108554 h 364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54502" h="3640433">
                <a:moveTo>
                  <a:pt x="428655" y="0"/>
                </a:moveTo>
                <a:lnTo>
                  <a:pt x="3564192" y="0"/>
                </a:lnTo>
                <a:lnTo>
                  <a:pt x="3593704" y="30225"/>
                </a:lnTo>
                <a:cubicBezTo>
                  <a:pt x="3942138" y="413587"/>
                  <a:pt x="4154502" y="922846"/>
                  <a:pt x="4154502" y="1481705"/>
                </a:cubicBezTo>
                <a:cubicBezTo>
                  <a:pt x="4154502" y="2673938"/>
                  <a:pt x="3188007" y="3640433"/>
                  <a:pt x="1995774" y="3640433"/>
                </a:cubicBezTo>
                <a:cubicBezTo>
                  <a:pt x="1101599" y="3640433"/>
                  <a:pt x="334402" y="3096780"/>
                  <a:pt x="6690" y="2321980"/>
                </a:cubicBezTo>
                <a:lnTo>
                  <a:pt x="0" y="2303703"/>
                </a:lnTo>
                <a:lnTo>
                  <a:pt x="0" y="659708"/>
                </a:lnTo>
                <a:lnTo>
                  <a:pt x="6690" y="641431"/>
                </a:lnTo>
                <a:cubicBezTo>
                  <a:pt x="88618" y="447731"/>
                  <a:pt x="198014" y="268477"/>
                  <a:pt x="329995" y="108554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2054" name="Picture 6" descr="Why do transformers make a humming noise? - YouTube">
            <a:extLst>
              <a:ext uri="{FF2B5EF4-FFF2-40B4-BE49-F238E27FC236}">
                <a16:creationId xmlns:a16="http://schemas.microsoft.com/office/drawing/2014/main" id="{5B1E3F23-9077-67C5-7840-8973E5CA0B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67" r="18223" b="2"/>
          <a:stretch/>
        </p:blipFill>
        <p:spPr bwMode="auto">
          <a:xfrm>
            <a:off x="69408" y="10"/>
            <a:ext cx="4317456" cy="3640423"/>
          </a:xfrm>
          <a:custGeom>
            <a:avLst/>
            <a:gdLst/>
            <a:ahLst/>
            <a:cxnLst/>
            <a:rect l="l" t="t" r="r" b="b"/>
            <a:pathLst>
              <a:path w="4317456" h="3640433">
                <a:moveTo>
                  <a:pt x="590312" y="0"/>
                </a:moveTo>
                <a:lnTo>
                  <a:pt x="3727144" y="0"/>
                </a:lnTo>
                <a:lnTo>
                  <a:pt x="3756657" y="30226"/>
                </a:lnTo>
                <a:cubicBezTo>
                  <a:pt x="4105091" y="413588"/>
                  <a:pt x="4317456" y="922847"/>
                  <a:pt x="4317456" y="1481705"/>
                </a:cubicBezTo>
                <a:cubicBezTo>
                  <a:pt x="4317456" y="2673937"/>
                  <a:pt x="3350960" y="3640433"/>
                  <a:pt x="2158728" y="3640433"/>
                </a:cubicBezTo>
                <a:cubicBezTo>
                  <a:pt x="966497" y="3640433"/>
                  <a:pt x="0" y="2673937"/>
                  <a:pt x="0" y="1481705"/>
                </a:cubicBezTo>
                <a:cubicBezTo>
                  <a:pt x="0" y="922847"/>
                  <a:pt x="212365" y="413588"/>
                  <a:pt x="560799" y="3022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5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2067" y="294578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6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21893" y="1295837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69" name="Freeform: Shape 2068">
            <a:extLst>
              <a:ext uri="{FF2B5EF4-FFF2-40B4-BE49-F238E27FC236}">
                <a16:creationId xmlns:a16="http://schemas.microsoft.com/office/drawing/2014/main" id="{D0F14822-B1F1-4730-A131-C3416A790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441" y="3942512"/>
            <a:ext cx="3238728" cy="2915488"/>
          </a:xfrm>
          <a:custGeom>
            <a:avLst/>
            <a:gdLst>
              <a:gd name="connsiteX0" fmla="*/ 1619364 w 3238728"/>
              <a:gd name="connsiteY0" fmla="*/ 0 h 2915488"/>
              <a:gd name="connsiteX1" fmla="*/ 3238728 w 3238728"/>
              <a:gd name="connsiteY1" fmla="*/ 1619364 h 2915488"/>
              <a:gd name="connsiteX2" fmla="*/ 2649430 w 3238728"/>
              <a:gd name="connsiteY2" fmla="*/ 2868944 h 2915488"/>
              <a:gd name="connsiteX3" fmla="*/ 2587188 w 3238728"/>
              <a:gd name="connsiteY3" fmla="*/ 2915488 h 2915488"/>
              <a:gd name="connsiteX4" fmla="*/ 651541 w 3238728"/>
              <a:gd name="connsiteY4" fmla="*/ 2915488 h 2915488"/>
              <a:gd name="connsiteX5" fmla="*/ 589298 w 3238728"/>
              <a:gd name="connsiteY5" fmla="*/ 2868944 h 2915488"/>
              <a:gd name="connsiteX6" fmla="*/ 0 w 3238728"/>
              <a:gd name="connsiteY6" fmla="*/ 1619364 h 2915488"/>
              <a:gd name="connsiteX7" fmla="*/ 1619364 w 3238728"/>
              <a:gd name="connsiteY7" fmla="*/ 0 h 291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38728" h="2915488">
                <a:moveTo>
                  <a:pt x="1619364" y="0"/>
                </a:moveTo>
                <a:cubicBezTo>
                  <a:pt x="2513714" y="0"/>
                  <a:pt x="3238728" y="725014"/>
                  <a:pt x="3238728" y="1619364"/>
                </a:cubicBezTo>
                <a:cubicBezTo>
                  <a:pt x="3238728" y="2122436"/>
                  <a:pt x="3009329" y="2571929"/>
                  <a:pt x="2649430" y="2868944"/>
                </a:cubicBezTo>
                <a:lnTo>
                  <a:pt x="2587188" y="2915488"/>
                </a:lnTo>
                <a:lnTo>
                  <a:pt x="651541" y="2915488"/>
                </a:lnTo>
                <a:lnTo>
                  <a:pt x="589298" y="2868944"/>
                </a:lnTo>
                <a:cubicBezTo>
                  <a:pt x="229399" y="2571929"/>
                  <a:pt x="0" y="2122436"/>
                  <a:pt x="0" y="1619364"/>
                </a:cubicBezTo>
                <a:cubicBezTo>
                  <a:pt x="0" y="725014"/>
                  <a:pt x="725014" y="0"/>
                  <a:pt x="1619364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71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914" y="4368981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052" name="Picture 4" descr="English — Grand Café Oslo">
            <a:extLst>
              <a:ext uri="{FF2B5EF4-FFF2-40B4-BE49-F238E27FC236}">
                <a16:creationId xmlns:a16="http://schemas.microsoft.com/office/drawing/2014/main" id="{46A29360-B706-B98D-E48D-BA47E03F51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" r="16760" b="-4"/>
          <a:stretch/>
        </p:blipFill>
        <p:spPr bwMode="auto">
          <a:xfrm>
            <a:off x="1354013" y="3942512"/>
            <a:ext cx="3238727" cy="2915488"/>
          </a:xfrm>
          <a:custGeom>
            <a:avLst/>
            <a:gdLst/>
            <a:ahLst/>
            <a:cxnLst/>
            <a:rect l="l" t="t" r="r" b="b"/>
            <a:pathLst>
              <a:path w="3238727" h="2915488">
                <a:moveTo>
                  <a:pt x="1619364" y="0"/>
                </a:moveTo>
                <a:cubicBezTo>
                  <a:pt x="2513714" y="0"/>
                  <a:pt x="3238727" y="725014"/>
                  <a:pt x="3238727" y="1619364"/>
                </a:cubicBezTo>
                <a:cubicBezTo>
                  <a:pt x="3238727" y="2122436"/>
                  <a:pt x="3009328" y="2571928"/>
                  <a:pt x="2649429" y="2868943"/>
                </a:cubicBezTo>
                <a:lnTo>
                  <a:pt x="2587186" y="2915488"/>
                </a:lnTo>
                <a:lnTo>
                  <a:pt x="651541" y="2915488"/>
                </a:lnTo>
                <a:lnTo>
                  <a:pt x="589298" y="2868943"/>
                </a:lnTo>
                <a:cubicBezTo>
                  <a:pt x="229399" y="2571928"/>
                  <a:pt x="0" y="2122436"/>
                  <a:pt x="0" y="1619364"/>
                </a:cubicBezTo>
                <a:cubicBezTo>
                  <a:pt x="0" y="725014"/>
                  <a:pt x="725014" y="0"/>
                  <a:pt x="161936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5 Tips for Safe Driving Around Construction Work – Merle Stone Chevrolet  Blog">
            <a:extLst>
              <a:ext uri="{FF2B5EF4-FFF2-40B4-BE49-F238E27FC236}">
                <a16:creationId xmlns:a16="http://schemas.microsoft.com/office/drawing/2014/main" id="{D812B74B-CFEE-F43D-710B-CBB221477C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75" r="7074" b="-2"/>
          <a:stretch/>
        </p:blipFill>
        <p:spPr bwMode="auto">
          <a:xfrm>
            <a:off x="4175869" y="2271459"/>
            <a:ext cx="2367798" cy="2367798"/>
          </a:xfrm>
          <a:custGeom>
            <a:avLst/>
            <a:gdLst/>
            <a:ahLst/>
            <a:cxnLst/>
            <a:rect l="l" t="t" r="r" b="b"/>
            <a:pathLst>
              <a:path w="2367798" h="2367798">
                <a:moveTo>
                  <a:pt x="1183899" y="0"/>
                </a:moveTo>
                <a:cubicBezTo>
                  <a:pt x="1837748" y="0"/>
                  <a:pt x="2367798" y="530050"/>
                  <a:pt x="2367798" y="1183899"/>
                </a:cubicBezTo>
                <a:cubicBezTo>
                  <a:pt x="2367798" y="1837748"/>
                  <a:pt x="1837748" y="2367798"/>
                  <a:pt x="1183899" y="2367798"/>
                </a:cubicBezTo>
                <a:cubicBezTo>
                  <a:pt x="530050" y="2367798"/>
                  <a:pt x="0" y="1837748"/>
                  <a:pt x="0" y="1183899"/>
                </a:cubicBezTo>
                <a:cubicBezTo>
                  <a:pt x="0" y="530050"/>
                  <a:pt x="530050" y="0"/>
                  <a:pt x="118389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73" name="Straight Connector 207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006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DD4BC-8866-5B53-347A-D402BD299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5151" y="2601697"/>
            <a:ext cx="10515600" cy="1325563"/>
          </a:xfrm>
        </p:spPr>
        <p:txBody>
          <a:bodyPr/>
          <a:lstStyle/>
          <a:p>
            <a:r>
              <a:rPr lang="en-NO" dirty="0"/>
              <a:t>Den andre regelen </a:t>
            </a:r>
            <a:r>
              <a:rPr lang="en-GB" dirty="0"/>
              <a:t>i</a:t>
            </a:r>
            <a:r>
              <a:rPr lang="en-NO" dirty="0"/>
              <a:t> lyd er…</a:t>
            </a:r>
          </a:p>
        </p:txBody>
      </p:sp>
    </p:spTree>
    <p:extLst>
      <p:ext uri="{BB962C8B-B14F-4D97-AF65-F5344CB8AC3E}">
        <p14:creationId xmlns:p14="http://schemas.microsoft.com/office/powerpoint/2010/main" val="896848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206C1-794C-3939-4C1F-2A73DA76A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O"/>
          </a:p>
        </p:txBody>
      </p:sp>
      <p:pic>
        <p:nvPicPr>
          <p:cNvPr id="5" name="Content Placeholder 4" descr="A person looking down at another person&#10;&#10;Description automatically generated">
            <a:extLst>
              <a:ext uri="{FF2B5EF4-FFF2-40B4-BE49-F238E27FC236}">
                <a16:creationId xmlns:a16="http://schemas.microsoft.com/office/drawing/2014/main" id="{3AFE9BB2-E21A-D2C9-3F6D-82C8568889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591188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CDBF2F9D-983F-4E90-827D-5A23216D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8784AA-912A-3AF4-E8C8-6BCF211B0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6618" y="381935"/>
            <a:ext cx="5366040" cy="2344840"/>
          </a:xfrm>
        </p:spPr>
        <p:txBody>
          <a:bodyPr anchor="b">
            <a:normAutofit/>
          </a:bodyPr>
          <a:lstStyle/>
          <a:p>
            <a:r>
              <a:rPr lang="en-NO" sz="6600" dirty="0"/>
              <a:t>Avstand</a:t>
            </a:r>
          </a:p>
        </p:txBody>
      </p:sp>
      <p:pic>
        <p:nvPicPr>
          <p:cNvPr id="1034" name="Picture 10" descr="20+ Lapel Mic Stock Videos and Royalty-Free Footage - iStock | Lapel mic  icon">
            <a:extLst>
              <a:ext uri="{FF2B5EF4-FFF2-40B4-BE49-F238E27FC236}">
                <a16:creationId xmlns:a16="http://schemas.microsoft.com/office/drawing/2014/main" id="{D6365D35-4ED9-7C2D-4211-C54E970D85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4" r="33124" b="-3"/>
          <a:stretch/>
        </p:blipFill>
        <p:spPr bwMode="auto">
          <a:xfrm>
            <a:off x="4" y="259341"/>
            <a:ext cx="1900721" cy="2467434"/>
          </a:xfrm>
          <a:custGeom>
            <a:avLst/>
            <a:gdLst/>
            <a:ahLst/>
            <a:cxnLst/>
            <a:rect l="l" t="t" r="r" b="b"/>
            <a:pathLst>
              <a:path w="1900721" h="2467434">
                <a:moveTo>
                  <a:pt x="667004" y="0"/>
                </a:moveTo>
                <a:cubicBezTo>
                  <a:pt x="1348368" y="0"/>
                  <a:pt x="1900721" y="552354"/>
                  <a:pt x="1900721" y="1233717"/>
                </a:cubicBezTo>
                <a:cubicBezTo>
                  <a:pt x="1900721" y="1915081"/>
                  <a:pt x="1348368" y="2467434"/>
                  <a:pt x="667004" y="2467434"/>
                </a:cubicBezTo>
                <a:cubicBezTo>
                  <a:pt x="454078" y="2467434"/>
                  <a:pt x="253751" y="2413493"/>
                  <a:pt x="78941" y="2318531"/>
                </a:cubicBezTo>
                <a:lnTo>
                  <a:pt x="0" y="2270573"/>
                </a:lnTo>
                <a:lnTo>
                  <a:pt x="0" y="196861"/>
                </a:lnTo>
                <a:lnTo>
                  <a:pt x="78941" y="148903"/>
                </a:lnTo>
                <a:cubicBezTo>
                  <a:pt x="253751" y="53941"/>
                  <a:pt x="454078" y="0"/>
                  <a:pt x="6670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8921" y="36518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4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30" name="Picture 6" descr="journalist hand innehav mikrofoner utför intervju 14286219 Vektorkonst på  Vecteezy">
            <a:extLst>
              <a:ext uri="{FF2B5EF4-FFF2-40B4-BE49-F238E27FC236}">
                <a16:creationId xmlns:a16="http://schemas.microsoft.com/office/drawing/2014/main" id="{77C661B4-DEA2-2A19-E8E8-A492F8AD2A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4620"/>
          <a:stretch/>
        </p:blipFill>
        <p:spPr bwMode="auto">
          <a:xfrm>
            <a:off x="-3" y="3175552"/>
            <a:ext cx="3860850" cy="3682448"/>
          </a:xfrm>
          <a:custGeom>
            <a:avLst/>
            <a:gdLst/>
            <a:ahLst/>
            <a:cxnLst/>
            <a:rect l="l" t="t" r="r" b="b"/>
            <a:pathLst>
              <a:path w="3860850" h="3682448">
                <a:moveTo>
                  <a:pt x="1501453" y="0"/>
                </a:moveTo>
                <a:cubicBezTo>
                  <a:pt x="2804513" y="0"/>
                  <a:pt x="3860850" y="1056337"/>
                  <a:pt x="3860850" y="2359397"/>
                </a:cubicBezTo>
                <a:cubicBezTo>
                  <a:pt x="3860850" y="2848045"/>
                  <a:pt x="3712303" y="3301997"/>
                  <a:pt x="3457902" y="3678559"/>
                </a:cubicBezTo>
                <a:lnTo>
                  <a:pt x="3454994" y="3682448"/>
                </a:lnTo>
                <a:lnTo>
                  <a:pt x="0" y="3682448"/>
                </a:lnTo>
                <a:lnTo>
                  <a:pt x="0" y="539369"/>
                </a:lnTo>
                <a:lnTo>
                  <a:pt x="657" y="538771"/>
                </a:lnTo>
                <a:cubicBezTo>
                  <a:pt x="408500" y="202190"/>
                  <a:pt x="931365" y="0"/>
                  <a:pt x="150145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m techniques - Why does the boom operator have to hold the boom mic by  hand? - Movies &amp; TV Stack Exchange">
            <a:extLst>
              <a:ext uri="{FF2B5EF4-FFF2-40B4-BE49-F238E27FC236}">
                <a16:creationId xmlns:a16="http://schemas.microsoft.com/office/drawing/2014/main" id="{CC51691D-46F5-F775-6E69-EF4ED6BE39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247" b="-4"/>
          <a:stretch/>
        </p:blipFill>
        <p:spPr bwMode="auto">
          <a:xfrm>
            <a:off x="2356226" y="660794"/>
            <a:ext cx="2968902" cy="2968902"/>
          </a:xfrm>
          <a:custGeom>
            <a:avLst/>
            <a:gdLst/>
            <a:ahLst/>
            <a:cxnLst/>
            <a:rect l="l" t="t" r="r" b="b"/>
            <a:pathLst>
              <a:path w="2257760" h="2257760">
                <a:moveTo>
                  <a:pt x="1128880" y="0"/>
                </a:moveTo>
                <a:cubicBezTo>
                  <a:pt x="1752343" y="0"/>
                  <a:pt x="2257760" y="505417"/>
                  <a:pt x="2257760" y="1128880"/>
                </a:cubicBezTo>
                <a:cubicBezTo>
                  <a:pt x="2257760" y="1752343"/>
                  <a:pt x="1752343" y="2257760"/>
                  <a:pt x="1128880" y="2257760"/>
                </a:cubicBezTo>
                <a:cubicBezTo>
                  <a:pt x="505417" y="2257760"/>
                  <a:pt x="0" y="1752343"/>
                  <a:pt x="0" y="1128880"/>
                </a:cubicBezTo>
                <a:cubicBezTo>
                  <a:pt x="0" y="505417"/>
                  <a:pt x="505417" y="0"/>
                  <a:pt x="112888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9443" y="748543"/>
            <a:ext cx="171514" cy="171515"/>
          </a:xfrm>
          <a:custGeom>
            <a:avLst/>
            <a:gdLst>
              <a:gd name="connsiteX0" fmla="*/ 159873 w 171514"/>
              <a:gd name="connsiteY0" fmla="*/ 74116 h 171515"/>
              <a:gd name="connsiteX1" fmla="*/ 97398 w 171514"/>
              <a:gd name="connsiteY1" fmla="*/ 74116 h 171515"/>
              <a:gd name="connsiteX2" fmla="*/ 97398 w 171514"/>
              <a:gd name="connsiteY2" fmla="*/ 11641 h 171515"/>
              <a:gd name="connsiteX3" fmla="*/ 85757 w 171514"/>
              <a:gd name="connsiteY3" fmla="*/ 0 h 171515"/>
              <a:gd name="connsiteX4" fmla="*/ 74116 w 171514"/>
              <a:gd name="connsiteY4" fmla="*/ 11641 h 171515"/>
              <a:gd name="connsiteX5" fmla="*/ 74116 w 171514"/>
              <a:gd name="connsiteY5" fmla="*/ 74116 h 171515"/>
              <a:gd name="connsiteX6" fmla="*/ 11641 w 171514"/>
              <a:gd name="connsiteY6" fmla="*/ 74116 h 171515"/>
              <a:gd name="connsiteX7" fmla="*/ 0 w 171514"/>
              <a:gd name="connsiteY7" fmla="*/ 85758 h 171515"/>
              <a:gd name="connsiteX8" fmla="*/ 11641 w 171514"/>
              <a:gd name="connsiteY8" fmla="*/ 97399 h 171515"/>
              <a:gd name="connsiteX9" fmla="*/ 74116 w 171514"/>
              <a:gd name="connsiteY9" fmla="*/ 97399 h 171515"/>
              <a:gd name="connsiteX10" fmla="*/ 74116 w 171514"/>
              <a:gd name="connsiteY10" fmla="*/ 159874 h 171515"/>
              <a:gd name="connsiteX11" fmla="*/ 85757 w 171514"/>
              <a:gd name="connsiteY11" fmla="*/ 171515 h 171515"/>
              <a:gd name="connsiteX12" fmla="*/ 97398 w 171514"/>
              <a:gd name="connsiteY12" fmla="*/ 159874 h 171515"/>
              <a:gd name="connsiteX13" fmla="*/ 97398 w 171514"/>
              <a:gd name="connsiteY13" fmla="*/ 97399 h 171515"/>
              <a:gd name="connsiteX14" fmla="*/ 159873 w 171514"/>
              <a:gd name="connsiteY14" fmla="*/ 97399 h 171515"/>
              <a:gd name="connsiteX15" fmla="*/ 171514 w 171514"/>
              <a:gd name="connsiteY15" fmla="*/ 85758 h 171515"/>
              <a:gd name="connsiteX16" fmla="*/ 159873 w 171514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4" h="171515">
                <a:moveTo>
                  <a:pt x="159873" y="74116"/>
                </a:moveTo>
                <a:lnTo>
                  <a:pt x="97398" y="74116"/>
                </a:lnTo>
                <a:lnTo>
                  <a:pt x="97398" y="11641"/>
                </a:lnTo>
                <a:cubicBezTo>
                  <a:pt x="97398" y="5212"/>
                  <a:pt x="92186" y="0"/>
                  <a:pt x="85757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7" y="171515"/>
                </a:cubicBezTo>
                <a:cubicBezTo>
                  <a:pt x="92186" y="171515"/>
                  <a:pt x="97398" y="166303"/>
                  <a:pt x="97398" y="159874"/>
                </a:cubicBezTo>
                <a:lnTo>
                  <a:pt x="97398" y="97399"/>
                </a:lnTo>
                <a:lnTo>
                  <a:pt x="159873" y="97399"/>
                </a:lnTo>
                <a:cubicBezTo>
                  <a:pt x="166302" y="97399"/>
                  <a:pt x="171514" y="92187"/>
                  <a:pt x="171514" y="85758"/>
                </a:cubicBezTo>
                <a:cubicBezTo>
                  <a:pt x="171514" y="79328"/>
                  <a:pt x="166302" y="74116"/>
                  <a:pt x="159873" y="74116"/>
                </a:cubicBezTo>
                <a:close/>
              </a:path>
            </a:pathLst>
          </a:custGeom>
          <a:solidFill>
            <a:schemeClr val="accent4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646F4-4E8D-7BDF-C8B1-949E3F4DC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6617" y="3175552"/>
            <a:ext cx="5366041" cy="280911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NO" sz="1800" dirty="0"/>
              <a:t>Mikrofon skal svanligvis være så nærme lydkilden som mulig</a:t>
            </a:r>
          </a:p>
          <a:p>
            <a:pPr marL="514350" indent="-514350">
              <a:buAutoNum type="arabicPeriod"/>
            </a:pPr>
            <a:endParaRPr lang="en-NO" sz="1800" dirty="0"/>
          </a:p>
          <a:p>
            <a:pPr marL="514350" indent="-514350">
              <a:buAutoNum type="arabicPeriod"/>
            </a:pPr>
            <a:endParaRPr lang="en-NO" sz="1800" dirty="0"/>
          </a:p>
        </p:txBody>
      </p:sp>
      <p:sp>
        <p:nvSpPr>
          <p:cNvPr id="104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2074" y="421171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4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68377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249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90A5-BEF5-211D-A9E1-66AE6AFF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/>
              <a:t>Mikrofon</a:t>
            </a:r>
            <a:endParaRPr lang="en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54390-111B-EAF7-710D-9192534B0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O"/>
              <a:t>Opptaksområde</a:t>
            </a:r>
          </a:p>
          <a:p>
            <a:pPr marL="0" indent="0">
              <a:buNone/>
            </a:pPr>
            <a:r>
              <a:rPr lang="en-NO"/>
              <a:t>Hensikt</a:t>
            </a:r>
          </a:p>
          <a:p>
            <a:pPr marL="0" indent="0">
              <a:buNone/>
            </a:pPr>
            <a:r>
              <a:rPr lang="en-NO"/>
              <a:t>48V</a:t>
            </a:r>
            <a:endParaRPr lang="en-NO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31B72D59-5033-CDD0-DFCB-1BA220B0B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212893"/>
            <a:ext cx="7879492" cy="4432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606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and person with speakers&#10;&#10;AI-generated content may be incorrect.">
            <a:extLst>
              <a:ext uri="{FF2B5EF4-FFF2-40B4-BE49-F238E27FC236}">
                <a16:creationId xmlns:a16="http://schemas.microsoft.com/office/drawing/2014/main" id="{D9A7868B-E615-0EE8-411E-9D982D381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89"/>
          <a:stretch/>
        </p:blipFill>
        <p:spPr>
          <a:xfrm>
            <a:off x="215152" y="518498"/>
            <a:ext cx="3882523" cy="5564952"/>
          </a:xfrm>
        </p:spPr>
      </p:pic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9861D801-C3DF-E63C-5854-202DB023C484}"/>
              </a:ext>
            </a:extLst>
          </p:cNvPr>
          <p:cNvSpPr txBox="1">
            <a:spLocks/>
          </p:cNvSpPr>
          <p:nvPr/>
        </p:nvSpPr>
        <p:spPr>
          <a:xfrm>
            <a:off x="9594621" y="6083450"/>
            <a:ext cx="1812398" cy="8645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i="1" dirty="0">
                <a:ea typeface="+mn-lt"/>
                <a:cs typeface="+mn-lt"/>
              </a:rPr>
              <a:t>*Panorering</a:t>
            </a:r>
          </a:p>
        </p:txBody>
      </p:sp>
      <p:pic>
        <p:nvPicPr>
          <p:cNvPr id="10" name="Picture 9" descr="A pair of electronic devices&#10;&#10;AI-generated content may be incorrect.">
            <a:extLst>
              <a:ext uri="{FF2B5EF4-FFF2-40B4-BE49-F238E27FC236}">
                <a16:creationId xmlns:a16="http://schemas.microsoft.com/office/drawing/2014/main" id="{D1CF2D54-5E2A-8DB7-D9C1-82FA96A7C1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161" y="518498"/>
            <a:ext cx="4181138" cy="5564952"/>
          </a:xfrm>
          <a:prstGeom prst="rect">
            <a:avLst/>
          </a:prstGeom>
        </p:spPr>
      </p:pic>
      <p:pic>
        <p:nvPicPr>
          <p:cNvPr id="11" name="Content Placeholder 4" descr="A person and person with speakers&#10;&#10;AI-generated content may be incorrect.">
            <a:extLst>
              <a:ext uri="{FF2B5EF4-FFF2-40B4-BE49-F238E27FC236}">
                <a16:creationId xmlns:a16="http://schemas.microsoft.com/office/drawing/2014/main" id="{3E84DF85-0A0A-0662-1708-6D18383330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21"/>
          <a:stretch/>
        </p:blipFill>
        <p:spPr>
          <a:xfrm>
            <a:off x="8249613" y="518499"/>
            <a:ext cx="3743302" cy="556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471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032236-FD13-47D2-8F63-3647524C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897" y="762001"/>
            <a:ext cx="4991103" cy="639470"/>
          </a:xfrm>
        </p:spPr>
        <p:txBody>
          <a:bodyPr>
            <a:normAutofit fontScale="90000"/>
          </a:bodyPr>
          <a:lstStyle/>
          <a:p>
            <a:r>
              <a:rPr lang="nb-NO" dirty="0"/>
              <a:t>Tekniske begreper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938C659-A2A5-4787-8C31-1F6F74B4A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897" y="1704110"/>
            <a:ext cx="5628412" cy="4391890"/>
          </a:xfr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endParaRPr lang="nb-NO" dirty="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nb-NO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Lydformater:</a:t>
            </a:r>
          </a:p>
          <a:p>
            <a:pPr marL="56007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b-NO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Ukomprimert: </a:t>
            </a:r>
            <a:r>
              <a:rPr lang="nb-NO" dirty="0">
                <a:ea typeface="+mn-lt"/>
                <a:cs typeface="+mn-lt"/>
              </a:rPr>
              <a:t>WAV</a:t>
            </a:r>
          </a:p>
          <a:p>
            <a:pPr marL="56007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b-NO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Komprimert:    </a:t>
            </a:r>
            <a:r>
              <a:rPr lang="nb-NO" dirty="0">
                <a:ea typeface="+mn-lt"/>
                <a:cs typeface="+mn-lt"/>
              </a:rPr>
              <a:t>mp3, m4a, AAC, MPEG</a:t>
            </a:r>
          </a:p>
          <a:p>
            <a:pPr marL="0" indent="0">
              <a:lnSpc>
                <a:spcPct val="120000"/>
              </a:lnSpc>
              <a:buNone/>
            </a:pPr>
            <a:endParaRPr lang="nb-NO" dirty="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nb-NO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Samplerate: </a:t>
            </a:r>
            <a:r>
              <a:rPr lang="nb-NO" dirty="0">
                <a:ea typeface="+mn-lt"/>
                <a:cs typeface="+mn-lt"/>
              </a:rPr>
              <a:t>Hvor mange ganger i sekundet en lyd er fanget og digitalisert (litt som framerate)</a:t>
            </a:r>
          </a:p>
          <a:p>
            <a:pPr>
              <a:lnSpc>
                <a:spcPct val="120000"/>
              </a:lnSpc>
            </a:pPr>
            <a:r>
              <a:rPr lang="nb-NO" dirty="0">
                <a:ea typeface="+mn-lt"/>
                <a:cs typeface="+mn-lt"/>
              </a:rPr>
              <a:t>De vanligste er 44,1kHz (CD) og 48kHz</a:t>
            </a:r>
          </a:p>
          <a:p>
            <a:pPr>
              <a:lnSpc>
                <a:spcPct val="120000"/>
              </a:lnSpc>
            </a:pPr>
            <a:endParaRPr lang="nb-NO" dirty="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nb-NO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Bitrate: </a:t>
            </a:r>
            <a:r>
              <a:rPr lang="nb-NO" dirty="0">
                <a:ea typeface="+mn-lt"/>
                <a:cs typeface="+mn-lt"/>
              </a:rPr>
              <a:t>Mengden data som lagres for en lydfil. Høyere bitrate gir økt kvalitet, større fil, og større dynamikk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EE12F7E-C440-64DA-26EF-C04C7B16E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808" y="932092"/>
            <a:ext cx="4457689" cy="2785083"/>
          </a:xfrm>
          <a:prstGeom prst="rect">
            <a:avLst/>
          </a:prstGeom>
        </p:spPr>
      </p:pic>
      <p:pic>
        <p:nvPicPr>
          <p:cNvPr id="17" name="Picture 16" descr="A graph of a function&#10;&#10;AI-generated content may be incorrect.">
            <a:extLst>
              <a:ext uri="{FF2B5EF4-FFF2-40B4-BE49-F238E27FC236}">
                <a16:creationId xmlns:a16="http://schemas.microsoft.com/office/drawing/2014/main" id="{8122EE76-DFBD-9345-E745-50BFDE8A91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809" y="3900055"/>
            <a:ext cx="4457689" cy="246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993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line drawing of a city&#10;&#10;AI-generated content may be incorrect.">
            <a:extLst>
              <a:ext uri="{FF2B5EF4-FFF2-40B4-BE49-F238E27FC236}">
                <a16:creationId xmlns:a16="http://schemas.microsoft.com/office/drawing/2014/main" id="{9B05384B-8309-97D3-3841-16F2BE850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190" y="1272887"/>
            <a:ext cx="7767619" cy="397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89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B0627-0DC0-7444-E060-3F05B8C9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C862A-1ECA-BFBB-11AB-4636DBB9A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Vi ser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lydredigering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Premiere Pro</a:t>
            </a:r>
          </a:p>
        </p:txBody>
      </p:sp>
    </p:spTree>
    <p:extLst>
      <p:ext uri="{BB962C8B-B14F-4D97-AF65-F5344CB8AC3E}">
        <p14:creationId xmlns:p14="http://schemas.microsoft.com/office/powerpoint/2010/main" val="2724285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1121-4031-BF12-27E1-A08847C4B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– Adobe Audio Enhance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5F058-CECE-C552-6850-8CDB73988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Moderne </a:t>
            </a:r>
            <a:r>
              <a:rPr lang="en-US" dirty="0" err="1"/>
              <a:t>mobiltelefoner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egen</a:t>
            </a:r>
            <a:r>
              <a:rPr lang="en-US" dirty="0"/>
              <a:t> </a:t>
            </a:r>
            <a:r>
              <a:rPr lang="en-US" dirty="0" err="1"/>
              <a:t>mikrofon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fungere</a:t>
            </a:r>
            <a:r>
              <a:rPr lang="en-US" dirty="0"/>
              <a:t> </a:t>
            </a:r>
            <a:r>
              <a:rPr lang="en-US" dirty="0" err="1"/>
              <a:t>godt</a:t>
            </a:r>
            <a:r>
              <a:rPr lang="en-US" dirty="0"/>
              <a:t> </a:t>
            </a:r>
            <a:r>
              <a:rPr lang="en-US" dirty="0" err="1"/>
              <a:t>nok</a:t>
            </a:r>
            <a:r>
              <a:rPr lang="en-US" dirty="0"/>
              <a:t> – </a:t>
            </a:r>
            <a:r>
              <a:rPr lang="en-US" dirty="0" err="1"/>
              <a:t>særlig</a:t>
            </a:r>
            <a:r>
              <a:rPr lang="en-US" dirty="0"/>
              <a:t> med </a:t>
            </a:r>
            <a:r>
              <a:rPr lang="en-US" dirty="0" err="1"/>
              <a:t>litt</a:t>
            </a:r>
            <a:r>
              <a:rPr lang="en-US" dirty="0"/>
              <a:t> </a:t>
            </a:r>
            <a:r>
              <a:rPr lang="en-US" dirty="0" err="1"/>
              <a:t>hjelp</a:t>
            </a:r>
            <a:r>
              <a:rPr lang="en-US" dirty="0"/>
              <a:t> av AI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Adobe Audio Enhance </a:t>
            </a:r>
            <a:r>
              <a:rPr lang="en-US" dirty="0"/>
              <a:t>er gratis for alle med en Adobe </a:t>
            </a:r>
            <a:r>
              <a:rPr lang="en-US" dirty="0" err="1"/>
              <a:t>konto</a:t>
            </a:r>
            <a:r>
              <a:rPr lang="en-US" dirty="0"/>
              <a:t>. Dere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bruke</a:t>
            </a:r>
            <a:r>
              <a:rPr lang="en-US" dirty="0"/>
              <a:t> </a:t>
            </a:r>
            <a:r>
              <a:rPr lang="en-US" dirty="0" err="1"/>
              <a:t>OsloMet</a:t>
            </a:r>
            <a:r>
              <a:rPr lang="en-US" dirty="0"/>
              <a:t> </a:t>
            </a:r>
            <a:r>
              <a:rPr lang="en-US" dirty="0" err="1"/>
              <a:t>brukeren</a:t>
            </a:r>
            <a:r>
              <a:rPr lang="en-US" dirty="0"/>
              <a:t> </a:t>
            </a:r>
            <a:r>
              <a:rPr lang="en-US" dirty="0" err="1"/>
              <a:t>deres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Oppgave</a:t>
            </a:r>
            <a:r>
              <a:rPr lang="en-US" dirty="0"/>
              <a:t>: Ta </a:t>
            </a:r>
            <a:r>
              <a:rPr lang="en-US" dirty="0" err="1"/>
              <a:t>opp</a:t>
            </a:r>
            <a:r>
              <a:rPr lang="en-US" dirty="0"/>
              <a:t> video </a:t>
            </a:r>
            <a:r>
              <a:rPr lang="en-US" dirty="0" err="1"/>
              <a:t>eller</a:t>
            </a:r>
            <a:r>
              <a:rPr lang="en-US" dirty="0"/>
              <a:t> film </a:t>
            </a:r>
            <a:r>
              <a:rPr lang="en-US" dirty="0" err="1"/>
              <a:t>dere</a:t>
            </a:r>
            <a:r>
              <a:rPr lang="en-US" dirty="0"/>
              <a:t> </a:t>
            </a:r>
            <a:r>
              <a:rPr lang="en-US" dirty="0" err="1"/>
              <a:t>selv</a:t>
            </a:r>
            <a:r>
              <a:rPr lang="en-US" dirty="0"/>
              <a:t> </a:t>
            </a:r>
            <a:r>
              <a:rPr lang="en-US" dirty="0" err="1"/>
              <a:t>snakke</a:t>
            </a:r>
            <a:r>
              <a:rPr lang="en-US" dirty="0"/>
              <a:t>. </a:t>
            </a:r>
            <a:r>
              <a:rPr lang="en-US" dirty="0" err="1"/>
              <a:t>Gjerne</a:t>
            </a:r>
            <a:r>
              <a:rPr lang="en-US" dirty="0"/>
              <a:t> med </a:t>
            </a:r>
            <a:r>
              <a:rPr lang="en-US" dirty="0" err="1"/>
              <a:t>noe</a:t>
            </a:r>
            <a:r>
              <a:rPr lang="en-US" dirty="0"/>
              <a:t> </a:t>
            </a:r>
            <a:r>
              <a:rPr lang="en-US" dirty="0" err="1"/>
              <a:t>bakgrunnsøy</a:t>
            </a:r>
            <a:r>
              <a:rPr lang="en-US" dirty="0"/>
              <a:t>. Last </a:t>
            </a:r>
            <a:r>
              <a:rPr lang="en-US" dirty="0" err="1"/>
              <a:t>opp</a:t>
            </a:r>
            <a:r>
              <a:rPr lang="en-US" dirty="0"/>
              <a:t> </a:t>
            </a:r>
            <a:r>
              <a:rPr lang="en-US" dirty="0" err="1"/>
              <a:t>videoen</a:t>
            </a:r>
            <a:r>
              <a:rPr lang="en-US" dirty="0"/>
              <a:t> I Adobe Audio Enhance,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hør</a:t>
            </a:r>
            <a:r>
              <a:rPr lang="en-US" dirty="0"/>
              <a:t> om </a:t>
            </a:r>
            <a:r>
              <a:rPr lang="en-US" dirty="0" err="1"/>
              <a:t>lyden</a:t>
            </a:r>
            <a:r>
              <a:rPr lang="en-US" dirty="0"/>
              <a:t> </a:t>
            </a:r>
            <a:r>
              <a:rPr lang="en-US" dirty="0" err="1"/>
              <a:t>blir</a:t>
            </a:r>
            <a:r>
              <a:rPr lang="en-US" dirty="0"/>
              <a:t> </a:t>
            </a:r>
            <a:r>
              <a:rPr lang="en-US" dirty="0" err="1"/>
              <a:t>forbedret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0100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Univer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11901A02A87E46BB942C73FE24F311" ma:contentTypeVersion="11" ma:contentTypeDescription="Create a new document." ma:contentTypeScope="" ma:versionID="c2c241eced93026075fb4d4e1fd1f037">
  <xsd:schema xmlns:xsd="http://www.w3.org/2001/XMLSchema" xmlns:xs="http://www.w3.org/2001/XMLSchema" xmlns:p="http://schemas.microsoft.com/office/2006/metadata/properties" xmlns:ns2="b682d1c4-6130-4683-8ba8-15f69f080697" xmlns:ns3="3b344d11-0467-46fc-89ef-ed02da2fd63b" targetNamespace="http://schemas.microsoft.com/office/2006/metadata/properties" ma:root="true" ma:fieldsID="b9efbd9fbec789710b72376ddd546303" ns2:_="" ns3:_="">
    <xsd:import namespace="b682d1c4-6130-4683-8ba8-15f69f080697"/>
    <xsd:import namespace="3b344d11-0467-46fc-89ef-ed02da2fd6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82d1c4-6130-4683-8ba8-15f69f0806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2bf785b-8fef-4b70-b2f9-38d45fd2cc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344d11-0467-46fc-89ef-ed02da2fd63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61567f7-bb85-46a2-bdad-c7f42c5457fd}" ma:internalName="TaxCatchAll" ma:showField="CatchAllData" ma:web="3b344d11-0467-46fc-89ef-ed02da2fd6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EA1492-8B35-4E5A-9C20-FBB44C1CAD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82d1c4-6130-4683-8ba8-15f69f080697"/>
    <ds:schemaRef ds:uri="3b344d11-0467-46fc-89ef-ed02da2fd6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B86B46D-65A2-4C1E-A750-A367D5C2D4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4254</TotalTime>
  <Words>182</Words>
  <Application>Microsoft Office PowerPoint</Application>
  <PresentationFormat>Widescreen</PresentationFormat>
  <Paragraphs>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Abadi</vt:lpstr>
      <vt:lpstr>Arial</vt:lpstr>
      <vt:lpstr>Gill Sans Nova</vt:lpstr>
      <vt:lpstr>Univers</vt:lpstr>
      <vt:lpstr>GradientVTI</vt:lpstr>
      <vt:lpstr>Lydteknikk</vt:lpstr>
      <vt:lpstr>Dere skal lære</vt:lpstr>
      <vt:lpstr>PowerPoint Presentation</vt:lpstr>
      <vt:lpstr>Støy</vt:lpstr>
      <vt:lpstr>Den andre regelen i lyd er…</vt:lpstr>
      <vt:lpstr>PowerPoint Presentation</vt:lpstr>
      <vt:lpstr>Avstand</vt:lpstr>
      <vt:lpstr>Mikrofon</vt:lpstr>
      <vt:lpstr>PowerPoint Presentation</vt:lpstr>
      <vt:lpstr>Tekniske begreper</vt:lpstr>
      <vt:lpstr>PowerPoint Presentation</vt:lpstr>
      <vt:lpstr>PowerPoint Presentation</vt:lpstr>
      <vt:lpstr>AI – Adobe Audio Enhance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Lydteknikk</dc:title>
  <dc:creator>Sondre Kile Andersen</dc:creator>
  <cp:lastModifiedBy>Sondre Kile Andersen</cp:lastModifiedBy>
  <cp:revision>10</cp:revision>
  <dcterms:created xsi:type="dcterms:W3CDTF">2024-02-11T19:29:20Z</dcterms:created>
  <dcterms:modified xsi:type="dcterms:W3CDTF">2025-09-02T13:51:46Z</dcterms:modified>
</cp:coreProperties>
</file>