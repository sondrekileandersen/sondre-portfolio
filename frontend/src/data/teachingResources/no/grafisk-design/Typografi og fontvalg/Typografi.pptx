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60" r:id="rId4"/>
    <p:sldId id="262" r:id="rId5"/>
    <p:sldId id="264" r:id="rId6"/>
    <p:sldId id="269" r:id="rId7"/>
    <p:sldId id="270" r:id="rId8"/>
    <p:sldId id="271" r:id="rId9"/>
    <p:sldId id="261" r:id="rId10"/>
    <p:sldId id="273" r:id="rId11"/>
    <p:sldId id="274" r:id="rId12"/>
    <p:sldId id="276" r:id="rId13"/>
    <p:sldId id="267" r:id="rId14"/>
    <p:sldId id="268" r:id="rId15"/>
    <p:sldId id="265" r:id="rId16"/>
    <p:sldId id="263" r:id="rId17"/>
    <p:sldId id="266" r:id="rId18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9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60"/>
    <p:restoredTop sz="96327"/>
  </p:normalViewPr>
  <p:slideViewPr>
    <p:cSldViewPr snapToGrid="0">
      <p:cViewPr varScale="1">
        <p:scale>
          <a:sx n="68" d="100"/>
          <a:sy n="68" d="100"/>
        </p:scale>
        <p:origin x="7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80577-200C-4FDB-B4EC-BDDD8C83E6F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7E475D4-967C-4D99-A699-0BD63E3E65AF}">
      <dgm:prSet/>
      <dgm:spPr/>
      <dgm:t>
        <a:bodyPr/>
        <a:lstStyle/>
        <a:p>
          <a:pPr algn="ctr"/>
          <a:r>
            <a:rPr lang="en-US" dirty="0"/>
            <a:t>Logo</a:t>
          </a:r>
        </a:p>
      </dgm:t>
    </dgm:pt>
    <dgm:pt modelId="{104F59EE-E869-48E4-91DD-0AAA2C3F60E4}" type="parTrans" cxnId="{643D288B-9DBF-4AF8-8922-F51AE1290EA7}">
      <dgm:prSet/>
      <dgm:spPr/>
      <dgm:t>
        <a:bodyPr/>
        <a:lstStyle/>
        <a:p>
          <a:endParaRPr lang="en-US"/>
        </a:p>
      </dgm:t>
    </dgm:pt>
    <dgm:pt modelId="{1F5B2D3D-C67F-4377-9ECE-28FBFE8FB2E8}" type="sibTrans" cxnId="{643D288B-9DBF-4AF8-8922-F51AE1290EA7}">
      <dgm:prSet/>
      <dgm:spPr/>
      <dgm:t>
        <a:bodyPr/>
        <a:lstStyle/>
        <a:p>
          <a:endParaRPr lang="en-US"/>
        </a:p>
      </dgm:t>
    </dgm:pt>
    <dgm:pt modelId="{8CB3448E-C5A4-4502-86AE-0F63324D8F94}">
      <dgm:prSet/>
      <dgm:spPr/>
      <dgm:t>
        <a:bodyPr/>
        <a:lstStyle/>
        <a:p>
          <a:pPr algn="ctr"/>
          <a:r>
            <a:rPr lang="en-US" dirty="0" err="1"/>
            <a:t>Overskrift</a:t>
          </a:r>
          <a:endParaRPr lang="en-US" dirty="0"/>
        </a:p>
      </dgm:t>
    </dgm:pt>
    <dgm:pt modelId="{3B35EC55-80C9-4300-96F4-07E93A50CE9A}" type="parTrans" cxnId="{96476353-6788-45BF-95D8-3C7043759056}">
      <dgm:prSet/>
      <dgm:spPr/>
      <dgm:t>
        <a:bodyPr/>
        <a:lstStyle/>
        <a:p>
          <a:endParaRPr lang="en-US"/>
        </a:p>
      </dgm:t>
    </dgm:pt>
    <dgm:pt modelId="{CE37CA2F-2936-44F9-8908-82872A8D5F4C}" type="sibTrans" cxnId="{96476353-6788-45BF-95D8-3C7043759056}">
      <dgm:prSet/>
      <dgm:spPr/>
      <dgm:t>
        <a:bodyPr/>
        <a:lstStyle/>
        <a:p>
          <a:endParaRPr lang="en-US"/>
        </a:p>
      </dgm:t>
    </dgm:pt>
    <dgm:pt modelId="{3806CE24-89E2-4BB6-A258-0EE8CBD41AA7}">
      <dgm:prSet/>
      <dgm:spPr/>
      <dgm:t>
        <a:bodyPr/>
        <a:lstStyle/>
        <a:p>
          <a:pPr algn="ctr"/>
          <a:r>
            <a:rPr lang="en-US" dirty="0" err="1"/>
            <a:t>Brødtekst</a:t>
          </a:r>
          <a:endParaRPr lang="en-US" dirty="0"/>
        </a:p>
      </dgm:t>
    </dgm:pt>
    <dgm:pt modelId="{B0DC998E-4583-4B40-99BE-8CFD13E23E24}" type="parTrans" cxnId="{9AD0B401-5072-44BD-98E4-928AD68F8C2F}">
      <dgm:prSet/>
      <dgm:spPr/>
      <dgm:t>
        <a:bodyPr/>
        <a:lstStyle/>
        <a:p>
          <a:endParaRPr lang="en-US"/>
        </a:p>
      </dgm:t>
    </dgm:pt>
    <dgm:pt modelId="{3E9F4FB0-6C24-41D5-B774-4B9F934F32F9}" type="sibTrans" cxnId="{9AD0B401-5072-44BD-98E4-928AD68F8C2F}">
      <dgm:prSet/>
      <dgm:spPr/>
      <dgm:t>
        <a:bodyPr/>
        <a:lstStyle/>
        <a:p>
          <a:endParaRPr lang="en-US"/>
        </a:p>
      </dgm:t>
    </dgm:pt>
    <dgm:pt modelId="{33BF4849-5492-B34E-AB1F-73D41C7E464E}" type="pres">
      <dgm:prSet presAssocID="{D4480577-200C-4FDB-B4EC-BDDD8C83E6F5}" presName="linear" presStyleCnt="0">
        <dgm:presLayoutVars>
          <dgm:animLvl val="lvl"/>
          <dgm:resizeHandles val="exact"/>
        </dgm:presLayoutVars>
      </dgm:prSet>
      <dgm:spPr/>
    </dgm:pt>
    <dgm:pt modelId="{A50D86B3-9E5B-354C-B0B1-72CD727D7421}" type="pres">
      <dgm:prSet presAssocID="{07E475D4-967C-4D99-A699-0BD63E3E65AF}" presName="parentText" presStyleLbl="node1" presStyleIdx="0" presStyleCnt="3" custLinFactY="-33548" custLinFactNeighborX="15484" custLinFactNeighborY="-100000">
        <dgm:presLayoutVars>
          <dgm:chMax val="0"/>
          <dgm:bulletEnabled val="1"/>
        </dgm:presLayoutVars>
      </dgm:prSet>
      <dgm:spPr/>
    </dgm:pt>
    <dgm:pt modelId="{481A6233-2377-B54E-8E5F-2CE1591F94F7}" type="pres">
      <dgm:prSet presAssocID="{1F5B2D3D-C67F-4377-9ECE-28FBFE8FB2E8}" presName="spacer" presStyleCnt="0"/>
      <dgm:spPr/>
    </dgm:pt>
    <dgm:pt modelId="{C814E7D2-4FBF-F946-91F3-AB20ACD5E079}" type="pres">
      <dgm:prSet presAssocID="{8CB3448E-C5A4-4502-86AE-0F63324D8F9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A75A30E-DD92-464C-8706-AF5D5429587C}" type="pres">
      <dgm:prSet presAssocID="{CE37CA2F-2936-44F9-8908-82872A8D5F4C}" presName="spacer" presStyleCnt="0"/>
      <dgm:spPr/>
    </dgm:pt>
    <dgm:pt modelId="{546D1D08-DB15-2F45-B30F-01F45DD98508}" type="pres">
      <dgm:prSet presAssocID="{3806CE24-89E2-4BB6-A258-0EE8CBD41AA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AD0B401-5072-44BD-98E4-928AD68F8C2F}" srcId="{D4480577-200C-4FDB-B4EC-BDDD8C83E6F5}" destId="{3806CE24-89E2-4BB6-A258-0EE8CBD41AA7}" srcOrd="2" destOrd="0" parTransId="{B0DC998E-4583-4B40-99BE-8CFD13E23E24}" sibTransId="{3E9F4FB0-6C24-41D5-B774-4B9F934F32F9}"/>
    <dgm:cxn modelId="{2FB73741-54DE-EB43-BCC7-430558B5EEAE}" type="presOf" srcId="{D4480577-200C-4FDB-B4EC-BDDD8C83E6F5}" destId="{33BF4849-5492-B34E-AB1F-73D41C7E464E}" srcOrd="0" destOrd="0" presId="urn:microsoft.com/office/officeart/2005/8/layout/vList2"/>
    <dgm:cxn modelId="{96476353-6788-45BF-95D8-3C7043759056}" srcId="{D4480577-200C-4FDB-B4EC-BDDD8C83E6F5}" destId="{8CB3448E-C5A4-4502-86AE-0F63324D8F94}" srcOrd="1" destOrd="0" parTransId="{3B35EC55-80C9-4300-96F4-07E93A50CE9A}" sibTransId="{CE37CA2F-2936-44F9-8908-82872A8D5F4C}"/>
    <dgm:cxn modelId="{643D288B-9DBF-4AF8-8922-F51AE1290EA7}" srcId="{D4480577-200C-4FDB-B4EC-BDDD8C83E6F5}" destId="{07E475D4-967C-4D99-A699-0BD63E3E65AF}" srcOrd="0" destOrd="0" parTransId="{104F59EE-E869-48E4-91DD-0AAA2C3F60E4}" sibTransId="{1F5B2D3D-C67F-4377-9ECE-28FBFE8FB2E8}"/>
    <dgm:cxn modelId="{D1F63FAD-7866-8349-AECA-E5D5FDC9D80F}" type="presOf" srcId="{07E475D4-967C-4D99-A699-0BD63E3E65AF}" destId="{A50D86B3-9E5B-354C-B0B1-72CD727D7421}" srcOrd="0" destOrd="0" presId="urn:microsoft.com/office/officeart/2005/8/layout/vList2"/>
    <dgm:cxn modelId="{2B032EB8-FE2B-3548-B062-B9D1014C140E}" type="presOf" srcId="{8CB3448E-C5A4-4502-86AE-0F63324D8F94}" destId="{C814E7D2-4FBF-F946-91F3-AB20ACD5E079}" srcOrd="0" destOrd="0" presId="urn:microsoft.com/office/officeart/2005/8/layout/vList2"/>
    <dgm:cxn modelId="{DE0BFFBE-92F0-5A4C-8CE0-044DBF07F976}" type="presOf" srcId="{3806CE24-89E2-4BB6-A258-0EE8CBD41AA7}" destId="{546D1D08-DB15-2F45-B30F-01F45DD98508}" srcOrd="0" destOrd="0" presId="urn:microsoft.com/office/officeart/2005/8/layout/vList2"/>
    <dgm:cxn modelId="{80187A86-C2E9-654E-B720-9F81F7D1DE56}" type="presParOf" srcId="{33BF4849-5492-B34E-AB1F-73D41C7E464E}" destId="{A50D86B3-9E5B-354C-B0B1-72CD727D7421}" srcOrd="0" destOrd="0" presId="urn:microsoft.com/office/officeart/2005/8/layout/vList2"/>
    <dgm:cxn modelId="{4DCDD3E2-E168-5344-BAE0-7CA5B3CEFCF9}" type="presParOf" srcId="{33BF4849-5492-B34E-AB1F-73D41C7E464E}" destId="{481A6233-2377-B54E-8E5F-2CE1591F94F7}" srcOrd="1" destOrd="0" presId="urn:microsoft.com/office/officeart/2005/8/layout/vList2"/>
    <dgm:cxn modelId="{C1C4A5CE-B763-AE45-8BAD-FBAF6D8987A1}" type="presParOf" srcId="{33BF4849-5492-B34E-AB1F-73D41C7E464E}" destId="{C814E7D2-4FBF-F946-91F3-AB20ACD5E079}" srcOrd="2" destOrd="0" presId="urn:microsoft.com/office/officeart/2005/8/layout/vList2"/>
    <dgm:cxn modelId="{A0656579-84FA-D24E-911B-96C2CC69CFEF}" type="presParOf" srcId="{33BF4849-5492-B34E-AB1F-73D41C7E464E}" destId="{EA75A30E-DD92-464C-8706-AF5D5429587C}" srcOrd="3" destOrd="0" presId="urn:microsoft.com/office/officeart/2005/8/layout/vList2"/>
    <dgm:cxn modelId="{8913CD3E-21B1-6A44-9DF8-80ED6E8E38CF}" type="presParOf" srcId="{33BF4849-5492-B34E-AB1F-73D41C7E464E}" destId="{546D1D08-DB15-2F45-B30F-01F45DD985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D86B3-9E5B-354C-B0B1-72CD727D7421}">
      <dsp:nvSpPr>
        <dsp:cNvPr id="0" name=""/>
        <dsp:cNvSpPr/>
      </dsp:nvSpPr>
      <dsp:spPr>
        <a:xfrm>
          <a:off x="0" y="0"/>
          <a:ext cx="3472403" cy="10073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Logo</a:t>
          </a:r>
        </a:p>
      </dsp:txBody>
      <dsp:txXfrm>
        <a:off x="49176" y="49176"/>
        <a:ext cx="3374051" cy="909018"/>
      </dsp:txXfrm>
    </dsp:sp>
    <dsp:sp modelId="{C814E7D2-4FBF-F946-91F3-AB20ACD5E079}">
      <dsp:nvSpPr>
        <dsp:cNvPr id="0" name=""/>
        <dsp:cNvSpPr/>
      </dsp:nvSpPr>
      <dsp:spPr>
        <a:xfrm>
          <a:off x="0" y="1145207"/>
          <a:ext cx="3472403" cy="1007370"/>
        </a:xfrm>
        <a:prstGeom prst="roundRect">
          <a:avLst/>
        </a:prstGeom>
        <a:solidFill>
          <a:schemeClr val="accent5">
            <a:hueOff val="-745015"/>
            <a:satOff val="1990"/>
            <a:lumOff val="-7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Overskrift</a:t>
          </a:r>
          <a:endParaRPr lang="en-US" sz="4200" kern="1200" dirty="0"/>
        </a:p>
      </dsp:txBody>
      <dsp:txXfrm>
        <a:off x="49176" y="1194383"/>
        <a:ext cx="3374051" cy="909018"/>
      </dsp:txXfrm>
    </dsp:sp>
    <dsp:sp modelId="{546D1D08-DB15-2F45-B30F-01F45DD98508}">
      <dsp:nvSpPr>
        <dsp:cNvPr id="0" name=""/>
        <dsp:cNvSpPr/>
      </dsp:nvSpPr>
      <dsp:spPr>
        <a:xfrm>
          <a:off x="0" y="2273537"/>
          <a:ext cx="3472403" cy="1007370"/>
        </a:xfrm>
        <a:prstGeom prst="roundRect">
          <a:avLst/>
        </a:prstGeom>
        <a:solidFill>
          <a:schemeClr val="accent5">
            <a:hueOff val="-1490029"/>
            <a:satOff val="3979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Brødtekst</a:t>
          </a:r>
          <a:endParaRPr lang="en-US" sz="4200" kern="1200" dirty="0"/>
        </a:p>
      </dsp:txBody>
      <dsp:txXfrm>
        <a:off x="49176" y="2322713"/>
        <a:ext cx="3374051" cy="909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3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1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2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15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9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5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1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7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1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7/27/2026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503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ByzHoiYFX0?start=5&amp;feature=oemb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ABhMruSIpQ?feature=oembe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3E0473-C315-42D8-A82A-A2FE49DC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3A251-68F2-43E5-812B-4BBAE1A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C6C24198-BD10-3337-28CD-7D6943BC9F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5607" r="-1" b="18129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13" name="decorative circle">
            <a:extLst>
              <a:ext uri="{FF2B5EF4-FFF2-40B4-BE49-F238E27FC236}">
                <a16:creationId xmlns:a16="http://schemas.microsoft.com/office/drawing/2014/main" id="{0350AF23-2606-421F-AB7B-23D9B48F3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3AE334-36DA-6763-FBFB-A96A1F9C3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605" y="1236663"/>
            <a:ext cx="7063739" cy="2387600"/>
          </a:xfrm>
        </p:spPr>
        <p:txBody>
          <a:bodyPr>
            <a:normAutofit/>
          </a:bodyPr>
          <a:lstStyle/>
          <a:p>
            <a:r>
              <a:rPr lang="en-NO" dirty="0">
                <a:solidFill>
                  <a:srgbClr val="FFFFFF"/>
                </a:solidFill>
              </a:rPr>
              <a:t>Typografi</a:t>
            </a:r>
          </a:p>
        </p:txBody>
      </p:sp>
    </p:spTree>
    <p:extLst>
      <p:ext uri="{BB962C8B-B14F-4D97-AF65-F5344CB8AC3E}">
        <p14:creationId xmlns:p14="http://schemas.microsoft.com/office/powerpoint/2010/main" val="3481055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7987-F361-10FC-23AD-A4123D65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365125"/>
            <a:ext cx="9750717" cy="1325563"/>
          </a:xfrm>
        </p:spPr>
        <p:txBody>
          <a:bodyPr/>
          <a:lstStyle/>
          <a:p>
            <a:pPr algn="ctr"/>
            <a:r>
              <a:rPr lang="en-NO" dirty="0"/>
              <a:t>Typografi        </a:t>
            </a:r>
            <a:r>
              <a:rPr lang="en-NO" dirty="0">
                <a:solidFill>
                  <a:srgbClr val="EC9002"/>
                </a:solidFill>
              </a:rPr>
              <a:t>vs.         </a:t>
            </a:r>
            <a:r>
              <a:rPr lang="en-NO" dirty="0"/>
              <a:t>Font. </a:t>
            </a:r>
          </a:p>
        </p:txBody>
      </p:sp>
      <p:pic>
        <p:nvPicPr>
          <p:cNvPr id="8" name="Content Placeholder 7" descr="A collage of words&#10;&#10;Description automatically generated">
            <a:extLst>
              <a:ext uri="{FF2B5EF4-FFF2-40B4-BE49-F238E27FC236}">
                <a16:creationId xmlns:a16="http://schemas.microsoft.com/office/drawing/2014/main" id="{4A5576F3-B323-2EB0-6BAA-ADA9DDA56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6000"/>
                    </a14:imgEffect>
                  </a14:imgLayer>
                </a14:imgProps>
              </a:ext>
            </a:extLst>
          </a:blip>
          <a:srcRect l="32768" t="284" r="13566" b="-284"/>
          <a:stretch/>
        </p:blipFill>
        <p:spPr>
          <a:xfrm>
            <a:off x="3931443" y="1825625"/>
            <a:ext cx="4351338" cy="4351338"/>
          </a:xfrm>
          <a:prstGeom prst="ellipse">
            <a:avLst/>
          </a:prstGeom>
          <a:effectLst>
            <a:outerShdw sx="104000" sy="104000" algn="ctr" rotWithShape="0">
              <a:schemeClr val="accent1"/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F9BFF2-6896-9EEF-D7D1-1E014D5C931A}"/>
              </a:ext>
            </a:extLst>
          </p:cNvPr>
          <p:cNvSpPr txBox="1"/>
          <p:nvPr/>
        </p:nvSpPr>
        <p:spPr>
          <a:xfrm>
            <a:off x="6477633" y="3136612"/>
            <a:ext cx="1607111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NO" sz="3200" dirty="0"/>
              <a:t>CALIBRI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766151-2562-8706-AC44-DCDAEFC25940}"/>
              </a:ext>
            </a:extLst>
          </p:cNvPr>
          <p:cNvSpPr txBox="1"/>
          <p:nvPr/>
        </p:nvSpPr>
        <p:spPr>
          <a:xfrm>
            <a:off x="6468579" y="3064185"/>
            <a:ext cx="1607111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NO" sz="3200" dirty="0"/>
              <a:t>CALIBRI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82A6D1-1E56-F334-6AC9-BFC75DD9456B}"/>
              </a:ext>
            </a:extLst>
          </p:cNvPr>
          <p:cNvCxnSpPr>
            <a:cxnSpLocks/>
          </p:cNvCxnSpPr>
          <p:nvPr/>
        </p:nvCxnSpPr>
        <p:spPr>
          <a:xfrm>
            <a:off x="3595480" y="1507188"/>
            <a:ext cx="923439" cy="905913"/>
          </a:xfrm>
          <a:prstGeom prst="line">
            <a:avLst/>
          </a:prstGeom>
          <a:ln w="127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7CBB09-F2C1-5F79-58F4-405C5A6807AC}"/>
              </a:ext>
            </a:extLst>
          </p:cNvPr>
          <p:cNvCxnSpPr>
            <a:cxnSpLocks/>
          </p:cNvCxnSpPr>
          <p:nvPr/>
        </p:nvCxnSpPr>
        <p:spPr>
          <a:xfrm flipV="1">
            <a:off x="7358170" y="1434361"/>
            <a:ext cx="1260574" cy="1517830"/>
          </a:xfrm>
          <a:prstGeom prst="line">
            <a:avLst/>
          </a:prstGeom>
          <a:ln w="635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01243E8-3CC8-F94E-5EED-EA37CAD65615}"/>
              </a:ext>
            </a:extLst>
          </p:cNvPr>
          <p:cNvSpPr/>
          <p:nvPr/>
        </p:nvSpPr>
        <p:spPr>
          <a:xfrm>
            <a:off x="6359266" y="2953159"/>
            <a:ext cx="1704213" cy="806825"/>
          </a:xfrm>
          <a:prstGeom prst="ellipse">
            <a:avLst/>
          </a:prstGeom>
          <a:noFill/>
          <a:ln w="635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66665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9842728-2BF1-8AE4-81AE-CCA6B28E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Media på Internett 3" descr="Beginning Graphic Design: Typography">
            <a:hlinkClick r:id="" action="ppaction://media"/>
            <a:extLst>
              <a:ext uri="{FF2B5EF4-FFF2-40B4-BE49-F238E27FC236}">
                <a16:creationId xmlns:a16="http://schemas.microsoft.com/office/drawing/2014/main" id="{3D8B6AD0-ACC3-0C57-B3DA-F0E26B16005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2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035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B7818AA9-82F7-46F6-8A83-1A6258163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erif vs. Sans Serif Fonts">
            <a:extLst>
              <a:ext uri="{FF2B5EF4-FFF2-40B4-BE49-F238E27FC236}">
                <a16:creationId xmlns:a16="http://schemas.microsoft.com/office/drawing/2014/main" id="{B49C9E54-7A61-8CC5-A6FC-67601E3381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4" b="536"/>
          <a:stretch/>
        </p:blipFill>
        <p:spPr bwMode="auto">
          <a:xfrm>
            <a:off x="-3050" y="837174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260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DC4A-30CA-8357-FEB2-D9CBB70DF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Sans Serif </a:t>
            </a:r>
          </a:p>
        </p:txBody>
      </p:sp>
      <p:pic>
        <p:nvPicPr>
          <p:cNvPr id="9" name="Content Placeholder 8" descr="A screenshot of a phone&#10;&#10;Description automatically generated">
            <a:extLst>
              <a:ext uri="{FF2B5EF4-FFF2-40B4-BE49-F238E27FC236}">
                <a16:creationId xmlns:a16="http://schemas.microsoft.com/office/drawing/2014/main" id="{56D0321B-4E8A-81E0-AB66-FAABB21F5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4101" y="0"/>
            <a:ext cx="6057899" cy="68580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A740F7-1CDE-1C09-5B23-29B040F8A4BB}"/>
              </a:ext>
            </a:extLst>
          </p:cNvPr>
          <p:cNvSpPr txBox="1"/>
          <p:nvPr/>
        </p:nvSpPr>
        <p:spPr>
          <a:xfrm>
            <a:off x="777240" y="2055813"/>
            <a:ext cx="51464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O" sz="2800" dirty="0">
                <a:latin typeface="Gill Sans" panose="020B0502020104020203" pitchFamily="34" charset="-79"/>
                <a:cs typeface="Gill Sans" panose="020B0502020104020203" pitchFamily="34" charset="-79"/>
              </a:rPr>
              <a:t>Diskuter med læringspartner:</a:t>
            </a:r>
          </a:p>
          <a:p>
            <a:endParaRPr lang="en-NO" sz="28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r>
              <a:rPr lang="en-NO" sz="2800" dirty="0">
                <a:latin typeface="Gill Sans" panose="020B0502020104020203" pitchFamily="34" charset="-79"/>
                <a:cs typeface="Gill Sans" panose="020B0502020104020203" pitchFamily="34" charset="-79"/>
              </a:rPr>
              <a:t>Hvilke </a:t>
            </a:r>
            <a:r>
              <a:rPr lang="en-NO" sz="2800" dirty="0">
                <a:solidFill>
                  <a:srgbClr val="EC9002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følelser</a:t>
            </a:r>
            <a:r>
              <a:rPr lang="en-NO" sz="2800" dirty="0">
                <a:latin typeface="Gill Sans" panose="020B0502020104020203" pitchFamily="34" charset="-79"/>
                <a:cs typeface="Gill Sans" panose="020B0502020104020203" pitchFamily="34" charset="-79"/>
              </a:rPr>
              <a:t> eller assosiasjoner får du av disse fontene? </a:t>
            </a:r>
          </a:p>
        </p:txBody>
      </p:sp>
    </p:spTree>
    <p:extLst>
      <p:ext uri="{BB962C8B-B14F-4D97-AF65-F5344CB8AC3E}">
        <p14:creationId xmlns:p14="http://schemas.microsoft.com/office/powerpoint/2010/main" val="50697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38D5C6-67B4-3F3B-A084-E7CFD1C538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E99C78-8FD3-61D7-9A97-B1F1C57F3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443" y="0"/>
            <a:ext cx="43291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27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4D22-39F0-95CB-51B8-D115FB99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DD219-EA04-983A-FCF7-D21B033F0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4" name="Picture 3" descr="A group of people standing together&#10;&#10;Description automatically generated">
            <a:extLst>
              <a:ext uri="{FF2B5EF4-FFF2-40B4-BE49-F238E27FC236}">
                <a16:creationId xmlns:a16="http://schemas.microsoft.com/office/drawing/2014/main" id="{925E68D0-C9E1-2128-5096-F541875CF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444" y="0"/>
            <a:ext cx="86052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498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B389D1-8FB1-6576-8577-E0880572DE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6376F-9D15-E733-AE3C-2F88652B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4" name="Content Placeholder 3" descr="A screenshot of a video chat&#10;&#10;Description automatically generated">
            <a:extLst>
              <a:ext uri="{FF2B5EF4-FFF2-40B4-BE49-F238E27FC236}">
                <a16:creationId xmlns:a16="http://schemas.microsoft.com/office/drawing/2014/main" id="{08B35565-1042-7A61-2073-F2DE53DCD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483" y="-696"/>
            <a:ext cx="6459034" cy="685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4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F214-2B80-9AE3-869D-9F24A280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>
                <a:latin typeface="Bookman Old Style" panose="02050604050505020204" pitchFamily="18" charset="0"/>
              </a:rPr>
              <a:t>Serif</a:t>
            </a:r>
          </a:p>
        </p:txBody>
      </p:sp>
      <p:pic>
        <p:nvPicPr>
          <p:cNvPr id="5" name="Content Placeholder 4" descr="A group of names of different flowers&#10;&#10;Description automatically generated with medium confidence">
            <a:extLst>
              <a:ext uri="{FF2B5EF4-FFF2-40B4-BE49-F238E27FC236}">
                <a16:creationId xmlns:a16="http://schemas.microsoft.com/office/drawing/2014/main" id="{40FCE309-3109-542D-75BC-31088253E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1671" y="0"/>
            <a:ext cx="643033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858C7E-FDC9-3DA6-7B6A-8FEB4871DB27}"/>
              </a:ext>
            </a:extLst>
          </p:cNvPr>
          <p:cNvSpPr txBox="1"/>
          <p:nvPr/>
        </p:nvSpPr>
        <p:spPr>
          <a:xfrm>
            <a:off x="777240" y="1967947"/>
            <a:ext cx="47707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800" dirty="0">
                <a:latin typeface="Bookman Old Style" panose="02050604050505020204" pitchFamily="18" charset="0"/>
              </a:rPr>
              <a:t>Diskuter med læringspartner:</a:t>
            </a:r>
          </a:p>
          <a:p>
            <a:endParaRPr lang="en-NO" sz="2800" dirty="0">
              <a:latin typeface="Bookman Old Style" panose="02050604050505020204" pitchFamily="18" charset="0"/>
            </a:endParaRPr>
          </a:p>
          <a:p>
            <a:r>
              <a:rPr lang="en-NO" sz="2800" dirty="0">
                <a:latin typeface="Bookman Old Style" panose="02050604050505020204" pitchFamily="18" charset="0"/>
              </a:rPr>
              <a:t>Hvilke </a:t>
            </a:r>
            <a:r>
              <a:rPr lang="en-NO" sz="2800" dirty="0">
                <a:solidFill>
                  <a:schemeClr val="accent2"/>
                </a:solidFill>
                <a:latin typeface="Bookman Old Style" panose="02050604050505020204" pitchFamily="18" charset="0"/>
              </a:rPr>
              <a:t>følelser</a:t>
            </a:r>
            <a:r>
              <a:rPr lang="en-NO" sz="2800" dirty="0">
                <a:latin typeface="Bookman Old Style" panose="02050604050505020204" pitchFamily="18" charset="0"/>
              </a:rPr>
              <a:t> eller assosiasjoner får du av disse fontene? </a:t>
            </a:r>
          </a:p>
        </p:txBody>
      </p:sp>
    </p:spTree>
    <p:extLst>
      <p:ext uri="{BB962C8B-B14F-4D97-AF65-F5344CB8AC3E}">
        <p14:creationId xmlns:p14="http://schemas.microsoft.com/office/powerpoint/2010/main" val="136755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38D5C6-67B4-3F3B-A084-E7CFD1C538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2" name="Picture 2" descr="American Psycho (2000) - IMDb">
            <a:extLst>
              <a:ext uri="{FF2B5EF4-FFF2-40B4-BE49-F238E27FC236}">
                <a16:creationId xmlns:a16="http://schemas.microsoft.com/office/drawing/2014/main" id="{D39FA085-FB6C-F0A9-28FF-5D6E3C1DC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0"/>
            <a:ext cx="4627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726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3F22-7CCE-7F8A-965C-5A0DB7B6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building in the water&#10;&#10;Description automatically generated">
            <a:extLst>
              <a:ext uri="{FF2B5EF4-FFF2-40B4-BE49-F238E27FC236}">
                <a16:creationId xmlns:a16="http://schemas.microsoft.com/office/drawing/2014/main" id="{F8C7F576-A6FA-2C6C-CD4B-FF348D288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5639" y="0"/>
            <a:ext cx="6520721" cy="6892626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6F6D91-6FFF-704E-6DA1-FFB15BFB40DF}"/>
              </a:ext>
            </a:extLst>
          </p:cNvPr>
          <p:cNvSpPr/>
          <p:nvPr/>
        </p:nvSpPr>
        <p:spPr>
          <a:xfrm>
            <a:off x="5636303" y="209862"/>
            <a:ext cx="3720058" cy="52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097244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38D5C6-67B4-3F3B-A084-E7CFD1C538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Picture 6" descr="ТНЕ &#10;THUNDE &#10;Т НОК &#10;АУ 6 &#10;Т Н (У . М А 14 ">
            <a:extLst>
              <a:ext uri="{FF2B5EF4-FFF2-40B4-BE49-F238E27FC236}">
                <a16:creationId xmlns:a16="http://schemas.microsoft.com/office/drawing/2014/main" id="{B27E1EFD-8751-C015-0D2A-492927018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844" y="0"/>
            <a:ext cx="4356312" cy="691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442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78C7-E00C-DC19-9EC4-16A55773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C529D23-3030-A21C-D8BD-B775F44C8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726" y="1825625"/>
            <a:ext cx="9956773" cy="4351338"/>
          </a:xfrm>
        </p:spPr>
      </p:pic>
    </p:spTree>
    <p:extLst>
      <p:ext uri="{BB962C8B-B14F-4D97-AF65-F5344CB8AC3E}">
        <p14:creationId xmlns:p14="http://schemas.microsoft.com/office/powerpoint/2010/main" val="2722978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37D0-CEC0-C569-18B8-BFF4A12B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Display fonter</a:t>
            </a:r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C23022DF-E545-2D3D-6055-88E4A4A70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4703" y="0"/>
            <a:ext cx="6487297" cy="684770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1B91AE-705E-7EB9-306D-E9C20E359D04}"/>
              </a:ext>
            </a:extLst>
          </p:cNvPr>
          <p:cNvSpPr txBox="1"/>
          <p:nvPr/>
        </p:nvSpPr>
        <p:spPr>
          <a:xfrm>
            <a:off x="864704" y="1690688"/>
            <a:ext cx="39259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800" dirty="0"/>
              <a:t>Unikt design, godt egnet for </a:t>
            </a:r>
            <a:r>
              <a:rPr lang="en-NO" sz="2800" dirty="0">
                <a:solidFill>
                  <a:schemeClr val="accent6"/>
                </a:solidFill>
              </a:rPr>
              <a:t>logoer</a:t>
            </a:r>
          </a:p>
          <a:p>
            <a:endParaRPr lang="en-NO" sz="2800" dirty="0"/>
          </a:p>
          <a:p>
            <a:r>
              <a:rPr lang="en-NO" sz="2800" dirty="0"/>
              <a:t>Ikke veldig lesbare</a:t>
            </a:r>
          </a:p>
        </p:txBody>
      </p:sp>
    </p:spTree>
    <p:extLst>
      <p:ext uri="{BB962C8B-B14F-4D97-AF65-F5344CB8AC3E}">
        <p14:creationId xmlns:p14="http://schemas.microsoft.com/office/powerpoint/2010/main" val="1502118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E56722E-6D99-5657-E658-06A607271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43" b="6653"/>
          <a:stretch/>
        </p:blipFill>
        <p:spPr bwMode="auto">
          <a:xfrm>
            <a:off x="3534795" y="0"/>
            <a:ext cx="5122409" cy="689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938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F4C1B-C929-6DF8-C8C9-E2B8ABBAF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4" name="Online Media 3" descr="Font Choice Matters #fontchoice #designer  #designerlife">
            <a:hlinkClick r:id="" action="ppaction://media"/>
            <a:extLst>
              <a:ext uri="{FF2B5EF4-FFF2-40B4-BE49-F238E27FC236}">
                <a16:creationId xmlns:a16="http://schemas.microsoft.com/office/drawing/2014/main" id="{F98673C4-7E0F-9445-5588-16EF19BF62B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-27088"/>
            <a:ext cx="12192000" cy="688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663A72-E771-41D4-96AA-28C1B2172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164F59-4B09-4DB4-A99F-97C71DE46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B99C0-5F3B-2DF8-51D0-F4CAF4D93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75" y="469859"/>
            <a:ext cx="4047140" cy="5847858"/>
          </a:xfrm>
        </p:spPr>
        <p:txBody>
          <a:bodyPr anchor="ctr">
            <a:normAutofit/>
          </a:bodyPr>
          <a:lstStyle/>
          <a:p>
            <a:br>
              <a:rPr lang="en-NO" sz="4400" dirty="0"/>
            </a:br>
            <a:br>
              <a:rPr lang="en-NO" sz="4400" dirty="0"/>
            </a:br>
            <a:br>
              <a:rPr lang="en-NO" sz="4400" dirty="0"/>
            </a:br>
            <a:r>
              <a:rPr lang="en-NO" sz="4400" dirty="0"/>
              <a:t>Du skal konseptualisere</a:t>
            </a:r>
            <a:br>
              <a:rPr lang="en-NO" sz="4400" dirty="0"/>
            </a:br>
            <a:br>
              <a:rPr lang="en-NO" sz="4400" dirty="0"/>
            </a:br>
            <a:r>
              <a:rPr lang="en-NO" sz="3200" dirty="0">
                <a:solidFill>
                  <a:srgbClr val="EC9002"/>
                </a:solidFill>
              </a:rPr>
              <a:t>Husk research, verdier og hensikt!</a:t>
            </a:r>
            <a:br>
              <a:rPr lang="en-NO" sz="4400" dirty="0"/>
            </a:br>
            <a:endParaRPr lang="en-NO" sz="44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336017-F12B-485C-B5E1-B6971DA0C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6099" y="238175"/>
            <a:ext cx="6735901" cy="6619825"/>
          </a:xfrm>
          <a:custGeom>
            <a:avLst/>
            <a:gdLst>
              <a:gd name="connsiteX0" fmla="*/ 1224540 w 2115556"/>
              <a:gd name="connsiteY0" fmla="*/ 0 h 2079100"/>
              <a:gd name="connsiteX1" fmla="*/ 2090421 w 2115556"/>
              <a:gd name="connsiteY1" fmla="*/ 358660 h 2079100"/>
              <a:gd name="connsiteX2" fmla="*/ 2115556 w 2115556"/>
              <a:gd name="connsiteY2" fmla="*/ 386315 h 2079100"/>
              <a:gd name="connsiteX3" fmla="*/ 2115556 w 2115556"/>
              <a:gd name="connsiteY3" fmla="*/ 2062765 h 2079100"/>
              <a:gd name="connsiteX4" fmla="*/ 2100710 w 2115556"/>
              <a:gd name="connsiteY4" fmla="*/ 2079100 h 2079100"/>
              <a:gd name="connsiteX5" fmla="*/ 348370 w 2115556"/>
              <a:gd name="connsiteY5" fmla="*/ 2079100 h 2079100"/>
              <a:gd name="connsiteX6" fmla="*/ 279625 w 2115556"/>
              <a:gd name="connsiteY6" fmla="*/ 2003461 h 2079100"/>
              <a:gd name="connsiteX7" fmla="*/ 0 w 2115556"/>
              <a:gd name="connsiteY7" fmla="*/ 1224540 h 2079100"/>
              <a:gd name="connsiteX8" fmla="*/ 1224540 w 2115556"/>
              <a:gd name="connsiteY8" fmla="*/ 0 h 207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5556" h="2079100">
                <a:moveTo>
                  <a:pt x="1224540" y="0"/>
                </a:moveTo>
                <a:cubicBezTo>
                  <a:pt x="1562687" y="0"/>
                  <a:pt x="1868823" y="137062"/>
                  <a:pt x="2090421" y="358660"/>
                </a:cubicBezTo>
                <a:lnTo>
                  <a:pt x="2115556" y="386315"/>
                </a:lnTo>
                <a:lnTo>
                  <a:pt x="2115556" y="2062765"/>
                </a:lnTo>
                <a:lnTo>
                  <a:pt x="2100710" y="2079100"/>
                </a:lnTo>
                <a:lnTo>
                  <a:pt x="348370" y="2079100"/>
                </a:lnTo>
                <a:lnTo>
                  <a:pt x="279625" y="2003461"/>
                </a:lnTo>
                <a:cubicBezTo>
                  <a:pt x="104938" y="1791789"/>
                  <a:pt x="0" y="1520419"/>
                  <a:pt x="0" y="1224540"/>
                </a:cubicBezTo>
                <a:cubicBezTo>
                  <a:pt x="0" y="548245"/>
                  <a:pt x="548245" y="0"/>
                  <a:pt x="12245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5" name="decorative circles">
            <a:extLst>
              <a:ext uri="{FF2B5EF4-FFF2-40B4-BE49-F238E27FC236}">
                <a16:creationId xmlns:a16="http://schemas.microsoft.com/office/drawing/2014/main" id="{C2C078FA-5775-45CB-A8F3-53B3F1AD2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51383" y="299808"/>
            <a:ext cx="1668948" cy="6421669"/>
            <a:chOff x="9951383" y="299808"/>
            <a:chExt cx="1668948" cy="642166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5CBEB7-29CF-4F21-ABB7-012581304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53890" y="554418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900504-84D3-4813-B737-775C16F8F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134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04BF80-E9DB-4641-8EA2-51698324F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236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34395B9-3F83-49A4-9275-0A315D88F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6802" y="6415697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7ABD02-CD92-4D6C-B4BA-984D6688F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51383" y="6204350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3C7C97-82AF-6DA6-0928-23FBECB61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026997"/>
              </p:ext>
            </p:extLst>
          </p:nvPr>
        </p:nvGraphicFramePr>
        <p:xfrm>
          <a:off x="6959965" y="1899195"/>
          <a:ext cx="3472403" cy="3297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FC06AE-D25D-7F8E-4CEA-676BB532BDB3}"/>
              </a:ext>
            </a:extLst>
          </p:cNvPr>
          <p:cNvCxnSpPr>
            <a:cxnSpLocks/>
          </p:cNvCxnSpPr>
          <p:nvPr/>
        </p:nvCxnSpPr>
        <p:spPr>
          <a:xfrm>
            <a:off x="5059020" y="3548087"/>
            <a:ext cx="794158" cy="0"/>
          </a:xfrm>
          <a:prstGeom prst="straightConnector1">
            <a:avLst/>
          </a:prstGeom>
          <a:ln w="1238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766220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70</Words>
  <Application>Microsoft Office PowerPoint</Application>
  <PresentationFormat>Widescreen</PresentationFormat>
  <Paragraphs>20</Paragraphs>
  <Slides>17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Bookman Old Style</vt:lpstr>
      <vt:lpstr>Calibri</vt:lpstr>
      <vt:lpstr>Gill Sans</vt:lpstr>
      <vt:lpstr>Gill Sans Nova</vt:lpstr>
      <vt:lpstr>ConfettiVTI</vt:lpstr>
      <vt:lpstr>Typografi</vt:lpstr>
      <vt:lpstr>Typografi        vs.         Font. </vt:lpstr>
      <vt:lpstr>PowerPoint Presentation</vt:lpstr>
      <vt:lpstr>PowerPoint Presentation</vt:lpstr>
      <vt:lpstr>Sans Serif </vt:lpstr>
      <vt:lpstr>PowerPoint Presentation</vt:lpstr>
      <vt:lpstr>PowerPoint Presentation</vt:lpstr>
      <vt:lpstr>PowerPoint Presentation</vt:lpstr>
      <vt:lpstr>Serif</vt:lpstr>
      <vt:lpstr>PowerPoint Presentation</vt:lpstr>
      <vt:lpstr>PowerPoint Presentation</vt:lpstr>
      <vt:lpstr>PowerPoint Presentation</vt:lpstr>
      <vt:lpstr>PowerPoint Presentation</vt:lpstr>
      <vt:lpstr>Display fonter</vt:lpstr>
      <vt:lpstr>PowerPoint Presentation</vt:lpstr>
      <vt:lpstr>PowerPoint Presentation</vt:lpstr>
      <vt:lpstr>   Du skal konseptualisere  Husk research, verdier og hensikt!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Typografi</dc:title>
  <dc:creator>Sondre Kile Andersen</dc:creator>
  <cp:lastModifiedBy>Sondre Kile Andersen</cp:lastModifiedBy>
  <cp:revision>7</cp:revision>
  <dcterms:created xsi:type="dcterms:W3CDTF">2024-01-10T20:00:53Z</dcterms:created>
  <dcterms:modified xsi:type="dcterms:W3CDTF">2026-07-26T22:17:39Z</dcterms:modified>
</cp:coreProperties>
</file>