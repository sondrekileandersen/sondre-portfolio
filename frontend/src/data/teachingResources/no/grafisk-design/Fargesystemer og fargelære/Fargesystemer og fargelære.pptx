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83" r:id="rId5"/>
    <p:sldId id="258" r:id="rId6"/>
    <p:sldId id="260" r:id="rId7"/>
    <p:sldId id="259" r:id="rId8"/>
    <p:sldId id="257" r:id="rId9"/>
    <p:sldId id="284" r:id="rId10"/>
    <p:sldId id="263" r:id="rId11"/>
    <p:sldId id="285" r:id="rId12"/>
    <p:sldId id="286" r:id="rId13"/>
    <p:sldId id="293" r:id="rId14"/>
    <p:sldId id="287" r:id="rId15"/>
    <p:sldId id="289" r:id="rId16"/>
    <p:sldId id="290" r:id="rId17"/>
    <p:sldId id="291" r:id="rId18"/>
    <p:sldId id="29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01053A"/>
    <a:srgbClr val="EB265E"/>
    <a:srgbClr val="DB21BC"/>
    <a:srgbClr val="E81515"/>
    <a:srgbClr val="DB2121"/>
    <a:srgbClr val="FF0000"/>
    <a:srgbClr val="000000"/>
    <a:srgbClr val="00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1CF92F-C900-D727-793F-3E209CEE1D41}" v="89" dt="2024-10-14T03:46:04.391"/>
    <p1510:client id="{5BBB0105-98AC-BBF8-4E48-09FEE642EBF2}" v="112" dt="2024-10-14T04:14:48.6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03547A-02C5-4976-B848-C6FB4F5DE621}" type="datetimeFigureOut"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EA5655-10E3-45A6-9A80-E41F29CE0DC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037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c43a7df54a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c43a7df54a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c43a7df54a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c43a7df54a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43a7df54a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c43a7df54a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96D25F8-76D0-4920-8DD9-87A83E7D1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5E1F75AF-FD6E-48C0-AC56-F0A65BB1AD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49B81CB-4492-442C-9B74-E3B3A0FF5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EEAC-A815-4FE2-A2B2-47E4DC5E06C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A24E9677-E84B-455C-878A-3857DF14C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DAC67D6-3352-49BC-8606-B27D24958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530E-B2BD-4AAE-A9A1-E9E2FAC1A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202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602DC1F-8144-4049-85A9-BF9ED47F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29EA113-30D7-4F7E-847A-FB3678238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B1FBBF1-829E-4F30-95DF-70E740044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EEAC-A815-4FE2-A2B2-47E4DC5E06C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6CEA785-60FB-4869-9EDA-0769D6D1A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30A98C3-00A8-4115-9CD0-8A713AC8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530E-B2BD-4AAE-A9A1-E9E2FAC1A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978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B1DF3AF-E006-4452-B0FA-D6C788913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85CE9C3D-9C10-444B-80D5-64AB50662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DB456EE-8975-4EB1-A987-5FD816100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EEAC-A815-4FE2-A2B2-47E4DC5E06C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ABC3E300-490E-47A5-854A-6AB28A236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93ABE664-7044-4F6E-B413-9961A2690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530E-B2BD-4AAE-A9A1-E9E2FAC1A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23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7037CC0-802D-44E1-8B9A-C53D56818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F965971-13F1-4FC9-9E34-7EABA50411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86991FD9-1CC1-4017-B198-B0D2651BC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58C5BA8A-5474-4980-84B7-E0E1E27FE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EEAC-A815-4FE2-A2B2-47E4DC5E06C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24B91C34-F70D-44B7-9801-A2A2C9C84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D39018FF-29F9-4DE8-94F4-B1B283258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530E-B2BD-4AAE-A9A1-E9E2FAC1A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733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6B7F9A4-AB1A-46F7-B99C-609FDD033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213E8134-DEEE-49A2-AA42-8E226C23D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DCFDA19F-1397-4F59-870A-195A0C9B2A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0202DD03-9FC4-4017-81D1-F110BA6D30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79D35EBB-734B-4C76-83FF-580765E5D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99C31290-0F2F-4349-A231-AEEF663D0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EEAC-A815-4FE2-A2B2-47E4DC5E06C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EC70638A-E01A-4094-B4B7-C1B6946C8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90C2CF6E-3243-42AD-ADBF-7B5EE514F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530E-B2BD-4AAE-A9A1-E9E2FAC1A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90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3A9DA5A-60C7-4E9C-BA2B-044278165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CE1A3882-B853-48C8-B7A5-5CB67847D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EEAC-A815-4FE2-A2B2-47E4DC5E06C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1FD34600-C5F1-47B6-8BB0-EB1BEB880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0F92A96F-5ACE-447C-BA12-8FC6929F8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530E-B2BD-4AAE-A9A1-E9E2FAC1A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547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6F842F39-5488-493C-93DB-4B6525B7D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EEAC-A815-4FE2-A2B2-47E4DC5E06C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2A9DEFB9-3CD5-4B7A-A50D-610B8BA48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E388E542-5DF9-4378-B205-29EA6282F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530E-B2BD-4AAE-A9A1-E9E2FAC1A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422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114EC06-4B7B-480D-8AC3-648117A54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EC5490A-AA0B-4A70-8294-1A922CD5D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D0BEE2D9-9884-4374-BBEF-AC9595190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491905F2-FAA3-4556-8CB7-931C54196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EEAC-A815-4FE2-A2B2-47E4DC5E06C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4584384B-FFCF-4D8B-8B3E-8297F5454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EB55539E-B663-439A-89CE-86E2DD2A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530E-B2BD-4AAE-A9A1-E9E2FAC1A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003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314804B-7A80-47DD-9E7F-C39F19588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7493304C-04DB-4D87-9DDD-B34A044269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5DF7AF23-4161-4C99-9EC3-A6E834C4B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C9BB8D3A-0269-4F43-B9C9-3BF81A313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EEAC-A815-4FE2-A2B2-47E4DC5E06C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7326DE22-C70C-45D8-BB69-822F9575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A2E2A645-8600-4B29-853A-C110B11A7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530E-B2BD-4AAE-A9A1-E9E2FAC1A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242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6AB08ED-161E-4C0F-A92C-3F8D5DCC1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15255104-DF66-4CC2-97D6-0BB9991CC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FE39813C-863E-4BCD-9A54-9863F5DB6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EEAC-A815-4FE2-A2B2-47E4DC5E06C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F265B162-6773-476B-87DA-18C401682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C9F86A6-D404-41D6-BB7F-4790873D5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530E-B2BD-4AAE-A9A1-E9E2FAC1A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649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F6CCD665-F565-49D1-9142-512E74E75E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A5D0B3E8-B141-4263-841C-98556D9A84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747E930A-9793-4348-8E40-3D43CD6B2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EEAC-A815-4FE2-A2B2-47E4DC5E06C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E3C73C06-05EB-4D3A-808B-14E7D1676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2C182B1-081E-49F8-9453-2DE09EBF5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530E-B2BD-4AAE-A9A1-E9E2FAC1A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295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5DFBE360-45C7-4590-8142-34820391D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57887411-5E6A-4BC3-BDFA-73F43F45A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C35C0D8-5CD1-4C9F-A541-C67C8AE7C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0EEAC-A815-4FE2-A2B2-47E4DC5E06C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C4F4336-64BF-494A-8B12-47029F2E79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7175C41-1CCD-441D-8EFE-FFA4D3E1BA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2530E-B2BD-4AAE-A9A1-E9E2FAC1A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39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julianhochgesang?utm_source=unsplash&amp;utm_medium=referral&amp;utm_content=creditCopyText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PNtMAxYaGyg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D54B39-497B-4895-FE4B-4FFDA4B80B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028437" y="-2667001"/>
            <a:ext cx="8129026" cy="121920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14C41D-00F5-9DDE-B488-B2F3A9EAD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35514"/>
            <a:ext cx="12188952" cy="79942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8000" b="1" dirty="0" err="1">
                <a:solidFill>
                  <a:schemeClr val="bg1"/>
                </a:solidFill>
                <a:latin typeface="Lucida Sans" panose="020F0502020204030204" pitchFamily="34" charset="0"/>
                <a:ea typeface="DengXian Light" panose="020B0503020204020204" pitchFamily="2" charset="-122"/>
                <a:cs typeface="ADLaM Display" panose="020F0502020204030204" pitchFamily="2" charset="0"/>
              </a:rPr>
              <a:t>Fargesystemer</a:t>
            </a:r>
            <a:endParaRPr lang="en-US" sz="8000" b="1" dirty="0">
              <a:solidFill>
                <a:schemeClr val="bg1"/>
              </a:solidFill>
              <a:latin typeface="Lucida Sans" panose="020F0502020204030204" pitchFamily="34" charset="0"/>
              <a:ea typeface="DengXian Light" panose="020B0503020204020204" pitchFamily="2" charset="-122"/>
              <a:cs typeface="ADLaM Display" panose="020F05020202040302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671759-1EA7-41CE-9D52-5A19E5A7510C}"/>
              </a:ext>
            </a:extLst>
          </p:cNvPr>
          <p:cNvSpPr txBox="1"/>
          <p:nvPr/>
        </p:nvSpPr>
        <p:spPr>
          <a:xfrm>
            <a:off x="382211" y="6627830"/>
            <a:ext cx="4620584" cy="460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dirty="0">
                <a:solidFill>
                  <a:schemeClr val="bg1"/>
                </a:solidFill>
              </a:rPr>
              <a:t>Photo by </a:t>
            </a:r>
            <a:r>
              <a:rPr lang="en-US" sz="24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Julian Hochgesang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32926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13F41D7-4291-AD17-EB77-F356C8EB71F8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Calibri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88F5CA0C-8CBE-4B08-A26A-77971131E5DE}"/>
              </a:ext>
            </a:extLst>
          </p:cNvPr>
          <p:cNvSpPr txBox="1"/>
          <p:nvPr/>
        </p:nvSpPr>
        <p:spPr>
          <a:xfrm>
            <a:off x="6958170" y="3876703"/>
            <a:ext cx="5231712" cy="26161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000" b="1"/>
              <a:t>CMYK </a:t>
            </a:r>
            <a:br>
              <a:rPr lang="en-US" sz="4000" b="1"/>
            </a:br>
            <a:r>
              <a:rPr lang="en-US" sz="2800"/>
              <a:t>Cyan, magenta, yellow, black </a:t>
            </a:r>
            <a:endParaRPr lang="en-US">
              <a:ea typeface="Calibri"/>
              <a:cs typeface="Calibri" panose="020F0502020204030204"/>
            </a:endParaRPr>
          </a:p>
          <a:p>
            <a:pPr algn="ctr"/>
            <a:r>
              <a:rPr lang="en-US" sz="4000" b="1">
                <a:latin typeface="Calibri"/>
                <a:cs typeface="Calibri"/>
              </a:rPr>
              <a:t>PRINT/PIGMENT</a:t>
            </a:r>
            <a:endParaRPr lang="en-US" sz="4000" b="1">
              <a:latin typeface="Calibri"/>
              <a:ea typeface="Calibri"/>
              <a:cs typeface="Calibri"/>
            </a:endParaRPr>
          </a:p>
          <a:p>
            <a:pPr algn="ctr"/>
            <a:r>
              <a:rPr lang="en-US" sz="2800">
                <a:latin typeface="Calibri"/>
                <a:cs typeface="Calibri"/>
              </a:rPr>
              <a:t>16000 </a:t>
            </a:r>
            <a:r>
              <a:rPr lang="en-US" sz="2800" err="1">
                <a:latin typeface="Calibri"/>
                <a:cs typeface="Calibri"/>
              </a:rPr>
              <a:t>farger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2800">
                <a:latin typeface="Calibri"/>
                <a:cs typeface="Calibri"/>
              </a:rPr>
              <a:t>(Hvit </a:t>
            </a:r>
            <a:r>
              <a:rPr lang="en-US" sz="2800" err="1">
                <a:latin typeface="Calibri"/>
                <a:cs typeface="Calibri"/>
              </a:rPr>
              <a:t>bakgrunn</a:t>
            </a:r>
            <a:r>
              <a:rPr lang="en-US" sz="2800">
                <a:latin typeface="Calibri"/>
                <a:cs typeface="Calibri"/>
              </a:rPr>
              <a:t>)</a:t>
            </a:r>
            <a:endParaRPr lang="en-US" sz="3600"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F0ED379C-CDCF-1814-3266-81A299C1434D}"/>
              </a:ext>
            </a:extLst>
          </p:cNvPr>
          <p:cNvSpPr txBox="1"/>
          <p:nvPr/>
        </p:nvSpPr>
        <p:spPr>
          <a:xfrm>
            <a:off x="-4606" y="3876703"/>
            <a:ext cx="5203135" cy="26161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000" b="1">
                <a:solidFill>
                  <a:schemeClr val="bg1"/>
                </a:solidFill>
              </a:rPr>
              <a:t>RGB &amp; Hex</a:t>
            </a:r>
            <a:br>
              <a:rPr lang="en-US" sz="4000">
                <a:solidFill>
                  <a:schemeClr val="bg1"/>
                </a:solidFill>
              </a:rPr>
            </a:br>
            <a:r>
              <a:rPr lang="en-US" sz="2800">
                <a:solidFill>
                  <a:schemeClr val="bg1"/>
                </a:solidFill>
              </a:rPr>
              <a:t>Red, green, blue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r>
              <a:rPr lang="en-US" sz="4000" b="1">
                <a:solidFill>
                  <a:schemeClr val="bg1"/>
                </a:solidFill>
                <a:latin typeface="Calibri"/>
                <a:cs typeface="Calibri"/>
              </a:rPr>
              <a:t>LYS</a:t>
            </a:r>
            <a:endParaRPr lang="en-US" sz="4000" b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2800">
                <a:solidFill>
                  <a:schemeClr val="bg1"/>
                </a:solidFill>
                <a:ea typeface="Calibri"/>
                <a:cs typeface="Calibri"/>
              </a:rPr>
              <a:t>16.8M </a:t>
            </a:r>
            <a:r>
              <a:rPr lang="en-US" sz="2800" err="1">
                <a:solidFill>
                  <a:schemeClr val="bg1"/>
                </a:solidFill>
                <a:ea typeface="Calibri"/>
                <a:cs typeface="Calibri"/>
              </a:rPr>
              <a:t>farger</a:t>
            </a:r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r>
              <a:rPr lang="en-US" sz="2800">
                <a:solidFill>
                  <a:schemeClr val="bg1"/>
                </a:solidFill>
                <a:cs typeface="Calibri"/>
              </a:rPr>
              <a:t>(Svart Base)</a:t>
            </a:r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4" name="Picture 3" descr="A group of circles with different colors&#10;&#10;Description automatically generated">
            <a:extLst>
              <a:ext uri="{FF2B5EF4-FFF2-40B4-BE49-F238E27FC236}">
                <a16:creationId xmlns:a16="http://schemas.microsoft.com/office/drawing/2014/main" id="{E5F183B5-A301-28F4-32FA-73FFAF5FCB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370" r="-510" b="-2583"/>
          <a:stretch/>
        </p:blipFill>
        <p:spPr>
          <a:xfrm>
            <a:off x="7502382" y="257731"/>
            <a:ext cx="3885239" cy="3405597"/>
          </a:xfrm>
          <a:prstGeom prst="rect">
            <a:avLst/>
          </a:prstGeom>
        </p:spPr>
      </p:pic>
      <p:pic>
        <p:nvPicPr>
          <p:cNvPr id="5" name="Picture 4" descr="A group of circles with different colors&#10;&#10;Description automatically generated">
            <a:extLst>
              <a:ext uri="{FF2B5EF4-FFF2-40B4-BE49-F238E27FC236}">
                <a16:creationId xmlns:a16="http://schemas.microsoft.com/office/drawing/2014/main" id="{97147425-064B-DC97-7A79-03FA86CFA1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8" t="-46" r="49304" b="-365"/>
          <a:stretch/>
        </p:blipFill>
        <p:spPr>
          <a:xfrm>
            <a:off x="909978" y="408939"/>
            <a:ext cx="3888132" cy="3339291"/>
          </a:xfrm>
          <a:prstGeom prst="rect">
            <a:avLst/>
          </a:prstGeom>
        </p:spPr>
      </p:pic>
      <p:pic>
        <p:nvPicPr>
          <p:cNvPr id="6" name="Picture 5" descr="A computer screen with colored lights&#10;&#10;Description automatically generated">
            <a:extLst>
              <a:ext uri="{FF2B5EF4-FFF2-40B4-BE49-F238E27FC236}">
                <a16:creationId xmlns:a16="http://schemas.microsoft.com/office/drawing/2014/main" id="{1A32A05B-0408-70E4-BC6B-378AE9C22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820" y="5520418"/>
            <a:ext cx="1238250" cy="962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9B0FDC-F9DB-D722-75DA-7691CD8FA8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00132" y="5465309"/>
            <a:ext cx="1114425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92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on a stage with a stage with lights and a crowd of people&#10;&#10;Description automatically generated">
            <a:extLst>
              <a:ext uri="{FF2B5EF4-FFF2-40B4-BE49-F238E27FC236}">
                <a16:creationId xmlns:a16="http://schemas.microsoft.com/office/drawing/2014/main" id="{61032D4B-2569-8425-FDB0-2205FC0283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15709" b="2"/>
          <a:stretch/>
        </p:blipFill>
        <p:spPr>
          <a:xfrm>
            <a:off x="4825158" y="12228"/>
            <a:ext cx="7377017" cy="5338506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7D65C7AE-43E6-DEEF-21C6-94F69770B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176" y="5344620"/>
            <a:ext cx="12202176" cy="1519355"/>
            <a:chOff x="-10176" y="5338644"/>
            <a:chExt cx="12202176" cy="15193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3E591D3-C82D-EFF2-C1B9-715BFB67ED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V="1">
              <a:off x="5331238" y="-2767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B61A17-DD52-DE54-2FDF-45CAF92D02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V="1">
              <a:off x="8226086" y="2885969"/>
              <a:ext cx="1507122" cy="6424706"/>
            </a:xfrm>
            <a:prstGeom prst="rect">
              <a:avLst/>
            </a:prstGeom>
            <a:gradFill>
              <a:gsLst>
                <a:gs pos="98739">
                  <a:schemeClr val="accent5">
                    <a:alpha val="70000"/>
                  </a:schemeClr>
                </a:gs>
                <a:gs pos="45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9DC8DB2-298F-EDD7-9BCE-78101BCDC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V="1">
              <a:off x="3921534" y="1406934"/>
              <a:ext cx="1519355" cy="9382775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1">
            <a:extLst>
              <a:ext uri="{FF2B5EF4-FFF2-40B4-BE49-F238E27FC236}">
                <a16:creationId xmlns:a16="http://schemas.microsoft.com/office/drawing/2014/main" id="{2852648D-D143-4B95-95AD-4F88AEF3BD2F}"/>
              </a:ext>
            </a:extLst>
          </p:cNvPr>
          <p:cNvSpPr txBox="1"/>
          <p:nvPr/>
        </p:nvSpPr>
        <p:spPr>
          <a:xfrm>
            <a:off x="838200" y="5595614"/>
            <a:ext cx="6784181" cy="913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RGB </a:t>
            </a:r>
            <a:r>
              <a:rPr lang="en-US" sz="3200" b="1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og</a:t>
            </a:r>
            <a:r>
              <a:rPr lang="en-US" sz="32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HEX</a:t>
            </a:r>
            <a:r>
              <a:rPr lang="en-US" sz="3200" b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- Lys</a:t>
            </a:r>
            <a:endParaRPr lang="en-US" sz="32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 computer with headphones and a keyboard&#10;&#10;Description automatically generated">
            <a:extLst>
              <a:ext uri="{FF2B5EF4-FFF2-40B4-BE49-F238E27FC236}">
                <a16:creationId xmlns:a16="http://schemas.microsoft.com/office/drawing/2014/main" id="{34770D6A-9B65-E4D7-641C-CA508DCB73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29" r="8347" b="45327"/>
          <a:stretch/>
        </p:blipFill>
        <p:spPr>
          <a:xfrm>
            <a:off x="-20351" y="0"/>
            <a:ext cx="6424706" cy="533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96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A building with graffiti on the side of a road&#10;&#10;Description automatically generated">
            <a:extLst>
              <a:ext uri="{FF2B5EF4-FFF2-40B4-BE49-F238E27FC236}">
                <a16:creationId xmlns:a16="http://schemas.microsoft.com/office/drawing/2014/main" id="{F6B728FB-94D8-4313-9925-25E70BBBB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22" r="-130" b="-169"/>
          <a:stretch/>
        </p:blipFill>
        <p:spPr>
          <a:xfrm>
            <a:off x="0" y="0"/>
            <a:ext cx="9510723" cy="6869568"/>
          </a:xfrm>
          <a:prstGeom prst="rect">
            <a:avLst/>
          </a:prstGeom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0FD31DCD-C950-4E72-97CF-183C4B4091A1}"/>
              </a:ext>
            </a:extLst>
          </p:cNvPr>
          <p:cNvSpPr txBox="1"/>
          <p:nvPr/>
        </p:nvSpPr>
        <p:spPr>
          <a:xfrm>
            <a:off x="191393" y="103238"/>
            <a:ext cx="9365562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CMYK – Print / Pigment</a:t>
            </a:r>
            <a:endParaRPr lang="en-US" sz="4000" b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Picture 3" descr="Doodle Black Oversized Back Graphic Printed Tshirt">
            <a:extLst>
              <a:ext uri="{FF2B5EF4-FFF2-40B4-BE49-F238E27FC236}">
                <a16:creationId xmlns:a16="http://schemas.microsoft.com/office/drawing/2014/main" id="{F570FD42-0024-A941-9B90-C37A7ED48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617" y="2148"/>
            <a:ext cx="5382589" cy="685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772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058C51C-909F-4929-DC2F-B9564705E11C}"/>
              </a:ext>
            </a:extLst>
          </p:cNvPr>
          <p:cNvSpPr/>
          <p:nvPr/>
        </p:nvSpPr>
        <p:spPr>
          <a:xfrm>
            <a:off x="0" y="0"/>
            <a:ext cx="12191999" cy="40087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Calibri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FA2418B9-452C-4B61-B13B-4BE1883176B5}"/>
              </a:ext>
            </a:extLst>
          </p:cNvPr>
          <p:cNvSpPr txBox="1"/>
          <p:nvPr/>
        </p:nvSpPr>
        <p:spPr>
          <a:xfrm>
            <a:off x="5051617" y="496775"/>
            <a:ext cx="7430715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RGB:</a:t>
            </a:r>
            <a:r>
              <a:rPr lang="en-US" sz="3200" b="1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3200">
                <a:solidFill>
                  <a:srgbClr val="E81515"/>
                </a:solidFill>
                <a:ea typeface="Calibri"/>
                <a:cs typeface="Calibri"/>
              </a:rPr>
              <a:t>255</a:t>
            </a:r>
            <a:r>
              <a:rPr lang="en-US" sz="3200">
                <a:solidFill>
                  <a:schemeClr val="bg1"/>
                </a:solidFill>
                <a:ea typeface="Calibri"/>
                <a:cs typeface="Calibri"/>
              </a:rPr>
              <a:t>,</a:t>
            </a:r>
            <a:r>
              <a:rPr lang="en-US" sz="3200">
                <a:solidFill>
                  <a:schemeClr val="accent6"/>
                </a:solidFill>
                <a:ea typeface="Calibri"/>
                <a:cs typeface="Calibri"/>
              </a:rPr>
              <a:t>255</a:t>
            </a:r>
            <a:r>
              <a:rPr lang="en-US" sz="3200">
                <a:solidFill>
                  <a:schemeClr val="bg1"/>
                </a:solidFill>
                <a:ea typeface="Calibri"/>
                <a:cs typeface="Calibri"/>
              </a:rPr>
              <a:t>,</a:t>
            </a:r>
            <a:r>
              <a:rPr lang="en-US" sz="3200">
                <a:solidFill>
                  <a:schemeClr val="accent1"/>
                </a:solidFill>
                <a:ea typeface="Calibri"/>
                <a:cs typeface="Calibri"/>
              </a:rPr>
              <a:t>255</a:t>
            </a:r>
          </a:p>
          <a:p>
            <a:r>
              <a:rPr lang="en-US" sz="3200" err="1">
                <a:solidFill>
                  <a:schemeClr val="bg1"/>
                </a:solidFill>
              </a:rPr>
              <a:t>Tallverdier</a:t>
            </a:r>
            <a:r>
              <a:rPr lang="en-US" sz="3200">
                <a:solidFill>
                  <a:schemeClr val="bg1"/>
                </a:solidFill>
              </a:rPr>
              <a:t> </a:t>
            </a:r>
            <a:r>
              <a:rPr lang="en-US" sz="3200" err="1">
                <a:solidFill>
                  <a:schemeClr val="bg1"/>
                </a:solidFill>
              </a:rPr>
              <a:t>fra</a:t>
            </a:r>
            <a:r>
              <a:rPr lang="en-US" sz="3200">
                <a:solidFill>
                  <a:schemeClr val="bg1"/>
                </a:solidFill>
              </a:rPr>
              <a:t> 0 </a:t>
            </a:r>
            <a:r>
              <a:rPr lang="en-US" sz="3200" err="1">
                <a:solidFill>
                  <a:schemeClr val="bg1"/>
                </a:solidFill>
              </a:rPr>
              <a:t>til</a:t>
            </a:r>
            <a:r>
              <a:rPr lang="en-US" sz="3200">
                <a:solidFill>
                  <a:schemeClr val="bg1"/>
                </a:solidFill>
              </a:rPr>
              <a:t> 255</a:t>
            </a:r>
            <a:endParaRPr lang="en-US" sz="320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8" name="Picture 7" descr="A group of circles with different colors&#10;&#10;Description automatically generated">
            <a:extLst>
              <a:ext uri="{FF2B5EF4-FFF2-40B4-BE49-F238E27FC236}">
                <a16:creationId xmlns:a16="http://schemas.microsoft.com/office/drawing/2014/main" id="{9FC69816-6CF2-37A7-6A42-CE4D558D6B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8" t="-46" r="49304" b="-365"/>
          <a:stretch/>
        </p:blipFill>
        <p:spPr>
          <a:xfrm>
            <a:off x="1931025" y="651895"/>
            <a:ext cx="2813445" cy="2430729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B95657D8-1091-8173-2F43-25A570E5A730}"/>
              </a:ext>
            </a:extLst>
          </p:cNvPr>
          <p:cNvSpPr txBox="1"/>
          <p:nvPr/>
        </p:nvSpPr>
        <p:spPr>
          <a:xfrm>
            <a:off x="5051616" y="1865850"/>
            <a:ext cx="7180343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HEX</a:t>
            </a:r>
            <a:r>
              <a:rPr lang="en-US" sz="3200" b="1">
                <a:solidFill>
                  <a:schemeClr val="bg1"/>
                </a:solidFill>
                <a:ea typeface="Calibri"/>
                <a:cs typeface="Calibri"/>
              </a:rPr>
              <a:t>: </a:t>
            </a:r>
            <a:r>
              <a:rPr lang="en-US" sz="3200">
                <a:solidFill>
                  <a:schemeClr val="bg1"/>
                </a:solidFill>
                <a:ea typeface="Calibri"/>
                <a:cs typeface="Calibri"/>
              </a:rPr>
              <a:t># </a:t>
            </a:r>
            <a:r>
              <a:rPr lang="en-US" sz="3200">
                <a:solidFill>
                  <a:srgbClr val="DB2121"/>
                </a:solidFill>
                <a:ea typeface="Calibri"/>
                <a:cs typeface="Calibri"/>
              </a:rPr>
              <a:t>00 </a:t>
            </a:r>
            <a:r>
              <a:rPr lang="en-US" sz="3200">
                <a:solidFill>
                  <a:schemeClr val="accent6"/>
                </a:solidFill>
                <a:ea typeface="Calibri"/>
                <a:cs typeface="Calibri"/>
              </a:rPr>
              <a:t>00 </a:t>
            </a:r>
            <a:r>
              <a:rPr lang="en-US" sz="3200">
                <a:solidFill>
                  <a:srgbClr val="0070C0"/>
                </a:solidFill>
                <a:ea typeface="Calibri"/>
                <a:cs typeface="Calibri"/>
              </a:rPr>
              <a:t>00</a:t>
            </a:r>
            <a:endParaRPr lang="en-US" sz="3200">
              <a:solidFill>
                <a:srgbClr val="262626"/>
              </a:solidFill>
              <a:ea typeface="Calibri"/>
              <a:cs typeface="Calibri"/>
            </a:endParaRPr>
          </a:p>
          <a:p>
            <a:r>
              <a:rPr lang="en-US" sz="3200">
                <a:solidFill>
                  <a:schemeClr val="bg1"/>
                </a:solidFill>
              </a:rPr>
              <a:t>Det </a:t>
            </a:r>
            <a:r>
              <a:rPr lang="en-US" sz="3200" err="1">
                <a:solidFill>
                  <a:schemeClr val="bg1"/>
                </a:solidFill>
              </a:rPr>
              <a:t>hexidesimale</a:t>
            </a:r>
            <a:r>
              <a:rPr lang="en-US" sz="3200">
                <a:solidFill>
                  <a:schemeClr val="bg1"/>
                </a:solidFill>
              </a:rPr>
              <a:t> </a:t>
            </a:r>
            <a:endParaRPr lang="en-US" sz="320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3200" err="1">
                <a:solidFill>
                  <a:schemeClr val="bg1"/>
                </a:solidFill>
              </a:rPr>
              <a:t>tallsystemet</a:t>
            </a:r>
            <a:r>
              <a:rPr lang="en-US" sz="3200">
                <a:solidFill>
                  <a:schemeClr val="bg1"/>
                </a:solidFill>
              </a:rPr>
              <a:t> - 0123456789ABCDEF</a:t>
            </a:r>
            <a:endParaRPr lang="en-US" sz="320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7" name="Picture 6" descr="A group of circles with different colors&#10;&#10;Description automatically generated">
            <a:extLst>
              <a:ext uri="{FF2B5EF4-FFF2-40B4-BE49-F238E27FC236}">
                <a16:creationId xmlns:a16="http://schemas.microsoft.com/office/drawing/2014/main" id="{0B5DA066-1C17-BEF3-206F-10CF8346BD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370" r="-510" b="-2583"/>
          <a:stretch/>
        </p:blipFill>
        <p:spPr>
          <a:xfrm>
            <a:off x="1748730" y="4310687"/>
            <a:ext cx="2604196" cy="2279163"/>
          </a:xfrm>
          <a:prstGeom prst="rect">
            <a:avLst/>
          </a:prstGeom>
        </p:spPr>
      </p:pic>
      <p:sp>
        <p:nvSpPr>
          <p:cNvPr id="11" name="TextBox 1">
            <a:extLst>
              <a:ext uri="{FF2B5EF4-FFF2-40B4-BE49-F238E27FC236}">
                <a16:creationId xmlns:a16="http://schemas.microsoft.com/office/drawing/2014/main" id="{3B1DC5F8-017D-D9D1-375E-800C0A6409F4}"/>
              </a:ext>
            </a:extLst>
          </p:cNvPr>
          <p:cNvSpPr txBox="1"/>
          <p:nvPr/>
        </p:nvSpPr>
        <p:spPr>
          <a:xfrm>
            <a:off x="5049408" y="4779120"/>
            <a:ext cx="7180343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/>
              <a:t>CMYK: </a:t>
            </a:r>
            <a:r>
              <a:rPr lang="en-US" sz="3200">
                <a:solidFill>
                  <a:srgbClr val="00B0F0"/>
                </a:solidFill>
              </a:rPr>
              <a:t>50%</a:t>
            </a:r>
            <a:r>
              <a:rPr lang="en-US" sz="3200"/>
              <a:t>, </a:t>
            </a:r>
            <a:r>
              <a:rPr lang="en-US" sz="3200">
                <a:solidFill>
                  <a:srgbClr val="DB21BC"/>
                </a:solidFill>
              </a:rPr>
              <a:t>50%</a:t>
            </a:r>
            <a:r>
              <a:rPr lang="en-US" sz="3200"/>
              <a:t>, </a:t>
            </a:r>
            <a:r>
              <a:rPr lang="en-US" sz="3200">
                <a:solidFill>
                  <a:schemeClr val="accent4"/>
                </a:solidFill>
              </a:rPr>
              <a:t>50%</a:t>
            </a:r>
            <a:r>
              <a:rPr lang="en-US" sz="3200"/>
              <a:t>, 0%</a:t>
            </a:r>
            <a:endParaRPr lang="en-US" sz="3200" b="1">
              <a:ea typeface="Calibri"/>
              <a:cs typeface="Calibri"/>
            </a:endParaRPr>
          </a:p>
          <a:p>
            <a:r>
              <a:rPr lang="en-US" sz="3200" err="1">
                <a:ea typeface="Calibri"/>
                <a:cs typeface="Calibri"/>
              </a:rPr>
              <a:t>Oppgitt</a:t>
            </a:r>
            <a:r>
              <a:rPr lang="en-US" sz="3200">
                <a:ea typeface="Calibri"/>
                <a:cs typeface="Calibri"/>
              </a:rPr>
              <a:t> </a:t>
            </a:r>
            <a:r>
              <a:rPr lang="en-US" sz="3200" err="1">
                <a:ea typeface="Calibri"/>
                <a:cs typeface="Calibri"/>
              </a:rPr>
              <a:t>i</a:t>
            </a:r>
            <a:r>
              <a:rPr lang="en-US" sz="3200">
                <a:ea typeface="Calibri"/>
                <a:cs typeface="Calibri"/>
              </a:rPr>
              <a:t> </a:t>
            </a:r>
            <a:r>
              <a:rPr lang="en-US" sz="3200" err="1">
                <a:ea typeface="Calibri"/>
                <a:cs typeface="Calibri"/>
              </a:rPr>
              <a:t>prosent</a:t>
            </a:r>
            <a:r>
              <a:rPr lang="en-US" sz="3200">
                <a:ea typeface="Calibri"/>
                <a:cs typeface="Calibri"/>
              </a:rPr>
              <a:t> </a:t>
            </a:r>
            <a:r>
              <a:rPr lang="en-US" sz="3200" err="1">
                <a:ea typeface="Calibri"/>
                <a:cs typeface="Calibri"/>
              </a:rPr>
              <a:t>fra</a:t>
            </a:r>
            <a:r>
              <a:rPr lang="en-US" sz="3200">
                <a:ea typeface="Calibri"/>
                <a:cs typeface="Calibri"/>
              </a:rPr>
              <a:t> 0 </a:t>
            </a:r>
            <a:r>
              <a:rPr lang="en-US" sz="3200" err="1">
                <a:ea typeface="Calibri"/>
                <a:cs typeface="Calibri"/>
              </a:rPr>
              <a:t>til</a:t>
            </a:r>
            <a:r>
              <a:rPr lang="en-US" sz="3200">
                <a:ea typeface="Calibri"/>
                <a:cs typeface="Calibri"/>
              </a:rPr>
              <a:t> 100</a:t>
            </a:r>
          </a:p>
        </p:txBody>
      </p:sp>
    </p:spTree>
    <p:extLst>
      <p:ext uri="{BB962C8B-B14F-4D97-AF65-F5344CB8AC3E}">
        <p14:creationId xmlns:p14="http://schemas.microsoft.com/office/powerpoint/2010/main" val="2884183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CB51EF22-A23B-9C92-C996-22D1F2860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013" y="52387"/>
            <a:ext cx="8943975" cy="6753225"/>
          </a:xfrm>
          <a:prstGeom prst="rect">
            <a:avLst/>
          </a:prstGeom>
        </p:spPr>
      </p:pic>
      <p:sp>
        <p:nvSpPr>
          <p:cNvPr id="2" name="Rektangel 1">
            <a:extLst>
              <a:ext uri="{FF2B5EF4-FFF2-40B4-BE49-F238E27FC236}">
                <a16:creationId xmlns:a16="http://schemas.microsoft.com/office/drawing/2014/main" id="{E1C678FD-CD7F-45B5-D847-494CAC639D11}"/>
              </a:ext>
            </a:extLst>
          </p:cNvPr>
          <p:cNvSpPr/>
          <p:nvPr/>
        </p:nvSpPr>
        <p:spPr>
          <a:xfrm>
            <a:off x="6651171" y="4699907"/>
            <a:ext cx="3812720" cy="198391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97800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4E5C1E-39FB-389D-02BD-97665D4BA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8" y="537029"/>
            <a:ext cx="12158564" cy="580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312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color wheel&#10;&#10;Description automatically generated">
            <a:extLst>
              <a:ext uri="{FF2B5EF4-FFF2-40B4-BE49-F238E27FC236}">
                <a16:creationId xmlns:a16="http://schemas.microsoft.com/office/drawing/2014/main" id="{CA9433BC-0E8A-E209-4D78-6E80B109A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79" y="2506750"/>
            <a:ext cx="5274129" cy="2969079"/>
          </a:xfrm>
          <a:prstGeom prst="rect">
            <a:avLst/>
          </a:prstGeom>
        </p:spPr>
      </p:pic>
      <p:pic>
        <p:nvPicPr>
          <p:cNvPr id="19" name="Picture 18" descr="A screenshot of a computer&#10;&#10;Description automatically generated">
            <a:extLst>
              <a:ext uri="{FF2B5EF4-FFF2-40B4-BE49-F238E27FC236}">
                <a16:creationId xmlns:a16="http://schemas.microsoft.com/office/drawing/2014/main" id="{C4A602D8-6131-B028-4335-35938E2948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861" r="42061" b="18613"/>
          <a:stretch/>
        </p:blipFill>
        <p:spPr>
          <a:xfrm>
            <a:off x="7205592" y="2331966"/>
            <a:ext cx="3628892" cy="3315417"/>
          </a:xfrm>
          <a:prstGeom prst="rect">
            <a:avLst/>
          </a:prstGeom>
        </p:spPr>
      </p:pic>
      <p:sp>
        <p:nvSpPr>
          <p:cNvPr id="21" name="Tittel 5">
            <a:extLst>
              <a:ext uri="{FF2B5EF4-FFF2-40B4-BE49-F238E27FC236}">
                <a16:creationId xmlns:a16="http://schemas.microsoft.com/office/drawing/2014/main" id="{A4F21513-25BE-F278-23B1-E7AEB78E663C}"/>
              </a:ext>
            </a:extLst>
          </p:cNvPr>
          <p:cNvSpPr txBox="1">
            <a:spLocks/>
          </p:cNvSpPr>
          <p:nvPr/>
        </p:nvSpPr>
        <p:spPr>
          <a:xfrm>
            <a:off x="1526122" y="550863"/>
            <a:ext cx="9134162" cy="112823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nb-NO" b="1"/>
              <a:t>HSL: Hue, </a:t>
            </a:r>
            <a:r>
              <a:rPr lang="nb-NO" b="1" err="1"/>
              <a:t>Saturation</a:t>
            </a:r>
            <a:r>
              <a:rPr lang="nb-NO" b="1"/>
              <a:t>, </a:t>
            </a:r>
            <a:r>
              <a:rPr lang="nb-NO" b="1" err="1"/>
              <a:t>Light</a:t>
            </a:r>
            <a:endParaRPr lang="en-US" b="1" err="1">
              <a:ea typeface="Calibri Light" panose="020F0302020204030204"/>
              <a:cs typeface="Calibri Light" panose="020F0302020204030204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B473DB4-B54D-796B-134F-D5D887AE3BB6}"/>
              </a:ext>
            </a:extLst>
          </p:cNvPr>
          <p:cNvCxnSpPr/>
          <p:nvPr/>
        </p:nvCxnSpPr>
        <p:spPr>
          <a:xfrm flipH="1">
            <a:off x="6966905" y="2491834"/>
            <a:ext cx="3909" cy="2965938"/>
          </a:xfrm>
          <a:prstGeom prst="straightConnector1">
            <a:avLst/>
          </a:prstGeom>
          <a:ln w="57150">
            <a:solidFill>
              <a:schemeClr val="bg2">
                <a:lumMod val="90000"/>
              </a:schemeClr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1DC1C8B-27FF-824D-7E1D-C4E2E8A985F2}"/>
              </a:ext>
            </a:extLst>
          </p:cNvPr>
          <p:cNvCxnSpPr>
            <a:cxnSpLocks/>
          </p:cNvCxnSpPr>
          <p:nvPr/>
        </p:nvCxnSpPr>
        <p:spPr>
          <a:xfrm flipH="1">
            <a:off x="7364045" y="2131645"/>
            <a:ext cx="2963985" cy="5862"/>
          </a:xfrm>
          <a:prstGeom prst="straightConnector1">
            <a:avLst/>
          </a:prstGeom>
          <a:ln w="57150">
            <a:solidFill>
              <a:schemeClr val="bg2">
                <a:lumMod val="90000"/>
              </a:schemeClr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FB52A1D-4E87-03D9-07B5-A3CC8889C8A6}"/>
              </a:ext>
            </a:extLst>
          </p:cNvPr>
          <p:cNvCxnSpPr>
            <a:cxnSpLocks/>
          </p:cNvCxnSpPr>
          <p:nvPr/>
        </p:nvCxnSpPr>
        <p:spPr>
          <a:xfrm flipH="1">
            <a:off x="11066583" y="2502877"/>
            <a:ext cx="3909" cy="2965938"/>
          </a:xfrm>
          <a:prstGeom prst="straightConnector1">
            <a:avLst/>
          </a:prstGeom>
          <a:ln w="57150">
            <a:solidFill>
              <a:schemeClr val="bg2">
                <a:lumMod val="90000"/>
              </a:schemeClr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TextBox 5">
            <a:extLst>
              <a:ext uri="{FF2B5EF4-FFF2-40B4-BE49-F238E27FC236}">
                <a16:creationId xmlns:a16="http://schemas.microsoft.com/office/drawing/2014/main" id="{60138310-CDAB-4400-B6EF-9673E40722B5}"/>
              </a:ext>
            </a:extLst>
          </p:cNvPr>
          <p:cNvSpPr txBox="1"/>
          <p:nvPr/>
        </p:nvSpPr>
        <p:spPr>
          <a:xfrm>
            <a:off x="11115103" y="3783058"/>
            <a:ext cx="10987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HUE</a:t>
            </a:r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id="{D6EFE2A0-5F9C-9CAE-1138-C40802080C03}"/>
              </a:ext>
            </a:extLst>
          </p:cNvPr>
          <p:cNvSpPr txBox="1"/>
          <p:nvPr/>
        </p:nvSpPr>
        <p:spPr>
          <a:xfrm>
            <a:off x="8301564" y="1711981"/>
            <a:ext cx="156763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ea typeface="Calibri"/>
                <a:cs typeface="Calibri"/>
              </a:rPr>
              <a:t>Saturation</a:t>
            </a:r>
          </a:p>
        </p:txBody>
      </p:sp>
      <p:sp>
        <p:nvSpPr>
          <p:cNvPr id="27" name="TextBox 5">
            <a:extLst>
              <a:ext uri="{FF2B5EF4-FFF2-40B4-BE49-F238E27FC236}">
                <a16:creationId xmlns:a16="http://schemas.microsoft.com/office/drawing/2014/main" id="{F8B2BFB5-DDBB-86DA-8732-3795A5CF907E}"/>
              </a:ext>
            </a:extLst>
          </p:cNvPr>
          <p:cNvSpPr txBox="1"/>
          <p:nvPr/>
        </p:nvSpPr>
        <p:spPr>
          <a:xfrm>
            <a:off x="6233885" y="3703630"/>
            <a:ext cx="156763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ea typeface="Calibri"/>
                <a:cs typeface="Calibri"/>
              </a:rPr>
              <a:t>Light</a:t>
            </a:r>
          </a:p>
        </p:txBody>
      </p:sp>
      <p:sp>
        <p:nvSpPr>
          <p:cNvPr id="28" name="TextBox 5">
            <a:extLst>
              <a:ext uri="{FF2B5EF4-FFF2-40B4-BE49-F238E27FC236}">
                <a16:creationId xmlns:a16="http://schemas.microsoft.com/office/drawing/2014/main" id="{5ED88D0F-5CD7-4CBC-F964-E3D83BC61D5E}"/>
              </a:ext>
            </a:extLst>
          </p:cNvPr>
          <p:cNvSpPr txBox="1"/>
          <p:nvPr/>
        </p:nvSpPr>
        <p:spPr>
          <a:xfrm>
            <a:off x="4717476" y="4422107"/>
            <a:ext cx="1567637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ea typeface="Calibri"/>
                <a:cs typeface="Calibri"/>
              </a:rPr>
              <a:t>LIGHT</a:t>
            </a:r>
          </a:p>
        </p:txBody>
      </p:sp>
    </p:spTree>
    <p:extLst>
      <p:ext uri="{BB962C8B-B14F-4D97-AF65-F5344CB8AC3E}">
        <p14:creationId xmlns:p14="http://schemas.microsoft.com/office/powerpoint/2010/main" val="344011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F0E63E-D1D4-88A6-B28D-4B19DDBFF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9976" y="0"/>
            <a:ext cx="12531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218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318F72-36D1-9C3A-238A-D4494334C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820" y="918577"/>
            <a:ext cx="8642221" cy="502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956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lassholder for innhold 3" descr="Et bilde som inneholder tekst, skjermbilde, grafisk design, Grafikk&#10;&#10;Automatisk generert beskrivelse">
            <a:extLst>
              <a:ext uri="{FF2B5EF4-FFF2-40B4-BE49-F238E27FC236}">
                <a16:creationId xmlns:a16="http://schemas.microsoft.com/office/drawing/2014/main" id="{626F36EE-7F02-C69B-A213-2E197B231C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8942" y="-4648"/>
            <a:ext cx="7854116" cy="6868884"/>
          </a:xfrm>
        </p:spPr>
      </p:pic>
    </p:spTree>
    <p:extLst>
      <p:ext uri="{BB962C8B-B14F-4D97-AF65-F5344CB8AC3E}">
        <p14:creationId xmlns:p14="http://schemas.microsoft.com/office/powerpoint/2010/main" val="2082040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69" y="0"/>
            <a:ext cx="599506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5"/>
          <p:cNvSpPr txBox="1"/>
          <p:nvPr/>
        </p:nvSpPr>
        <p:spPr>
          <a:xfrm>
            <a:off x="6858000" y="1061800"/>
            <a:ext cx="4020800" cy="759200"/>
          </a:xfrm>
          <a:prstGeom prst="rect">
            <a:avLst/>
          </a:prstGeom>
          <a:solidFill>
            <a:srgbClr val="006A90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o" sz="3333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Monokrom </a:t>
            </a:r>
            <a:endParaRPr sz="3333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5"/>
          <p:cNvSpPr txBox="1"/>
          <p:nvPr/>
        </p:nvSpPr>
        <p:spPr>
          <a:xfrm>
            <a:off x="6858000" y="2210567"/>
            <a:ext cx="4020800" cy="37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9585" lvl="0" indent="-448722" algn="l" rtl="0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lang="no" sz="2267">
                <a:latin typeface="Roboto"/>
                <a:ea typeface="Roboto"/>
                <a:cs typeface="Roboto"/>
                <a:sym typeface="Roboto"/>
              </a:rPr>
              <a:t>Et monokromatisk fargeskjema bruker variasjoner av én farge for å skape et sterkt uttrykk med en intens følelse. </a:t>
            </a:r>
            <a:endParaRPr sz="2267">
              <a:latin typeface="Roboto"/>
              <a:ea typeface="Roboto"/>
              <a:cs typeface="Roboto"/>
              <a:sym typeface="Roboto"/>
            </a:endParaRPr>
          </a:p>
          <a:p>
            <a:pPr marL="609585" lvl="0" indent="-448722" algn="l" rtl="0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lang="no" sz="2267">
                <a:latin typeface="Roboto"/>
                <a:ea typeface="Roboto"/>
                <a:cs typeface="Roboto"/>
                <a:sym typeface="Roboto"/>
              </a:rPr>
              <a:t>Ofte vil en aksentfarge bli brukt for å trekke øyet til et bestemt sted, som feks tittelen.</a:t>
            </a:r>
            <a:endParaRPr sz="2267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748421-A650-22B9-8C86-DB5992E22BE4}"/>
              </a:ext>
            </a:extLst>
          </p:cNvPr>
          <p:cNvSpPr txBox="1"/>
          <p:nvPr/>
        </p:nvSpPr>
        <p:spPr>
          <a:xfrm>
            <a:off x="8947743" y="6230636"/>
            <a:ext cx="3218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2">
                    <a:lumMod val="75000"/>
                  </a:schemeClr>
                </a:solidFill>
              </a:rPr>
              <a:t>Slide </a:t>
            </a:r>
            <a:r>
              <a:rPr lang="en-US" i="1" dirty="0" err="1">
                <a:solidFill>
                  <a:schemeClr val="bg2">
                    <a:lumMod val="75000"/>
                  </a:schemeClr>
                </a:solidFill>
              </a:rPr>
              <a:t>laget</a:t>
            </a:r>
            <a:r>
              <a:rPr lang="en-US" i="1" dirty="0">
                <a:solidFill>
                  <a:schemeClr val="bg2">
                    <a:lumMod val="75000"/>
                  </a:schemeClr>
                </a:solidFill>
              </a:rPr>
              <a:t> av Marthe Skarsvåg</a:t>
            </a:r>
          </a:p>
        </p:txBody>
      </p:sp>
    </p:spTree>
    <p:extLst>
      <p:ext uri="{BB962C8B-B14F-4D97-AF65-F5344CB8AC3E}">
        <p14:creationId xmlns:p14="http://schemas.microsoft.com/office/powerpoint/2010/main" val="2316291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9233"/>
            <a:ext cx="599506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/>
          <p:cNvSpPr txBox="1"/>
          <p:nvPr/>
        </p:nvSpPr>
        <p:spPr>
          <a:xfrm>
            <a:off x="6858000" y="1061800"/>
            <a:ext cx="4020800" cy="759200"/>
          </a:xfrm>
          <a:prstGeom prst="rect">
            <a:avLst/>
          </a:prstGeom>
          <a:solidFill>
            <a:srgbClr val="EE7200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o" sz="3333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Analoge farger</a:t>
            </a:r>
            <a:endParaRPr sz="3333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36"/>
          <p:cNvSpPr txBox="1"/>
          <p:nvPr/>
        </p:nvSpPr>
        <p:spPr>
          <a:xfrm>
            <a:off x="5982600" y="2245367"/>
            <a:ext cx="5771600" cy="40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9585" lvl="0" indent="-448722" algn="l" rtl="0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lang="no" sz="2267">
                <a:latin typeface="Roboto"/>
                <a:ea typeface="Roboto"/>
                <a:cs typeface="Roboto"/>
                <a:sym typeface="Roboto"/>
              </a:rPr>
              <a:t>Analoge farger er de som sitter ved siden av hverandre på fargehjulet. </a:t>
            </a:r>
            <a:endParaRPr sz="2267">
              <a:latin typeface="Roboto"/>
              <a:ea typeface="Roboto"/>
              <a:cs typeface="Roboto"/>
              <a:sym typeface="Roboto"/>
            </a:endParaRPr>
          </a:p>
          <a:p>
            <a:pPr marL="609585" lvl="0" indent="-448722" algn="l" rtl="0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lang="no" sz="2267">
                <a:latin typeface="Roboto"/>
                <a:ea typeface="Roboto"/>
                <a:cs typeface="Roboto"/>
                <a:sym typeface="Roboto"/>
              </a:rPr>
              <a:t>De har en naturlig harmoni, men det er avgjørende at du balanserer bruken av disse fargene, ellers kan uttrykket bli overveldende. </a:t>
            </a:r>
            <a:endParaRPr sz="2267">
              <a:latin typeface="Roboto"/>
              <a:ea typeface="Roboto"/>
              <a:cs typeface="Roboto"/>
              <a:sym typeface="Roboto"/>
            </a:endParaRPr>
          </a:p>
          <a:p>
            <a:pPr marL="609585" lvl="0" indent="-448722" algn="l" rtl="0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lang="no" sz="2267">
                <a:latin typeface="Roboto"/>
                <a:ea typeface="Roboto"/>
                <a:cs typeface="Roboto"/>
                <a:sym typeface="Roboto"/>
              </a:rPr>
              <a:t>Et godt utgangspunkt er 60-30-10-regelen:</a:t>
            </a:r>
            <a:endParaRPr sz="2267">
              <a:latin typeface="Roboto"/>
              <a:ea typeface="Roboto"/>
              <a:cs typeface="Roboto"/>
              <a:sym typeface="Roboto"/>
            </a:endParaRPr>
          </a:p>
          <a:p>
            <a:pPr marL="1219170" lvl="1" indent="-448722" algn="l" rtl="0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○"/>
            </a:pPr>
            <a:r>
              <a:rPr lang="no" sz="2267">
                <a:latin typeface="Roboto"/>
                <a:ea typeface="Roboto"/>
                <a:cs typeface="Roboto"/>
                <a:sym typeface="Roboto"/>
              </a:rPr>
              <a:t>60 % av en grunnfarge, 30 % av en aksentfarge og 10 % for “fargepops”.</a:t>
            </a:r>
            <a:endParaRPr sz="2267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BF0D55-5F50-41AC-F8EB-ED0F8DADBFA8}"/>
              </a:ext>
            </a:extLst>
          </p:cNvPr>
          <p:cNvSpPr txBox="1"/>
          <p:nvPr/>
        </p:nvSpPr>
        <p:spPr>
          <a:xfrm>
            <a:off x="8947743" y="6230636"/>
            <a:ext cx="3218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2">
                    <a:lumMod val="75000"/>
                  </a:schemeClr>
                </a:solidFill>
              </a:rPr>
              <a:t>Slide </a:t>
            </a:r>
            <a:r>
              <a:rPr lang="en-US" i="1" dirty="0" err="1">
                <a:solidFill>
                  <a:schemeClr val="bg2">
                    <a:lumMod val="75000"/>
                  </a:schemeClr>
                </a:solidFill>
              </a:rPr>
              <a:t>laget</a:t>
            </a:r>
            <a:r>
              <a:rPr lang="en-US" i="1" dirty="0">
                <a:solidFill>
                  <a:schemeClr val="bg2">
                    <a:lumMod val="75000"/>
                  </a:schemeClr>
                </a:solidFill>
              </a:rPr>
              <a:t> av Marthe Skarsvåg</a:t>
            </a:r>
          </a:p>
        </p:txBody>
      </p:sp>
    </p:spTree>
    <p:extLst>
      <p:ext uri="{BB962C8B-B14F-4D97-AF65-F5344CB8AC3E}">
        <p14:creationId xmlns:p14="http://schemas.microsoft.com/office/powerpoint/2010/main" val="3098498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67" y="0"/>
            <a:ext cx="599506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7"/>
          <p:cNvSpPr txBox="1"/>
          <p:nvPr/>
        </p:nvSpPr>
        <p:spPr>
          <a:xfrm>
            <a:off x="6858000" y="595456"/>
            <a:ext cx="4020800" cy="759200"/>
          </a:xfrm>
          <a:prstGeom prst="rect">
            <a:avLst/>
          </a:prstGeom>
          <a:solidFill>
            <a:srgbClr val="00BAAC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o" sz="3333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Komplementær</a:t>
            </a:r>
            <a:endParaRPr sz="3333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37"/>
          <p:cNvSpPr txBox="1"/>
          <p:nvPr/>
        </p:nvSpPr>
        <p:spPr>
          <a:xfrm>
            <a:off x="6240000" y="1661927"/>
            <a:ext cx="5256800" cy="44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9585" lvl="0" indent="-448722" algn="l" rtl="0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lang="no" sz="2267" dirty="0">
                <a:latin typeface="Roboto"/>
                <a:ea typeface="Roboto"/>
                <a:cs typeface="Roboto"/>
                <a:sym typeface="Roboto"/>
              </a:rPr>
              <a:t>Komplementære farger er fargene som er på motsatt side av hverandre på fargehjulet. </a:t>
            </a:r>
            <a:endParaRPr sz="2267" dirty="0">
              <a:latin typeface="Roboto"/>
              <a:ea typeface="Roboto"/>
              <a:cs typeface="Roboto"/>
              <a:sym typeface="Roboto"/>
            </a:endParaRPr>
          </a:p>
          <a:p>
            <a:pPr marL="609585" lvl="0" indent="-448722" algn="l" rtl="0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lang="no" sz="2267" dirty="0">
                <a:latin typeface="Roboto"/>
                <a:ea typeface="Roboto"/>
                <a:cs typeface="Roboto"/>
                <a:sym typeface="Roboto"/>
              </a:rPr>
              <a:t>Eks på disse fargekombinasjonene:</a:t>
            </a:r>
            <a:endParaRPr sz="2267" dirty="0">
              <a:latin typeface="Roboto"/>
              <a:ea typeface="Roboto"/>
              <a:cs typeface="Roboto"/>
              <a:sym typeface="Roboto"/>
            </a:endParaRPr>
          </a:p>
          <a:p>
            <a:pPr marL="1219170" lvl="1" indent="-448722" algn="l" rtl="0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○"/>
            </a:pPr>
            <a:r>
              <a:rPr lang="no" sz="2267" dirty="0">
                <a:latin typeface="Roboto"/>
                <a:ea typeface="Roboto"/>
                <a:cs typeface="Roboto"/>
                <a:sym typeface="Roboto"/>
              </a:rPr>
              <a:t>rød og grønn, lilla og gul og selvfølgelig den her synlige; blå og oransje. </a:t>
            </a:r>
            <a:endParaRPr sz="2267" dirty="0">
              <a:latin typeface="Roboto"/>
              <a:ea typeface="Roboto"/>
              <a:cs typeface="Roboto"/>
              <a:sym typeface="Roboto"/>
            </a:endParaRPr>
          </a:p>
          <a:p>
            <a:pPr marL="609585" lvl="0" indent="-448722" algn="l" rtl="0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lang="no" sz="2267" dirty="0">
                <a:latin typeface="Roboto"/>
                <a:ea typeface="Roboto"/>
                <a:cs typeface="Roboto"/>
                <a:sym typeface="Roboto"/>
              </a:rPr>
              <a:t>Brukt sammen kan disse fargene skape et spennende og kontrastfylt uttrykk som fanger oppmerksomhet.</a:t>
            </a:r>
            <a:endParaRPr sz="2267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722DBB-C18C-E668-9FDE-F62DFEB8AAB3}"/>
              </a:ext>
            </a:extLst>
          </p:cNvPr>
          <p:cNvSpPr txBox="1"/>
          <p:nvPr/>
        </p:nvSpPr>
        <p:spPr>
          <a:xfrm>
            <a:off x="8947743" y="6230636"/>
            <a:ext cx="3218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2">
                    <a:lumMod val="75000"/>
                  </a:schemeClr>
                </a:solidFill>
              </a:rPr>
              <a:t>Slide </a:t>
            </a:r>
            <a:r>
              <a:rPr lang="en-US" i="1" dirty="0" err="1">
                <a:solidFill>
                  <a:schemeClr val="bg2">
                    <a:lumMod val="75000"/>
                  </a:schemeClr>
                </a:solidFill>
              </a:rPr>
              <a:t>laget</a:t>
            </a:r>
            <a:r>
              <a:rPr lang="en-US" i="1" dirty="0">
                <a:solidFill>
                  <a:schemeClr val="bg2">
                    <a:lumMod val="75000"/>
                  </a:schemeClr>
                </a:solidFill>
              </a:rPr>
              <a:t> av Marthe Skarsvåg</a:t>
            </a:r>
          </a:p>
        </p:txBody>
      </p:sp>
    </p:spTree>
    <p:extLst>
      <p:ext uri="{BB962C8B-B14F-4D97-AF65-F5344CB8AC3E}">
        <p14:creationId xmlns:p14="http://schemas.microsoft.com/office/powerpoint/2010/main" val="403799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0EFA9-DD69-E496-BF94-A584D4793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Hue-shifting</a:t>
            </a:r>
          </a:p>
        </p:txBody>
      </p:sp>
      <p:pic>
        <p:nvPicPr>
          <p:cNvPr id="4" name="Online Media 3" title="Hue Shifting in Pixel Art (Color Tutorial)">
            <a:hlinkClick r:id="" action="ppaction://media"/>
            <a:extLst>
              <a:ext uri="{FF2B5EF4-FFF2-40B4-BE49-F238E27FC236}">
                <a16:creationId xmlns:a16="http://schemas.microsoft.com/office/drawing/2014/main" id="{9AFE1E08-89D5-BDB1-97B6-004094331836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7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8182F6F8F0480498DE7DAD114A278E5" ma:contentTypeVersion="18" ma:contentTypeDescription="Opprett et nytt dokument." ma:contentTypeScope="" ma:versionID="38606219095017f61c7693821a78558b">
  <xsd:schema xmlns:xsd="http://www.w3.org/2001/XMLSchema" xmlns:xs="http://www.w3.org/2001/XMLSchema" xmlns:p="http://schemas.microsoft.com/office/2006/metadata/properties" xmlns:ns2="27cd06e8-8e2b-4eab-b578-6ee18ff152a4" xmlns:ns3="9a8bd0c8-94c0-4e76-bd03-7e285dab928e" targetNamespace="http://schemas.microsoft.com/office/2006/metadata/properties" ma:root="true" ma:fieldsID="816c0116513e4404b923314fe8b50ace" ns2:_="" ns3:_="">
    <xsd:import namespace="27cd06e8-8e2b-4eab-b578-6ee18ff152a4"/>
    <xsd:import namespace="9a8bd0c8-94c0-4e76-bd03-7e285dab92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cd06e8-8e2b-4eab-b578-6ee18ff152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demerkelapper" ma:readOnly="false" ma:fieldId="{5cf76f15-5ced-4ddc-b409-7134ff3c332f}" ma:taxonomyMulti="true" ma:sspId="d2bf785b-8fef-4b70-b2f9-38d45fd2cc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8bd0c8-94c0-4e76-bd03-7e285dab928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33b7b11-52d0-421f-89c8-2a0d078842ac}" ma:internalName="TaxCatchAll" ma:showField="CatchAllData" ma:web="9a8bd0c8-94c0-4e76-bd03-7e285dab92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7cd06e8-8e2b-4eab-b578-6ee18ff152a4">
      <Terms xmlns="http://schemas.microsoft.com/office/infopath/2007/PartnerControls"/>
    </lcf76f155ced4ddcb4097134ff3c332f>
    <TaxCatchAll xmlns="9a8bd0c8-94c0-4e76-bd03-7e285dab928e" xsi:nil="true"/>
  </documentManagement>
</p:properties>
</file>

<file path=customXml/itemProps1.xml><?xml version="1.0" encoding="utf-8"?>
<ds:datastoreItem xmlns:ds="http://schemas.openxmlformats.org/officeDocument/2006/customXml" ds:itemID="{3011B1E2-0A6F-4379-81C9-43039FF568B8}">
  <ds:schemaRefs>
    <ds:schemaRef ds:uri="27cd06e8-8e2b-4eab-b578-6ee18ff152a4"/>
    <ds:schemaRef ds:uri="9a8bd0c8-94c0-4e76-bd03-7e285dab92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98F55BD-EE66-444A-9E32-F7F1A61F8F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344E46D-7178-456D-9EB3-493DEAA3F9F9}">
  <ds:schemaRefs>
    <ds:schemaRef ds:uri="27cd06e8-8e2b-4eab-b578-6ee18ff152a4"/>
    <ds:schemaRef ds:uri="9a8bd0c8-94c0-4e76-bd03-7e285dab928e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266</Words>
  <Application>Microsoft Office PowerPoint</Application>
  <PresentationFormat>Widescreen</PresentationFormat>
  <Paragraphs>41</Paragraphs>
  <Slides>15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Lucida Sans</vt:lpstr>
      <vt:lpstr>Roboto</vt:lpstr>
      <vt:lpstr>Office-tema</vt:lpstr>
      <vt:lpstr>Fargesystemer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Hue-shifting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FARGER og SYSTEMER</dc:title>
  <dc:creator>Runar Storeide</dc:creator>
  <cp:lastModifiedBy>Sondre Kile Andersen</cp:lastModifiedBy>
  <cp:revision>69</cp:revision>
  <dcterms:created xsi:type="dcterms:W3CDTF">2021-09-07T07:58:03Z</dcterms:created>
  <dcterms:modified xsi:type="dcterms:W3CDTF">2026-07-26T18:48:06Z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0x01010098182F6F8F0480498DE7DAD114A278E5</vt:lpwstr>
  </property>
  <property fmtid="{D5CDD505-2E9C-101B-9397-08002B2CF9AE}" pid="3" name="MediaServiceImageTags">
    <vt:lpwstr/>
  </property>
</Properties>
</file>